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2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19A2E"/>
                </a:solidFill>
                <a:latin typeface="맑은 고딕"/>
              </a:rPr>
              <a:t>THE 8TH KB FUTURE FINANCE A.I.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48132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F6F5F2"/>
                </a:solidFill>
                <a:latin typeface="맑은 고딕"/>
              </a:rPr>
              <a:t>다 됐나요?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617866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F6F5F2"/>
                </a:solidFill>
                <a:latin typeface="맑은 고딕"/>
              </a:rPr>
              <a:t>은행 앱이 말해주지 않는 실패 원인을, 근거와 함께 판정합니다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247640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9AA0A6"/>
                </a:solidFill>
                <a:latin typeface="맑은 고딕"/>
              </a:rPr>
              <a:t>팀명 </a:t>
            </a:r>
            <a:r>
              <a:rPr sz="1500" b="1" i="0">
                <a:solidFill>
                  <a:srgbClr val="F6F5F2"/>
                </a:solidFill>
                <a:latin typeface="맑은 고딕"/>
              </a:rPr>
              <a:t>다 됐나요</a:t>
            </a:r>
            <a:r>
              <a:rPr sz="1500" b="0" i="0">
                <a:solidFill>
                  <a:srgbClr val="9AA0A6"/>
                </a:solidFill>
                <a:latin typeface="맑은 고딕"/>
              </a:rPr>
              <a:t> · 2인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29041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9AA0A6"/>
                </a:solidFill>
                <a:latin typeface="맑은 고딕"/>
              </a:rPr>
              <a:t>제8회 KB Future Finance A.I. Challenge · 예선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210442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F6F5F2"/>
                </a:solidFill>
                <a:latin typeface="맑은 고딕"/>
              </a:rPr>
              <a:t>데모 — https://kb-ai-challenge-2026.vercel.app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691843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9AA0A6"/>
                </a:solidFill>
                <a:latin typeface="맑은 고딕"/>
              </a:rPr>
              <a:t>2026-07-29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한 장 요약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문제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— 은행 앱은 </a:t>
            </a:r>
            <a:r>
              <a:rPr sz="1500" b="0" i="1">
                <a:solidFill>
                  <a:srgbClr val="5C636B"/>
                </a:solidFill>
                <a:latin typeface="맑은 고딕"/>
              </a:rPr>
              <a:t>"안 됩니다"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라고만 말하고,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무엇이 막고 있는지는 말하지 않습니다.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093427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해결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— KB 공개문서에서 조건을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자동 추출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해 기계가 판정할 수 있는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조건 트리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로 만들고, 사용자 상태와 대조해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막힌 항목 + 근거 원문 + 다음 행동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을 지목합니다.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946501"/>
            <a:ext cx="10765231" cy="1002456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KB 공개문서 ──[LLM]──→ 조건 트리 ──[규칙엔진]──→ 무엇에 막혔는가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약관·FAQ      추출         재사용 자산        + 근거 원문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8건                        조건 12개          + 앱에서 되는지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                                         + 하나만 풀면 되는지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4131837"/>
          <a:ext cx="10765230" cy="17084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지금 상태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문서 8건 → 청크 280개 →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조건 12개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전부 자동 추출 · 검수 통과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근거가 원문에 실재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12 / 12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판정 2,000회 반복 일치율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판정 1회 소요 (중앙값)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0.056 ms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직접 재현 —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pytest tests/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32 passed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(결정론 1 · 엣지 6 · 상태변경 8 · 근거묶음 10 · 적용범위 7)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1. 문제 정의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앱은 실패를 알려주지만, 원인은 알려주지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2241800"/>
            <a:ext cx="10765231" cy="1421389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앱:    "신분증이 인식되지 않습니다. 다시 촬영해 주세요."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사용자: 재촬영 반복 → 포기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실제:  비대면 계좌개설 안심차단이 켜져 있음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→ 다시 찍어도, 다른 은행에 가도 개설되지 않음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→ 해제는 영업점에서만 가능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846069"/>
            <a:ext cx="32004" cy="74334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846069"/>
            <a:ext cx="1058235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"확인하세요"와 "확인해드렸습니다"의 차이.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검색하면 FAQ가 나옵니다. 그러나 FAQ는 </a:t>
            </a:r>
            <a:r>
              <a:rPr sz="1500" b="0" i="1">
                <a:solidFill>
                  <a:srgbClr val="5C636B"/>
                </a:solidFill>
                <a:latin typeface="맑은 고딕"/>
              </a:rPr>
              <a:t>확인하라고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말할 뿐,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지금 내 상태가 어떤지는 확인해주지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735719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이 프로젝트는 팀장이 직접 겪은 일에서 시작했습니다 — </a:t>
            </a:r>
            <a:r>
              <a:rPr sz="1500" b="0" i="1">
                <a:solidFill>
                  <a:srgbClr val="5C636B"/>
                </a:solidFill>
                <a:latin typeface="맑은 고딕"/>
              </a:rPr>
              <a:t>"해외결제를 풀려고 하나 풀었는데 안 되고, 하나 더 풀 게 있더라. 어디 있는지 몰라 검색했다."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1. 문제 정의 (계속)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저희가 서는 자리 — 실패한 </a:t>
            </a:r>
            <a:r>
              <a:rPr sz="2700" b="1" i="0">
                <a:solidFill>
                  <a:srgbClr val="191C1F"/>
                </a:solidFill>
                <a:latin typeface="맑은 고딕"/>
              </a:rPr>
              <a:t>직후</a:t>
            </a:r>
            <a:r>
              <a:rPr sz="2700" b="1" i="0">
                <a:solidFill>
                  <a:srgbClr val="191C1F"/>
                </a:solidFill>
                <a:latin typeface="맑은 고딕"/>
              </a:rPr>
              <a:t>, 다시 시도하기 </a:t>
            </a:r>
            <a:r>
              <a:rPr sz="2700" b="1" i="0">
                <a:solidFill>
                  <a:srgbClr val="191C1F"/>
                </a:solidFill>
                <a:latin typeface="맑은 고딕"/>
              </a:rPr>
              <a:t>전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2241800"/>
            <a:ext cx="10765231" cy="1002456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가입·신청 전            실행 시도            실패 직후            며칠 뒤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상품 추천 · 자격 진단      거래 실행         ★ 여기가 비어 있다      민원 · 분쟁조정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(사전 예방)             (에이전트)         "왜 안 됐지?"          (사후 구제)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427136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사전 예방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은 아직 시도하지 않은 사람을 돕고,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사후 구제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는 이미 손해가 난 사람을 돕습니다. 그 사이,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방금 실패해서 다시 시도하려는 사람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에게는 아무것도 없습니다. 앱은 실패만 알리고 원인을 말하지 않으며, 검색은 일반론을 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280210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그 몇 분이 이 시스템의 자리입니다. 이 순간의 사용자는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판단할 재료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만 있으면 스스로 해결합니다 — 무엇이 막고 있는지, 그 근거가 어디에 있는지.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2. 문제의 크기 — 추정이 아니라 실측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조건은 흩어져 있고, 화면은 일부만 보여준다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241800"/>
          <a:ext cx="10765230" cy="30685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84734"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KB Pay 설정 화면에 보이는 항목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2개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실측 (2026-07-27)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공개문서에서 자동 추출한 조건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11개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data/trees/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그중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앱 안에서 해결할 수 있는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조건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2개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remedy.actionable_in_app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앱 밖에서 해결해야 하는 조건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3개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근거 원문에 채널이 적힌 것만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해결 경로를 수집 문서에서 못 찾은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조건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6개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추측하지 않고 비워 둡니다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사람이 조건 7개를 직접 확인한 시간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326초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스톱워치 실측, 측정자 2인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그중 검색을 거친 조건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4 / 7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앱 메뉴로 도달한 사례 0건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결론에 도달하지 못한 조건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1건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FAQ가 "고객센터 문의"로 종결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인증 장벽으로 측정조차 못한 조건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2건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카드 비밀번호 미기억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13232" y="5566405"/>
            <a:ext cx="32004" cy="74334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5566405"/>
            <a:ext cx="1058235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326초는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찾아야 할 목록을 미리 알고 잰 시간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입니다. 무엇을 확인해야 하는지 모르는 실제 사용자는 더 오래 걸립니다 — 이 수치는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하한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입니다. (7개는 측정 시점 기준이며, 자동 추출본은 11개입니다)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5946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91C1F"/>
                </a:solidFill>
                <a:latin typeface="맑은 고딕"/>
              </a:rPr>
              <a:t>3. 접근 — 생성이 아니라 </a:t>
            </a:r>
            <a:r>
              <a:rPr sz="3200" b="1" i="0">
                <a:solidFill>
                  <a:srgbClr val="191C1F"/>
                </a:solidFill>
                <a:latin typeface="맑은 고딕"/>
              </a:rPr>
              <a:t>검증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13554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13554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463356"/>
            <a:ext cx="10765231" cy="4014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160" b="1" i="0">
                <a:solidFill>
                  <a:srgbClr val="191C1F"/>
                </a:solidFill>
                <a:latin typeface="맑은 고딕"/>
              </a:rPr>
              <a:t>Retrieval-Augmented </a:t>
            </a:r>
            <a:r>
              <a:rPr sz="2160" b="1" i="0">
                <a:solidFill>
                  <a:srgbClr val="191C1F"/>
                </a:solidFill>
                <a:latin typeface="맑은 고딕"/>
              </a:rPr>
              <a:t>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92778"/>
            <a:ext cx="10765231" cy="2973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5C636B"/>
                </a:solidFill>
                <a:latin typeface="맑은 고딕"/>
              </a:rPr>
              <a:t>일반적인 RAG는 검색 결과를 </a:t>
            </a:r>
            <a:r>
              <a:rPr sz="1200" b="1" i="0">
                <a:solidFill>
                  <a:srgbClr val="191C1F"/>
                </a:solidFill>
                <a:latin typeface="맑은 고딕"/>
              </a:rPr>
              <a:t>문장으로 요약</a:t>
            </a:r>
            <a:r>
              <a:rPr sz="1200" b="0" i="0">
                <a:solidFill>
                  <a:srgbClr val="5C636B"/>
                </a:solidFill>
                <a:latin typeface="맑은 고딕"/>
              </a:rPr>
              <a:t>합니다. 그러면 답이 매번 달라지고, 틀려도 그럴듯합니다.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399844"/>
            <a:ext cx="10765231" cy="2973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5C636B"/>
                </a:solidFill>
                <a:latin typeface="맑은 고딕"/>
              </a:rPr>
              <a:t>저희는 검색 결과를 </a:t>
            </a:r>
            <a:r>
              <a:rPr sz="1200" b="1" i="0">
                <a:solidFill>
                  <a:srgbClr val="191C1F"/>
                </a:solidFill>
                <a:latin typeface="맑은 고딕"/>
              </a:rPr>
              <a:t>실행 가능한 술어(predicate)</a:t>
            </a:r>
            <a:r>
              <a:rPr sz="1200" b="0" i="0">
                <a:solidFill>
                  <a:srgbClr val="5C636B"/>
                </a:solidFill>
                <a:latin typeface="맑은 고딕"/>
              </a:rPr>
              <a:t> 로 바꿉니다.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806910"/>
            <a:ext cx="10765231" cy="1002456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999">
                <a:solidFill>
                  <a:srgbClr val="5C636B"/>
                </a:solidFill>
                <a:latin typeface="Consolas"/>
              </a:rPr>
              <a:t>RAG          문서 → LLM → 자연어 답변            (매번 다름 · 검증 불가)</a:t>
            </a:r>
          </a:p>
          <a:p>
            <a:pPr algn="l">
              <a:lnSpc>
                <a:spcPct val="100000"/>
              </a:lnSpc>
            </a:pPr>
            <a:r>
              <a:rPr sz="999">
                <a:solidFill>
                  <a:srgbClr val="5C636B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999">
                <a:solidFill>
                  <a:srgbClr val="5C636B"/>
                </a:solidFill>
                <a:latin typeface="Consolas"/>
              </a:rPr>
              <a:t>RAV(우리)     문서 → LLM → 조건 트리(구조)  ← 여기까지만 LLM</a:t>
            </a:r>
          </a:p>
          <a:p>
            <a:pPr algn="l">
              <a:lnSpc>
                <a:spcPct val="100000"/>
              </a:lnSpc>
            </a:pPr>
            <a:r>
              <a:rPr sz="999">
                <a:solidFill>
                  <a:srgbClr val="5C636B"/>
                </a:solidFill>
                <a:latin typeface="Consolas"/>
              </a:rPr>
              <a:t>                          ↓</a:t>
            </a:r>
          </a:p>
          <a:p>
            <a:pPr algn="l">
              <a:lnSpc>
                <a:spcPct val="100000"/>
              </a:lnSpc>
            </a:pPr>
            <a:r>
              <a:rPr sz="999">
                <a:solidFill>
                  <a:srgbClr val="5C636B"/>
                </a:solidFill>
                <a:latin typeface="Consolas"/>
              </a:rPr>
              <a:t>             사용자 상태 → 규칙 엔진 → 판정   ← 여기부터는 결정론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13232" y="3992246"/>
          <a:ext cx="10765230" cy="9619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40487"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91C1F"/>
                          </a:solidFill>
                          <a:latin typeface="맑은 고딕"/>
                        </a:rPr>
                        <a:t>LLM 이 하는 일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91C1F"/>
                          </a:solidFill>
                          <a:latin typeface="맑은 고딕"/>
                        </a:rPr>
                        <a:t>LLM 이 하지 않는 일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40487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5C636B"/>
                          </a:solidFill>
                          <a:latin typeface="맑은 고딕"/>
                        </a:rPr>
                        <a:t>범위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5C636B"/>
                          </a:solidFill>
                          <a:latin typeface="맑은 고딕"/>
                        </a:rPr>
                        <a:t>비정형 문서에서 조건을 </a:t>
                      </a:r>
                      <a:r>
                        <a:rPr sz="1000" b="1" i="0">
                          <a:solidFill>
                            <a:srgbClr val="191C1F"/>
                          </a:solidFill>
                          <a:latin typeface="맑은 고딕"/>
                        </a:rPr>
                        <a:t>뽑아 형식화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91C1F"/>
                          </a:solidFill>
                          <a:latin typeface="맑은 고딕"/>
                        </a:rPr>
                        <a:t>판정</a:t>
                      </a:r>
                      <a:r>
                        <a:rPr sz="1000" b="0" i="0">
                          <a:solidFill>
                            <a:srgbClr val="5C636B"/>
                          </a:solidFill>
                          <a:latin typeface="맑은 고딕"/>
                        </a:rPr>
                        <a:t> · </a:t>
                      </a:r>
                      <a:r>
                        <a:rPr sz="1000" b="1" i="0">
                          <a:solidFill>
                            <a:srgbClr val="191C1F"/>
                          </a:solidFill>
                          <a:latin typeface="맑은 고딕"/>
                        </a:rPr>
                        <a:t>해결 계획</a:t>
                      </a:r>
                      <a:r>
                        <a:rPr sz="1000" b="0" i="0">
                          <a:solidFill>
                            <a:srgbClr val="5C636B"/>
                          </a:solidFill>
                          <a:latin typeface="맑은 고딕"/>
                        </a:rPr>
                        <a:t> · </a:t>
                      </a:r>
                      <a:r>
                        <a:rPr sz="1000" b="1" i="0">
                          <a:solidFill>
                            <a:srgbClr val="191C1F"/>
                          </a:solidFill>
                          <a:latin typeface="맑은 고딕"/>
                        </a:rPr>
                        <a:t>사유 설명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40487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5C636B"/>
                          </a:solidFill>
                          <a:latin typeface="맑은 고딕"/>
                        </a:rPr>
                        <a:t>결과물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5C636B"/>
                          </a:solidFill>
                          <a:latin typeface="맑은 고딕"/>
                        </a:rPr>
                        <a:t>조건 트리 (파일로 고정)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5C636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40487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5C636B"/>
                          </a:solidFill>
                          <a:latin typeface="맑은 고딕"/>
                        </a:rPr>
                        <a:t>재현성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5C636B"/>
                          </a:solidFill>
                          <a:latin typeface="맑은 고딕"/>
                        </a:rPr>
                        <a:t>캐시 + </a:t>
                      </a:r>
                      <a:r>
                        <a:rPr sz="1000" b="0" i="0">
                          <a:solidFill>
                            <a:srgbClr val="5C636B"/>
                          </a:solidFill>
                          <a:latin typeface="Consolas"/>
                        </a:rPr>
                        <a:t>temperature=0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5C636B"/>
                          </a:solidFill>
                          <a:latin typeface="맑은 고딕"/>
                        </a:rPr>
                        <a:t>같은 입력 = 같은 출력 (측정)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13232" y="5210226"/>
            <a:ext cx="32004" cy="59467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210226"/>
            <a:ext cx="10582351" cy="5946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200" b="1" i="0">
                <a:solidFill>
                  <a:srgbClr val="191C1F"/>
                </a:solidFill>
                <a:latin typeface="맑은 고딕"/>
              </a:rPr>
              <a:t>미충족 사유를 문장으로 생성하지 않습니다.</a:t>
            </a:r>
            <a:r>
              <a:rPr sz="1200" b="0" i="0">
                <a:solidFill>
                  <a:srgbClr val="5C636B"/>
                </a:solidFill>
                <a:latin typeface="맑은 고딕"/>
              </a:rPr>
              <a:t> 근거 원문을 그대로 보여줍니다. 설명을 생성하면 원문 밖 문장이 나올 위험이 생깁니다 — 그 위험을 </a:t>
            </a:r>
            <a:r>
              <a:rPr sz="1200" b="1" i="0">
                <a:solidFill>
                  <a:srgbClr val="191C1F"/>
                </a:solidFill>
                <a:latin typeface="맑은 고딕"/>
              </a:rPr>
              <a:t>아예 만들지 않는 쪽</a:t>
            </a:r>
            <a:r>
              <a:rPr sz="1200" b="0" i="0">
                <a:solidFill>
                  <a:srgbClr val="5C636B"/>
                </a:solidFill>
                <a:latin typeface="맑은 고딕"/>
              </a:rPr>
              <a:t>을 택했습니다.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951206"/>
            <a:ext cx="10765231" cy="2973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200" b="1" i="0">
                <a:solidFill>
                  <a:srgbClr val="191C1F"/>
                </a:solidFill>
                <a:latin typeface="맑은 고딕"/>
              </a:rPr>
              <a:t>이 분리가 이 제안의 핵심입니다.</a:t>
            </a:r>
            <a:r>
              <a:rPr sz="1200" b="0" i="0">
                <a:solidFill>
                  <a:srgbClr val="5C636B"/>
                </a:solidFill>
                <a:latin typeface="맑은 고딕"/>
              </a:rPr>
              <a:t> 금융 판정은 틀리면 사용자를 잘못된 행동으로 보냅니다. 그래서 판정에서 LLM을 뺐고, 뺐다는 사실을 </a:t>
            </a:r>
            <a:r>
              <a:rPr sz="1200" b="1" i="0">
                <a:solidFill>
                  <a:srgbClr val="191C1F"/>
                </a:solidFill>
                <a:latin typeface="맑은 고딕"/>
              </a:rPr>
              <a:t>숫자로 증명</a:t>
            </a:r>
            <a:r>
              <a:rPr sz="1200" b="0" i="0">
                <a:solidFill>
                  <a:srgbClr val="5C636B"/>
                </a:solidFill>
                <a:latin typeface="맑은 고딕"/>
              </a:rPr>
              <a:t>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838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680" b="1" i="0">
                <a:solidFill>
                  <a:srgbClr val="191C1F"/>
                </a:solidFill>
                <a:latin typeface="맑은 고딕"/>
              </a:rPr>
              <a:t>3. 접근 — 생성이 아니라 </a:t>
            </a:r>
            <a:r>
              <a:rPr sz="3680" b="1" i="0">
                <a:solidFill>
                  <a:srgbClr val="191C1F"/>
                </a:solidFill>
                <a:latin typeface="맑은 고딕"/>
              </a:rPr>
              <a:t>검증</a:t>
            </a:r>
            <a:r>
              <a:rPr sz="3680" b="1" i="0">
                <a:solidFill>
                  <a:srgbClr val="191C1F"/>
                </a:solidFill>
                <a:latin typeface="맑은 고딕"/>
              </a:rPr>
              <a:t> (계속)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24745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24745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52558"/>
            <a:ext cx="10765231" cy="4616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84" b="1" i="0">
                <a:solidFill>
                  <a:srgbClr val="191C1F"/>
                </a:solidFill>
                <a:latin typeface="맑은 고딕"/>
              </a:rPr>
              <a:t>왜 에이전트로 만들지 않았는가 (계속)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142192"/>
            <a:ext cx="10765231" cy="4616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84" b="1" i="0">
                <a:solidFill>
                  <a:srgbClr val="191C1F"/>
                </a:solidFill>
                <a:latin typeface="맑은 고딕"/>
              </a:rPr>
              <a:t>왜 에이전트로 만들지 않았는가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31826"/>
            <a:ext cx="10765231" cy="34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380" b="0" i="0">
                <a:solidFill>
                  <a:srgbClr val="5C636B"/>
                </a:solidFill>
                <a:latin typeface="맑은 고딕"/>
              </a:rPr>
              <a:t>에이전트는 </a:t>
            </a:r>
            <a:r>
              <a:rPr sz="1380" b="1" i="0">
                <a:solidFill>
                  <a:srgbClr val="191C1F"/>
                </a:solidFill>
                <a:latin typeface="맑은 고딕"/>
              </a:rPr>
              <a:t>대신 해줍니다.</a:t>
            </a:r>
            <a:r>
              <a:rPr sz="1380" b="0" i="0">
                <a:solidFill>
                  <a:srgbClr val="5C636B"/>
                </a:solidFill>
                <a:latin typeface="맑은 고딕"/>
              </a:rPr>
              <a:t> 저희는 </a:t>
            </a:r>
            <a:r>
              <a:rPr sz="1380" b="1" i="0">
                <a:solidFill>
                  <a:srgbClr val="191C1F"/>
                </a:solidFill>
                <a:latin typeface="맑은 고딕"/>
              </a:rPr>
              <a:t>판정만 합니다.</a:t>
            </a:r>
            <a:r>
              <a:rPr sz="1380" b="0" i="0">
                <a:solidFill>
                  <a:srgbClr val="5C636B"/>
                </a:solidFill>
                <a:latin typeface="맑은 고딕"/>
              </a:rPr>
              <a:t> 의도한 선택입니다.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3183493"/>
          <a:ext cx="10765230" cy="1335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67035"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191C1F"/>
                          </a:solidFill>
                          <a:latin typeface="맑은 고딕"/>
                        </a:rPr>
                        <a:t>에이전트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191C1F"/>
                          </a:solidFill>
                          <a:latin typeface="맑은 고딕"/>
                        </a:rPr>
                        <a:t>이 시스템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67035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사용자를 대신해 실행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무엇이 막고 있는지 </a:t>
                      </a:r>
                      <a:r>
                        <a:rPr sz="1150" b="1" i="0">
                          <a:solidFill>
                            <a:srgbClr val="191C1F"/>
                          </a:solidFill>
                          <a:latin typeface="맑은 고딕"/>
                        </a:rPr>
                        <a:t>지목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67035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틀렸을 때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잘못된 실행이 </a:t>
                      </a:r>
                      <a:r>
                        <a:rPr sz="1150" b="1" i="0">
                          <a:solidFill>
                            <a:srgbClr val="191C1F"/>
                          </a:solidFill>
                          <a:latin typeface="맑은 고딕"/>
                        </a:rPr>
                        <a:t>이미 일어남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사용자가 근거 원문을 보고 </a:t>
                      </a:r>
                      <a:r>
                        <a:rPr sz="1150" b="1" i="0">
                          <a:solidFill>
                            <a:srgbClr val="191C1F"/>
                          </a:solidFill>
                          <a:latin typeface="맑은 고딕"/>
                        </a:rPr>
                        <a:t>직접 판단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67035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필요한 권한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계좌·카드 제어 권한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191C1F"/>
                          </a:solidFill>
                          <a:latin typeface="맑은 고딕"/>
                        </a:rPr>
                        <a:t>읽기만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67035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검증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실행 로그를 사후에 본다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조건·상태·판정이 </a:t>
                      </a:r>
                      <a:r>
                        <a:rPr sz="1150" b="1" i="0">
                          <a:solidFill>
                            <a:srgbClr val="191C1F"/>
                          </a:solidFill>
                          <a:latin typeface="맑은 고딕"/>
                        </a:rPr>
                        <a:t>화면에 동시에</a:t>
                      </a:r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 보인다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13232" y="4774701"/>
            <a:ext cx="10765231" cy="6838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380" b="0" i="0">
                <a:solidFill>
                  <a:srgbClr val="5C636B"/>
                </a:solidFill>
                <a:latin typeface="맑은 고딕"/>
              </a:rPr>
              <a:t>해외거래정지를 대신 해제해주는 편이 더 친절해 보입니다. 그러나 그것이 틀렸을 때 사용자의 카드는 이미 열려 있습니다. </a:t>
            </a:r>
            <a:r>
              <a:rPr sz="1380" b="1" i="0">
                <a:solidFill>
                  <a:srgbClr val="191C1F"/>
                </a:solidFill>
                <a:latin typeface="맑은 고딕"/>
              </a:rPr>
              <a:t>저희는 아무것도 실행하지 않습니다.</a:t>
            </a:r>
            <a:r>
              <a:rPr sz="1380" b="0" i="0">
                <a:solidFill>
                  <a:srgbClr val="5C636B"/>
                </a:solidFill>
                <a:latin typeface="맑은 고딕"/>
              </a:rPr>
              <a:t> 막힌 조건과 그 근거를 보여주고, 행동은 사용자가 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5568307"/>
            <a:ext cx="32004" cy="683878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568307"/>
            <a:ext cx="10582351" cy="6838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380" b="0" i="0">
                <a:solidFill>
                  <a:srgbClr val="5C636B"/>
                </a:solidFill>
                <a:latin typeface="맑은 고딕"/>
              </a:rPr>
              <a:t>그래서 이 시스템은 </a:t>
            </a:r>
            <a:r>
              <a:rPr sz="1380" b="1" i="0">
                <a:solidFill>
                  <a:srgbClr val="191C1F"/>
                </a:solidFill>
                <a:latin typeface="맑은 고딕"/>
              </a:rPr>
              <a:t>틀려도 사용자가 알아챌 수 있습니다.</a:t>
            </a:r>
            <a:r>
              <a:rPr sz="1380" b="0" i="0">
                <a:solidFill>
                  <a:srgbClr val="5C636B"/>
                </a:solidFill>
                <a:latin typeface="맑은 고딕"/>
              </a:rPr>
              <a:t> 모든 판정에 근거 원문·출처·수집일이 붙어 있고, 화면에서 값을 바꿔 판정이 어떻게 달라지는지 직접 확인할 수 있기 때문입니다.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4. 시스템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612026"/>
            <a:ext cx="10765231" cy="2678186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수집          청킹           추출          검증           병합          검수          조립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collect  →  collect   →   extract   →   extract   →   extract   →   extract   →  extract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fetch        chunk        extractor     validate      merge         review       assemble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                      (LLM)        (규칙)       (규칙)        (사람)       (규칙)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│            │              │             │            │             │            │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robots.txt   표를 행으로   구조 강제      인용이 원문에  문서 간 합의   승인/반려    조건 트리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준수         살린다        어휘 제한      실재하는가     로 대표 선정   + 사유 기록  data/trees/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                                                                               │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                                   사용자 상태 ─────────────────────────────────┤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                                                                               ▼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                                                       judge/engine  →  판정 (LLM 없음)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                                                       judge/simulate →  해결 계획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473092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LLM 은 </a:t>
            </a:r>
            <a:r>
              <a:rPr sz="1500" b="1" i="0">
                <a:solidFill>
                  <a:srgbClr val="5C636B"/>
                </a:solidFill>
                <a:latin typeface="Consolas"/>
              </a:rPr>
              <a:t>extract/extractor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 한 곳에만 있습니다.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나머지는 전부 규칙과 사람입니다.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28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920" b="1" i="0">
                <a:solidFill>
                  <a:srgbClr val="191C1F"/>
                </a:solidFill>
                <a:latin typeface="맑은 고딕"/>
              </a:rPr>
              <a:t>5. 핵심 산출물 — 조건 트리 (C1)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69346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69346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97159"/>
            <a:ext cx="10765231" cy="4917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646" b="1" i="0">
                <a:solidFill>
                  <a:srgbClr val="191C1F"/>
                </a:solidFill>
                <a:latin typeface="맑은 고딕"/>
              </a:rPr>
              <a:t>이 프로젝트가 남기는 자산은 서비스가 아니라 </a:t>
            </a:r>
            <a:r>
              <a:rPr sz="2646" b="1" i="0">
                <a:solidFill>
                  <a:srgbClr val="191C1F"/>
                </a:solidFill>
                <a:latin typeface="맑은 고딕"/>
              </a:rPr>
              <a:t>데이터</a:t>
            </a:r>
            <a:r>
              <a:rPr sz="2646" b="1" i="0">
                <a:solidFill>
                  <a:srgbClr val="191C1F"/>
                </a:solidFill>
                <a:latin typeface="맑은 고딕"/>
              </a:rPr>
              <a:t>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2216898"/>
            <a:ext cx="10765231" cy="4064852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"id": "c_nonface_open_block",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"label": "비대면 계좌개설 안심차단이 해제되어 있어야 합니다",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"predicate": { "subject": "account.nonface_open_block", "op": "eq", "value": false },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"severity": "blocking",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"remedy": { "actionable_in_app": false, "channels": ["branch:영업점"],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            "primary_path": "영업점 방문 (신분증 지참)",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            "basis": "evidence" },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"evidence": {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  "source_title": "비대면 계좌개설 안심차단으로 보이스피싱 피해 예방하기",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  "url": "https://kbthink.com/main/living-finance/talk-cardnews/2025/...",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  "quote": "… 서비스 해제는 반드시 지점을 방문해 직접 신청해야 합니다. …",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  "collected_at": "2026-07-27", "confidence": "high"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},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"provenance": {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  "support_count": 5,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  "source_ids": ["kbthink_safeblock", "obank_nonface_safeblock"]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5. 핵심 산출물 — 조건 트리 (C1) (계속)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이 프로젝트가 남기는 자산은 서비스가 아니라 </a:t>
            </a:r>
            <a:r>
              <a:rPr sz="2700" b="1" i="0">
                <a:solidFill>
                  <a:srgbClr val="191C1F"/>
                </a:solidFill>
                <a:latin typeface="맑은 고딕"/>
              </a:rPr>
              <a:t>데이터</a:t>
            </a:r>
            <a:r>
              <a:rPr sz="2700" b="1" i="0">
                <a:solidFill>
                  <a:srgbClr val="191C1F"/>
                </a:solidFill>
                <a:latin typeface="맑은 고딕"/>
              </a:rPr>
              <a:t>입니다 (계속)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1800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1">
                <a:solidFill>
                  <a:srgbClr val="5C636B"/>
                </a:solidFill>
                <a:latin typeface="맑은 고딕"/>
              </a:rPr>
              <a:t>(실제 </a:t>
            </a:r>
            <a:r>
              <a:rPr sz="1500" b="0" i="1">
                <a:solidFill>
                  <a:srgbClr val="5C636B"/>
                </a:solidFill>
                <a:latin typeface="Consolas"/>
              </a:rPr>
              <a:t>data/trees/account_open_nonface.json</a:t>
            </a:r>
            <a:r>
              <a:rPr sz="1500" b="0" i="1">
                <a:solidFill>
                  <a:srgbClr val="5C636B"/>
                </a:solidFill>
                <a:latin typeface="맑은 고딕"/>
              </a:rPr>
              <a:t> 의 조건을 인용문만 줄여 옮긴 것입니다)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723201"/>
            <a:ext cx="10600639" cy="25087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1" i="0">
                <a:solidFill>
                  <a:srgbClr val="5C636B"/>
                </a:solidFill>
                <a:latin typeface="Consolas"/>
              </a:rPr>
              <a:t>evidence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 는 스키마상 필수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입니다 → 근거 없는 조건은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존재할 수 없습니다</a:t>
            </a:r>
          </a:p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actionable_in_app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은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세 값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입니다. 근거로 확인되지 않으면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null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이며, 무엇이 그 판단을 뒷받침하는지는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basis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에 남깁니다 (7-1 참조)</a:t>
            </a:r>
          </a:p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provenance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문서 몇 곳 · 문장 몇 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에서 확인됐는지를 남깁니다.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support_count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문장(청크) 수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이고 문서 수는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source_ids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로 셉니다 — 위 예시는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문서 2곳 · 문장 5개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입니다. 화면도 그렇게 표시합니다</a:t>
            </a:r>
          </a:p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화면에는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「조건 원본」 절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이 따로 있습니다. 판정이 「가능」이어도 이 절은 그대로 남습니다 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자산은 판정에 종속되지 않기 때문입니다.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화면 첫머리와 절 경계에서 </a:t>
            </a:r>
            <a:r>
              <a:rPr sz="1500" b="0" i="1">
                <a:solidFill>
                  <a:srgbClr val="5C636B"/>
                </a:solidFill>
                <a:latin typeface="맑은 고딕"/>
              </a:rPr>
              <a:t>"여기부터는 판정과 별개입니다"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라고 범위를 명시적으로 끊습니다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28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920" b="1" i="0">
                <a:solidFill>
                  <a:srgbClr val="191C1F"/>
                </a:solidFill>
                <a:latin typeface="맑은 고딕"/>
              </a:rPr>
              <a:t>6. 추출 — 통제된 어휘로 형식화한다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69346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69346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97159"/>
            <a:ext cx="10765231" cy="4917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646" b="1" i="0">
                <a:solidFill>
                  <a:srgbClr val="191C1F"/>
                </a:solidFill>
                <a:latin typeface="맑은 고딕"/>
              </a:rPr>
              <a:t>directed symbolic prompting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16898"/>
            <a:ext cx="10765231" cy="728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70" b="0" i="0">
                <a:solidFill>
                  <a:srgbClr val="5C636B"/>
                </a:solidFill>
                <a:latin typeface="맑은 고딕"/>
              </a:rPr>
              <a:t>LLM에게 자유롭게 조건을 만들게 하면 </a:t>
            </a:r>
            <a:r>
              <a:rPr sz="1470" b="1" i="0">
                <a:solidFill>
                  <a:srgbClr val="191C1F"/>
                </a:solidFill>
                <a:latin typeface="맑은 고딕"/>
              </a:rPr>
              <a:t>존재하지 않는 상태 경로를 지어냅니다.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그 조건은 사용자 프로필과 매칭되지 않아 영원히 </a:t>
            </a:r>
            <a:r>
              <a:rPr sz="1470" b="0" i="0">
                <a:solidFill>
                  <a:srgbClr val="5C636B"/>
                </a:solidFill>
                <a:latin typeface="Consolas"/>
              </a:rPr>
              <a:t>unknown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이 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055105"/>
            <a:ext cx="10765231" cy="364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70" b="0" i="0">
                <a:solidFill>
                  <a:srgbClr val="5C636B"/>
                </a:solidFill>
                <a:latin typeface="맑은 고딕"/>
              </a:rPr>
              <a:t>그래서 참조 가능한 </a:t>
            </a:r>
            <a:r>
              <a:rPr sz="1470" b="1" i="0">
                <a:solidFill>
                  <a:srgbClr val="191C1F"/>
                </a:solidFill>
                <a:latin typeface="맑은 고딕"/>
              </a:rPr>
              <a:t>어휘를 미리 못 박습니다.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3529072"/>
          <a:ext cx="10765230" cy="13380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80309"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5" b="1" i="0">
                          <a:solidFill>
                            <a:srgbClr val="191C1F"/>
                          </a:solidFill>
                          <a:latin typeface="맑은 고딕"/>
                        </a:rPr>
                        <a:t>수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5" b="1" i="0">
                          <a:solidFill>
                            <a:srgbClr val="191C1F"/>
                          </a:solidFill>
                          <a:latin typeface="맑은 고딕"/>
                        </a:rPr>
                        <a:t>예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497118">
                <a:tc>
                  <a:txBody>
                    <a:bodyPr wrap="square"/>
                    <a:lstStyle/>
                    <a:p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허용 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Consolas"/>
                        </a:rPr>
                        <a:t>subject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 (상태 경로)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5" b="1" i="0">
                          <a:solidFill>
                            <a:srgbClr val="191C1F"/>
                          </a:solidFill>
                          <a:latin typeface="맑은 고딕"/>
                        </a:rPr>
                        <a:t>21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5" b="0" i="0">
                          <a:solidFill>
                            <a:srgbClr val="5C636B"/>
                          </a:solidFill>
                          <a:latin typeface="Consolas"/>
                        </a:rPr>
                        <a:t>card.overseas_block_online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, 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Consolas"/>
                        </a:rPr>
                        <a:t>account.nonface_open_block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0309">
                <a:tc>
                  <a:txBody>
                    <a:bodyPr wrap="square"/>
                    <a:lstStyle/>
                    <a:p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허용 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Consolas"/>
                        </a:rPr>
                        <a:t>op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 (연산자)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5" b="1" i="0">
                          <a:solidFill>
                            <a:srgbClr val="191C1F"/>
                          </a:solidFill>
                          <a:latin typeface="맑은 고딕"/>
                        </a:rPr>
                        <a:t>16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5" b="0" i="0">
                          <a:solidFill>
                            <a:srgbClr val="5C636B"/>
                          </a:solidFill>
                          <a:latin typeface="Consolas"/>
                        </a:rPr>
                        <a:t>eq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, 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Consolas"/>
                        </a:rPr>
                        <a:t>lte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, 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Consolas"/>
                        </a:rPr>
                        <a:t>date_after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, 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Consolas"/>
                        </a:rPr>
                        <a:t>count_lte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0309">
                <a:tc>
                  <a:txBody>
                    <a:bodyPr wrap="square"/>
                    <a:lstStyle/>
                    <a:p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허용 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Consolas"/>
                        </a:rPr>
                        <a:t>category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setting / document / limit / temporal / eligibility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5123150"/>
            <a:ext cx="32004" cy="728479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123150"/>
            <a:ext cx="10582351" cy="728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70" b="0" i="0">
                <a:solidFill>
                  <a:srgbClr val="5C636B"/>
                </a:solidFill>
                <a:latin typeface="맑은 고딕"/>
              </a:rPr>
              <a:t>근거: </a:t>
            </a:r>
            <a:r>
              <a:rPr sz="1470" b="0" i="1">
                <a:solidFill>
                  <a:srgbClr val="5C636B"/>
                </a:solidFill>
                <a:latin typeface="맑은 고딕"/>
              </a:rPr>
              <a:t>Neuro-Symbolic Framework for Public-Sector AI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(arXiv:2512.12109, FAccT 2026) — 통제 어휘를 명시하면 형식화 성공률이 크게 오른다.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5997933"/>
            <a:ext cx="10765231" cy="364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70" b="0" i="0">
                <a:solidFill>
                  <a:srgbClr val="5C636B"/>
                </a:solidFill>
                <a:latin typeface="맑은 고딕"/>
              </a:rPr>
              <a:t>목록에 </a:t>
            </a:r>
            <a:r>
              <a:rPr sz="1470" b="1" i="0">
                <a:solidFill>
                  <a:srgbClr val="191C1F"/>
                </a:solidFill>
                <a:latin typeface="맑은 고딕"/>
              </a:rPr>
              <a:t>맞는 경로가 없으면 그 조건은 추출하지 않습니다.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빠뜨리는 비용이 틀리는 비용보다 작기 때문입니다.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095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279" b="1" i="0">
                <a:solidFill>
                  <a:srgbClr val="191C1F"/>
                </a:solidFill>
                <a:latin typeface="맑은 고딕"/>
              </a:rPr>
              <a:t>7. 검증 게이트 — "근거 100%"를 구조로 보증한다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150410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150410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478223"/>
            <a:ext cx="10765231" cy="4114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213" b="1" i="0">
                <a:solidFill>
                  <a:srgbClr val="191C1F"/>
                </a:solidFill>
                <a:latin typeface="맑은 고딕"/>
              </a:rPr>
              <a:t>말이 아니라 코드가 막는다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017681"/>
          <a:ext cx="10765230" cy="17143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44911">
                <a:tc>
                  <a:txBody>
                    <a:bodyPr wrap="square"/>
                    <a:lstStyle/>
                    <a:p>
                      <a:r>
                        <a:rPr sz="1025" b="1" i="0">
                          <a:solidFill>
                            <a:srgbClr val="191C1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1" i="0">
                          <a:solidFill>
                            <a:srgbClr val="191C1F"/>
                          </a:solidFill>
                          <a:latin typeface="맑은 고딕"/>
                        </a:rPr>
                        <a:t>게이트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1" i="0">
                          <a:solidFill>
                            <a:srgbClr val="191C1F"/>
                          </a:solidFill>
                          <a:latin typeface="맑은 고딕"/>
                        </a:rPr>
                        <a:t>막는 것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44911"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1" i="0">
                          <a:solidFill>
                            <a:srgbClr val="191C1F"/>
                          </a:solidFill>
                          <a:latin typeface="맑은 고딕"/>
                        </a:rPr>
                        <a:t>인용 실재 검증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모델이 지어낸 인용 — 원문에 없으면 폐기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44911"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Consolas"/>
                        </a:rPr>
                        <a:t>subject</a:t>
                      </a:r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 허용목록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존재하지 않는 상태 경로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44911"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Consolas"/>
                        </a:rPr>
                        <a:t>op</a:t>
                      </a:r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 허용목록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평가할 수 없는 연산자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44911"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Consolas"/>
                        </a:rPr>
                        <a:t>value</a:t>
                      </a:r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 JSON 파싱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빈 값·형식 오류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44911"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Consolas"/>
                        </a:rPr>
                        <a:t>confidence</a:t>
                      </a:r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 규칙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medium/low 인데 사유가 없는 조건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44911"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1" i="0">
                          <a:solidFill>
                            <a:srgbClr val="191C1F"/>
                          </a:solidFill>
                          <a:latin typeface="맑은 고딕"/>
                        </a:rPr>
                        <a:t>해결 경로 근거 대조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원문이 채널을 말하지 않는데 붙은 해결 방법 (7-1 참조)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" y="3988096"/>
            <a:ext cx="10765231" cy="2895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557" b="1" i="0">
                <a:solidFill>
                  <a:srgbClr val="191C1F"/>
                </a:solidFill>
                <a:latin typeface="맑은 고딕"/>
              </a:rPr>
              <a:t>인용 자동 보정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369069"/>
            <a:ext cx="10765231" cy="3047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230" b="0" i="0">
                <a:solidFill>
                  <a:srgbClr val="5C636B"/>
                </a:solidFill>
                <a:latin typeface="맑은 고딕"/>
              </a:rPr>
              <a:t>모델은 원문 문장 앞뒤에 </a:t>
            </a:r>
            <a:r>
              <a:rPr sz="1230" b="1" i="0">
                <a:solidFill>
                  <a:srgbClr val="191C1F"/>
                </a:solidFill>
                <a:latin typeface="맑은 고딕"/>
              </a:rPr>
              <a:t>없는 말을 덧붙이는</a:t>
            </a:r>
            <a:r>
              <a:rPr sz="1230" b="0" i="0">
                <a:solidFill>
                  <a:srgbClr val="5C636B"/>
                </a:solidFill>
                <a:latin typeface="맑은 고딕"/>
              </a:rPr>
              <a:t> 실수를 반복했습니다. 그대로 폐기하면 </a:t>
            </a:r>
            <a:r>
              <a:rPr sz="1230" b="1" i="0">
                <a:solidFill>
                  <a:srgbClr val="191C1F"/>
                </a:solidFill>
                <a:latin typeface="맑은 고딕"/>
              </a:rPr>
              <a:t>실재하는 조건이 사라집니다.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783568"/>
            <a:ext cx="10765231" cy="679878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024">
                <a:solidFill>
                  <a:srgbClr val="5C636B"/>
                </a:solidFill>
                <a:latin typeface="Consolas"/>
              </a:rPr>
              <a:t>원문   "… 권유 드립니다. 원화 결제 시 추가로 부과되는 …"</a:t>
            </a:r>
          </a:p>
          <a:p>
            <a:pPr algn="l">
              <a:lnSpc>
                <a:spcPct val="100000"/>
              </a:lnSpc>
            </a:pPr>
            <a:r>
              <a:rPr sz="1024">
                <a:solidFill>
                  <a:srgbClr val="5C636B"/>
                </a:solidFill>
                <a:latin typeface="Consolas"/>
              </a:rPr>
              <a:t>모델   "해외 가맹점에서 원화 결제 시 추가로 부과되는 …"   ← 앞에 없는 구절</a:t>
            </a:r>
          </a:p>
          <a:p>
            <a:pPr algn="l">
              <a:lnSpc>
                <a:spcPct val="100000"/>
              </a:lnSpc>
            </a:pPr>
            <a:r>
              <a:rPr sz="1024">
                <a:solidFill>
                  <a:srgbClr val="5C636B"/>
                </a:solidFill>
                <a:latin typeface="Consolas"/>
              </a:rPr>
              <a:t>보정   원문에 실제로 있는 최장 연속 구간만 남긴다 → 결과는 언제나 원문의 부분 문자열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5646326"/>
            <a:ext cx="32004" cy="609543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646326"/>
            <a:ext cx="10582351" cy="6095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230" b="0" i="0">
                <a:solidFill>
                  <a:srgbClr val="5C636B"/>
                </a:solidFill>
                <a:latin typeface="맑은 고딕"/>
              </a:rPr>
              <a:t>LLM 에게 사유를 알려주고 다시 묻는 방법을 </a:t>
            </a:r>
            <a:r>
              <a:rPr sz="1230" b="1" i="0">
                <a:solidFill>
                  <a:srgbClr val="191C1F"/>
                </a:solidFill>
                <a:latin typeface="맑은 고딕"/>
              </a:rPr>
              <a:t>먼저 시도했습니다 — 3건 중 0건 복구.</a:t>
            </a:r>
            <a:r>
              <a:rPr sz="1230" b="0" i="0">
                <a:solidFill>
                  <a:srgbClr val="5C636B"/>
                </a:solidFill>
                <a:latin typeface="맑은 고딕"/>
              </a:rPr>
              <a:t> 같은 실수를 반복했습니다. 그래서 규칙으로 바꿨고, 1건을 되살렸습니다.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5619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24" b="1" i="0">
                <a:solidFill>
                  <a:srgbClr val="191C1F"/>
                </a:solidFill>
                <a:latin typeface="맑은 고딕"/>
              </a:rPr>
              <a:t>7-1. 게이트가 놓친 것 — 해결 방법에는 근거가 없었습니다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102836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102836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430649"/>
            <a:ext cx="10765231" cy="4214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268" b="1" i="0">
                <a:solidFill>
                  <a:srgbClr val="191C1F"/>
                </a:solidFill>
                <a:latin typeface="맑은 고딕"/>
              </a:rPr>
              <a:t>인용은 검증했는데, 해결 방법은 검증하지 않았습니다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80142"/>
            <a:ext cx="10765231" cy="3122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260" b="0" i="0">
                <a:solidFill>
                  <a:srgbClr val="5C636B"/>
                </a:solidFill>
                <a:latin typeface="맑은 고딕"/>
              </a:rPr>
              <a:t>제출 직전 화면에서 이상한 것이 보였습니다. 같은 성격의 한도 조건 셋 중 하나만 「앱에서 가능」이었습니다.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02075"/>
            <a:ext cx="10765231" cy="692446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049">
                <a:solidFill>
                  <a:srgbClr val="5C636B"/>
                </a:solidFill>
                <a:latin typeface="Consolas"/>
              </a:rPr>
              <a:t>1일 이용한도 이내여야 합니다      앱에서 가능 · "한도 조정" (KB Pay)</a:t>
            </a:r>
          </a:p>
          <a:p>
            <a:pPr algn="l">
              <a:lnSpc>
                <a:spcPct val="100000"/>
              </a:lnSpc>
            </a:pPr>
            <a:r>
              <a:rPr sz="1049">
                <a:solidFill>
                  <a:srgbClr val="5C636B"/>
                </a:solidFill>
                <a:latin typeface="Consolas"/>
              </a:rPr>
              <a:t>1회 이용한도 이내여야 합니다      앱에서 불가</a:t>
            </a:r>
          </a:p>
          <a:p>
            <a:pPr algn="l">
              <a:lnSpc>
                <a:spcPct val="100000"/>
              </a:lnSpc>
            </a:pPr>
            <a:r>
              <a:rPr sz="1049">
                <a:solidFill>
                  <a:srgbClr val="5C636B"/>
                </a:solidFill>
                <a:latin typeface="Consolas"/>
              </a:rPr>
              <a:t>누적 이용액이 … 이내여야 합니다   앱에서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277401"/>
            <a:ext cx="10765231" cy="6244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260" b="0" i="0">
                <a:solidFill>
                  <a:srgbClr val="5C636B"/>
                </a:solidFill>
                <a:latin typeface="맑은 고딕"/>
              </a:rPr>
              <a:t>근거 원문을 열어 보니 </a:t>
            </a:r>
            <a:r>
              <a:rPr sz="1260" b="1" i="0">
                <a:solidFill>
                  <a:srgbClr val="5C636B"/>
                </a:solidFill>
                <a:latin typeface="Consolas"/>
              </a:rPr>
              <a:t>1일 한도 | 현금인출/가맹점이용 | 600만원 상당의 달러(USD) 환산액</a:t>
            </a:r>
            <a:r>
              <a:rPr sz="1260" b="0" i="0">
                <a:solidFill>
                  <a:srgbClr val="5C636B"/>
                </a:solidFill>
                <a:latin typeface="맑은 고딕"/>
              </a:rPr>
              <a:t> — 한도 </a:t>
            </a:r>
            <a:r>
              <a:rPr sz="1260" b="1" i="0">
                <a:solidFill>
                  <a:srgbClr val="191C1F"/>
                </a:solidFill>
                <a:latin typeface="맑은 고딕"/>
              </a:rPr>
              <a:t>수치</a:t>
            </a:r>
            <a:r>
              <a:rPr sz="1260" b="0" i="0">
                <a:solidFill>
                  <a:srgbClr val="5C636B"/>
                </a:solidFill>
                <a:latin typeface="맑은 고딕"/>
              </a:rPr>
              <a:t>만 있고 조정 방법은 한 글자도 없었습니다. </a:t>
            </a:r>
            <a:r>
              <a:rPr sz="1260" b="0" i="0">
                <a:solidFill>
                  <a:srgbClr val="5C636B"/>
                </a:solidFill>
                <a:latin typeface="Consolas"/>
              </a:rPr>
              <a:t>"한도 조정"</a:t>
            </a:r>
            <a:r>
              <a:rPr sz="1260" b="0" i="0">
                <a:solidFill>
                  <a:srgbClr val="5C636B"/>
                </a:solidFill>
                <a:latin typeface="맑은 고딕"/>
              </a:rPr>
              <a:t> 이라는 말은 KB 문서 어디에도 없었고, </a:t>
            </a:r>
            <a:r>
              <a:rPr sz="1260" b="1" i="0">
                <a:solidFill>
                  <a:srgbClr val="191C1F"/>
                </a:solidFill>
                <a:latin typeface="맑은 고딕"/>
              </a:rPr>
              <a:t>저희 프롬프트 예시에만</a:t>
            </a:r>
            <a:r>
              <a:rPr sz="1260" b="0" i="0">
                <a:solidFill>
                  <a:srgbClr val="5C636B"/>
                </a:solidFill>
                <a:latin typeface="맑은 고딕"/>
              </a:rPr>
              <a:t> 있었습니다.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011539"/>
            <a:ext cx="10765231" cy="4214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268" b="1" i="0">
                <a:solidFill>
                  <a:srgbClr val="191C1F"/>
                </a:solidFill>
                <a:latin typeface="맑은 고딕"/>
              </a:rPr>
              <a:t>원인 두 가지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13232" y="4561032"/>
          <a:ext cx="10765230" cy="748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49336"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91C1F"/>
                          </a:solidFill>
                          <a:latin typeface="맑은 고딕"/>
                        </a:rPr>
                        <a:t>무엇이 잘못됐나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4933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91C1F"/>
                          </a:solidFill>
                          <a:latin typeface="맑은 고딕"/>
                        </a:rPr>
                        <a:t>스키마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5C636B"/>
                          </a:solidFill>
                          <a:latin typeface="Consolas"/>
                        </a:rPr>
                        <a:t>actionable_in_app: bool</a:t>
                      </a:r>
                      <a:r>
                        <a:rPr sz="1050" b="0" i="0">
                          <a:solidFill>
                            <a:srgbClr val="5C636B"/>
                          </a:solidFill>
                          <a:latin typeface="맑은 고딕"/>
                        </a:rPr>
                        <a:t> — "모른다"를 표현할 자리가 없어 모델이 반드시 참/거짓 중 하나를 고르게 </a:t>
                      </a:r>
                      <a:r>
                        <a:rPr sz="1050" b="1" i="0">
                          <a:solidFill>
                            <a:srgbClr val="191C1F"/>
                          </a:solidFill>
                          <a:latin typeface="맑은 고딕"/>
                        </a:rPr>
                        <a:t>강요</a:t>
                      </a:r>
                      <a:r>
                        <a:rPr sz="1050" b="0" i="0">
                          <a:solidFill>
                            <a:srgbClr val="5C636B"/>
                          </a:solidFill>
                          <a:latin typeface="맑은 고딕"/>
                        </a:rPr>
                        <a:t>했습니다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4933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91C1F"/>
                          </a:solidFill>
                          <a:latin typeface="맑은 고딕"/>
                        </a:rPr>
                        <a:t>프롬프트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5C636B"/>
                          </a:solidFill>
                          <a:latin typeface="맑은 고딕"/>
                        </a:rPr>
                        <a:t>few-shot 예시에 </a:t>
                      </a:r>
                      <a:r>
                        <a:rPr sz="1050" b="0" i="0">
                          <a:solidFill>
                            <a:srgbClr val="5C636B"/>
                          </a:solidFill>
                          <a:latin typeface="Consolas"/>
                        </a:rPr>
                        <a:t>"primary_path": "한도 조정"</a:t>
                      </a:r>
                      <a:r>
                        <a:rPr sz="1050" b="0" i="0">
                          <a:solidFill>
                            <a:srgbClr val="5C636B"/>
                          </a:solidFill>
                          <a:latin typeface="맑은 고딕"/>
                        </a:rPr>
                        <a:t> 이 있었고, 한도 조건을 만나자 그대로 베꼈습니다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13232" y="5565073"/>
            <a:ext cx="10765231" cy="6244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260" b="0" i="0">
                <a:solidFill>
                  <a:srgbClr val="5C636B"/>
                </a:solidFill>
                <a:latin typeface="맑은 고딕"/>
              </a:rPr>
              <a:t>조건·상태·판정에서는 「모르면 모른다」를 지켰으면서 </a:t>
            </a:r>
            <a:r>
              <a:rPr sz="1260" b="1" i="0">
                <a:solidFill>
                  <a:srgbClr val="191C1F"/>
                </a:solidFill>
                <a:latin typeface="맑은 고딕"/>
              </a:rPr>
              <a:t>remedy 에서만 그 원칙이 빠져</a:t>
            </a:r>
            <a:r>
              <a:rPr sz="1260" b="0" i="0">
                <a:solidFill>
                  <a:srgbClr val="5C636B"/>
                </a:solidFill>
                <a:latin typeface="맑은 고딕"/>
              </a:rPr>
              <a:t> 있었습니다. 검수자도 조건과 인용만 봤지 해결 방법은 보지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14866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7-1. 게이트가 놓친 것 — 해결 방법에는 근거가 없었습니다 (계속)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2027559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2027559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355372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고친 방법 — 네 겹으로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985146"/>
          <a:ext cx="10765230" cy="2308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조치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스키마를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세 값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으로. `actionable_in_app: bool \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None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. **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false` 도 주장**이므로 근거가 필요합니다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72720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remedy.basis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신설 —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evidence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(원문에 채널 명시) /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measured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(앱에서 직접 확인) /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self_evident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(물리적으로 자명).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셋 중 어디에도 없으면 비웁니다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검증 게이트에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6번 관문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추가. 원문에 채널을 가리키는 말이 없으면 remedy 를 자동으로 비웁니다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프롬프트 예시를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정반대로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교체. 이제 그 예시가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null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을 가르칩니다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14866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7-1. 게이트가 놓친 것 — 해결 방법에는 근거가 없었습니다 (계속)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2027559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2027559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355372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이 구분은 화면에도 그대로 나옵니다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85146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조건마다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무엇이 그 해결 방법을 뒷받침하는지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를 칩으로 답니다.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3466547"/>
          <a:ext cx="10765230" cy="1423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5C636B"/>
                          </a:solidFill>
                          <a:latin typeface="Consolas"/>
                        </a:rPr>
                        <a:t>basis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근거 원문에 채널 명시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evidence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원문이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어디서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하는지까지 말했습니다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근거 원문에 할 일 명시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evidence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(+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actionable_in_app: null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원문이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무엇을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하라고만 말했습니다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앱에서 직접 확인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measured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문서에 없어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저희가 앱에서 재봤습니다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조건 자체로 자명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self_evident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조건 문장이 곧 해결 방법입니다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3232" y="5146249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칩이 없는 조건은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해결 방법을 찾지 못한 조건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입니다. 비워 둔 것도 화면이 말합니다.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105262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한 번 더 확인했더니, 이번엔 반대 방향의 오류가 있었습니다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735036"/>
            <a:ext cx="10765231" cy="583524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전   조건 11개 중 8개 "앱에서 해결 불가"      ← 그중 5개는 근거가 없었음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후   앱에서 가능 2 · 앱 밖 3 · 경로 미확인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01440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숫자는 줄었지만 주장은 정확해졌습니다.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그리고 문제 제기는 오히려 날카로워집니다 — </a:t>
            </a:r>
            <a:r>
              <a:rPr sz="1500" b="0" i="1">
                <a:solidFill>
                  <a:srgbClr val="5C636B"/>
                </a:solidFill>
                <a:latin typeface="맑은 고딕"/>
              </a:rPr>
              <a:t>앱이 말해주지 않는다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가 아니라,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문서조차 말해주지 않는 조건이 6개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라는 뜻이기 때문입니다.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3354514"/>
            <a:ext cx="32004" cy="74334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354514"/>
            <a:ext cx="1058235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Consolas"/>
              </a:rPr>
              <a:t>tests/test_remedy_grounding.py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10건이 이 원칙을 지킵니다. 근거 없는 remedy 를 되돌려 넣어 보면 테스트가 실제로 실패하는 것을 확인했습니다.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244164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비운 6개를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수집 문서 8건의 본문 전체에서 다시 검색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했습니다 (HTML 파일 기준 82만 자, 태그·스크립트를 걷어낸 본문 기준 11만 3천 자). 그중 하나는 근거가 있었습니다.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481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592" b="1" i="0">
                <a:solidFill>
                  <a:srgbClr val="191C1F"/>
                </a:solidFill>
                <a:latin typeface="맑은 고딕"/>
              </a:rPr>
              <a:t>그리고 "KB 공개문서에 없다"고 말하지 않습니다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085192"/>
            <a:ext cx="10765231" cy="481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592" b="1" i="0">
                <a:solidFill>
                  <a:srgbClr val="191C1F"/>
                </a:solidFill>
                <a:latin typeface="맑은 고딕"/>
              </a:rPr>
              <a:t>그리고 "KB 공개문서에 없다"고 말하지 않습니다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694896"/>
            <a:ext cx="10765231" cy="566767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199">
                <a:solidFill>
                  <a:srgbClr val="5C636B"/>
                </a:solidFill>
                <a:latin typeface="Consolas"/>
              </a:rPr>
              <a:t>카드 유효기한을 확인해주세요. 해외에서 카드를 사용해야하는 기간 동안</a:t>
            </a:r>
          </a:p>
          <a:p>
            <a:pPr algn="l">
              <a:lnSpc>
                <a:spcPct val="100000"/>
              </a:lnSpc>
            </a:pPr>
            <a:r>
              <a:rPr sz="1199">
                <a:solidFill>
                  <a:srgbClr val="5C636B"/>
                </a:solidFill>
                <a:latin typeface="Consolas"/>
              </a:rPr>
              <a:t>만료가 예상되는 경우 사용 전 갱신 재발급이 필요합니다.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44543"/>
            <a:ext cx="10765231" cy="713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39" b="1" i="0">
                <a:solidFill>
                  <a:srgbClr val="191C1F"/>
                </a:solidFill>
                <a:latin typeface="맑은 고딕"/>
              </a:rPr>
              <a:t>무엇을 해야 하는지는 원문에 있습니다</a:t>
            </a:r>
            <a:r>
              <a:rPr sz="1439" b="0" i="0">
                <a:solidFill>
                  <a:srgbClr val="5C636B"/>
                </a:solidFill>
                <a:latin typeface="맑은 고딕"/>
              </a:rPr>
              <a:t> — 「갱신 재발급」. 다만 그 재발급을 </a:t>
            </a:r>
            <a:r>
              <a:rPr sz="1439" b="1" i="0">
                <a:solidFill>
                  <a:srgbClr val="191C1F"/>
                </a:solidFill>
                <a:latin typeface="맑은 고딕"/>
              </a:rPr>
              <a:t>어디서</a:t>
            </a:r>
            <a:r>
              <a:rPr sz="1439" b="0" i="0">
                <a:solidFill>
                  <a:srgbClr val="5C636B"/>
                </a:solidFill>
                <a:latin typeface="맑은 고딕"/>
              </a:rPr>
              <a:t> 하는지는 없습니다. 6개를 한 덩어리로 처리하면서 이 차이를 놓쳤습니다. 되살리되 두 층위를 구분했습니다.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3267883"/>
          <a:ext cx="10765230" cy="827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75884"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할 일(</a:t>
                      </a:r>
                      <a:r>
                        <a:rPr sz="1200" b="1" i="0">
                          <a:solidFill>
                            <a:srgbClr val="5C636B"/>
                          </a:solidFill>
                          <a:latin typeface="Consolas"/>
                        </a:rPr>
                        <a:t>primary_path</a:t>
                      </a:r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채널(</a:t>
                      </a:r>
                      <a:r>
                        <a:rPr sz="1200" b="1" i="0">
                          <a:solidFill>
                            <a:srgbClr val="5C636B"/>
                          </a:solidFill>
                          <a:latin typeface="Consolas"/>
                        </a:rPr>
                        <a:t>actionable_in_app</a:t>
                      </a:r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7588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카드 유효기한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갱신 재발급</a:t>
                      </a:r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 (원문에 있음)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미확인</a:t>
                      </a:r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 (원문에 없음)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7588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나머지 5개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미확인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" y="4351568"/>
            <a:ext cx="10765231" cy="713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39" b="0" i="0">
                <a:solidFill>
                  <a:srgbClr val="5C636B"/>
                </a:solidFill>
                <a:latin typeface="맑은 고딕"/>
              </a:rPr>
              <a:t>저희가 본 것은 </a:t>
            </a:r>
            <a:r>
              <a:rPr sz="1439" b="1" i="0">
                <a:solidFill>
                  <a:srgbClr val="191C1F"/>
                </a:solidFill>
                <a:latin typeface="맑은 고딕"/>
              </a:rPr>
              <a:t>수집한 문서 8건</a:t>
            </a:r>
            <a:r>
              <a:rPr sz="1439" b="0" i="0">
                <a:solidFill>
                  <a:srgbClr val="5C636B"/>
                </a:solidFill>
                <a:latin typeface="맑은 고딕"/>
              </a:rPr>
              <a:t>입니다. KB 전체가 아닙니다. 그래서 화면과 문서의 문구를 </a:t>
            </a:r>
            <a:r>
              <a:rPr sz="1439" b="1" i="0">
                <a:solidFill>
                  <a:srgbClr val="191C1F"/>
                </a:solidFill>
                <a:latin typeface="맑은 고딕"/>
              </a:rPr>
              <a:t>"수집한 문서에서 찾지 못했습니다"</a:t>
            </a:r>
            <a:r>
              <a:rPr sz="1439" b="0" i="0">
                <a:solidFill>
                  <a:srgbClr val="5C636B"/>
                </a:solidFill>
                <a:latin typeface="맑은 고딕"/>
              </a:rPr>
              <a:t> 로 좁혔습니다.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5174908"/>
            <a:ext cx="32004" cy="1070418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5174908"/>
            <a:ext cx="10582351" cy="10704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39" b="0" i="0">
                <a:solidFill>
                  <a:srgbClr val="5C636B"/>
                </a:solidFill>
                <a:latin typeface="맑은 고딕"/>
              </a:rPr>
              <a:t>다른 페이지에 해결 방법이 있을 수 있습니다. 그 경우 </a:t>
            </a:r>
            <a:r>
              <a:rPr sz="1439" b="1" i="0">
                <a:solidFill>
                  <a:srgbClr val="191C1F"/>
                </a:solidFill>
                <a:latin typeface="맑은 고딕"/>
              </a:rPr>
              <a:t>수집 범위를 넓히면 자동으로 채워집니다</a:t>
            </a:r>
            <a:r>
              <a:rPr sz="1439" b="0" i="0">
                <a:solidFill>
                  <a:srgbClr val="5C636B"/>
                </a:solidFill>
                <a:latin typeface="맑은 고딕"/>
              </a:rPr>
              <a:t> — 파이프라인이 문서를 넣으면 조건 트리를 내는 구조이기 때문입니다. 지금 비어 있다는 사실 자체가 "이 안내들만 보고는 알 수 없다"는 뜻이고, 그것이 이 프로젝트가 말하려는 문제입니다.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8. 프롬프트 규칙 — 추측이 아니라 관측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1차 추출을 분석해 실패 7종을 규칙으로 못 박았다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241800"/>
          <a:ext cx="10765230" cy="2499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관측된 실패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규칙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①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방향 뒤집힘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— "안심차단이 켜져 있어야 한다"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1">
                          <a:solidFill>
                            <a:srgbClr val="5C636B"/>
                          </a:solidFill>
                          <a:latin typeface="맑은 고딕"/>
                        </a:rPr>
                        <a:t>이 predicate 가 참이면 목표가 달성되는가?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②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subject 오매핑 — 서로 다른 조건을 한 경로에 몰아넣음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뜻이 정확히 맞지 않으면 추출하지 않는다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③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목표와 무관 — 이의신청 기한, 수수료 면제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지금 그 목표를 달성하는 조건만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④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단위 혼동 — "5,500달러" → 5500000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원화 기준이 아니면 추출하지 않는다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인용 이어붙임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연속된 한 구간만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⑥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value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를 비움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값이 없어도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"null"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을 적는다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⑦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label 과 predicate 방향 불일치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1">
                          <a:solidFill>
                            <a:srgbClr val="5C636B"/>
                          </a:solidFill>
                          <a:latin typeface="맑은 고딕"/>
                        </a:rPr>
                        <a:t>label 을 predicate 로 다시 쓰면 같은 문장인가?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" y="4996938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1차 결과는 병합 15개 중 8개가 위 유형으로 틀렸습니다.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규칙을 넣고 5차까지 개정한 결과가 지금의 트리입니다.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5478339"/>
            <a:ext cx="32004" cy="371673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5478339"/>
            <a:ext cx="1058235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이 규칙들은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실제로 나온 오류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입니다. 지울 때는 그 실패가 재현되는지 먼저 확인하도록 코드 주석에 남겼습니다.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1489211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9. 병합 — 문서 간 합의로 대표를 정한다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2297936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2297936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625749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사람이 고친 자리는 화면에도 남습니다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255523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검수에서 사람이 판단을 뒤집으면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review_override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에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이유까지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남고, 그 문장이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화면의 근거 원문 아래에 그대로 나옵니다.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감사 기록을 파일에만 두면 아무도 읽지 않습니다 — 조건을 보는 그 자리에 둡니다.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길이는 신뢰의 근거가 아니다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105262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같은 조건이 여러 문서에 조금씩 다른 문장으로 실립니다. 무엇을 보여줄지 정해야 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586663"/>
            <a:ext cx="10765231" cy="1421389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✗ 짧은 인용 우선 →  규칙을 스치듯 언급한 문장이 대표가 됨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✗ 긴 인용 우선   →  다른 얘기를 하는 긴 문단이 대표가 됨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             ("해외거래정지 해제"(문서 5곳)가 "해외사이트 해제신청"(1곳)에 밀림)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○ 문서 간 합의   →  같은 뜻으로 읽은 문서가 가장 많은 무리를 대표로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             그 안에서 (여러 문서에 같은 문장 → label 뒷받침 → 짧은 것) 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190932"/>
            <a:ext cx="10765231" cy="353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900" b="1" i="0">
                <a:solidFill>
                  <a:srgbClr val="191C1F"/>
                </a:solidFill>
                <a:latin typeface="맑은 고딕"/>
              </a:rPr>
              <a:t>합집합을 쓰지 않는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635461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해결 채널을 문서들의 합집합으로 모았더니, </a:t>
            </a:r>
            <a:r>
              <a:rPr sz="1500" b="0" i="1">
                <a:solidFill>
                  <a:srgbClr val="5C636B"/>
                </a:solidFill>
                <a:latin typeface="맑은 고딕"/>
              </a:rPr>
              <a:t>"앱에서 안심차단을 </a:t>
            </a:r>
            <a:r>
              <a:rPr sz="1500" b="0" i="1">
                <a:solidFill>
                  <a:srgbClr val="5C636B"/>
                </a:solidFill>
                <a:latin typeface="맑은 고딕"/>
              </a:rPr>
              <a:t>신청</a:t>
            </a:r>
            <a:r>
              <a:rPr sz="1500" b="0" i="1">
                <a:solidFill>
                  <a:srgbClr val="5C636B"/>
                </a:solidFill>
                <a:latin typeface="맑은 고딕"/>
              </a:rPr>
              <a:t>할 수 있어요"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의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app:KB스타뱅킹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이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해제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조건에 섞여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"앱에서 해제 가능"으로 뒤집혔습니다.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488535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→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화면에 보이는 모든 정보는 하나의 인용에서 나옵니다.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문서마다 값이 다르면 합치지 않고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검수 메모로 사람에게 넘깁니다.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69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600" b="1" i="0">
                <a:solidFill>
                  <a:srgbClr val="191C1F"/>
                </a:solidFill>
                <a:latin typeface="맑은 고딕"/>
              </a:rPr>
              <a:t>10. 검수 관문 — 사람은 게이트지 저자가 아니다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09878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09878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7691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프롬프트를 고쳐도 오류가 0이 되지는 않습니다.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틀린 조건이 트리에 들어가면 판정은 자신 있게 틀린 답을 냅니다.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그게 가장 나쁩니다.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390765"/>
          <a:ext cx="10765230" cy="1360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사람이 할 수 있는 것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사람이 할 수 없는 것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승인 / 반려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label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을 쓰거나 고치기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severity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교정 (blocking ↔ warning)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predicate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수정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여러 인용 중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대표 선택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(모델이 뽑은 것 중에서만)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evidence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문장 작성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13232" y="4006967"/>
            <a:ext cx="10765231" cy="583524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검수 대상 16건  →  승인 12  /  반려 4      (통과율 0.75)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            severity 교정 2 · 대표 인용 선택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4773371"/>
            <a:ext cx="10600639" cy="10751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결정과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사유 전문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이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data/review/decisions.yaml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에 남습니다 — 감사 기록입니다</a:t>
            </a:r>
          </a:p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교정한 조건은 트리에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review_override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로 표시돼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손댄 곳이 감춰지지 않습니다</a:t>
            </a:r>
          </a:p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검수되지 않은 조건은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트리에 들어가지 않습니다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(모르면 넣지 않는다)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11. 판정 엔진 — 결정론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같은 입력에 같은 출력. 측정했습니다.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241800"/>
          <a:ext cx="10765230" cy="1423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조합 (트리 × 프로필)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총 판정 횟수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2,000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일치율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100.0%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판정 1회 소요 (중앙값)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0.056 ms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" y="3921502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비교 시 실행 시각을 제외하고 조건 목록을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id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로 정렬해 대조했습니다. 판정과 해결 계획을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함께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직렬화해 비교했으므로, 둘 중 하나만 흔들려도 불일치로 잡힙니다.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4774576"/>
            <a:ext cx="32004" cy="74334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74576"/>
            <a:ext cx="1058235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조합에는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목표와 무관한 프로필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(계좌 트리 × 해외결제 사용자)도 넣었습니다. 이 경우 시스템은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indeterminate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를 냅니다 — 관련 정보가 없으면 추측하지 않습니다.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11-2. 그 결정론을 테스트로 고정했습니다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측정치를 주장으로만 두지 않았습니다. 저장소를 받은 사람이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직접 다시 돌릴 수 있습니다.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093427"/>
          <a:ext cx="10765230" cy="2087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스위트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지키는 것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실패하면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tests/test_determinism.py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트리 × 프로필 전체 조합(10)을 각 10회 반복해 판정이 모두 일치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판정 경로에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LLM 호출이나 난수가 끼어들었다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는 뜻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tests/test_edge.py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(6건)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빈 프로필 ·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null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· 없는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goal_id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· 타입 불일치 · 빈 트리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모름을 충족으로 추측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했거나 500을 냈다는 뜻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tests/test_overrides.py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(8건)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화면에서 바꾼 값이 판정에 반영되고,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원본 프로필은 그대로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인가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값에 반응하지 않거나, 다음 사람이 보는 화면이 오염됐다는 뜻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tests/test_remedy_grounding.py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(10건)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해결 방법이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근거에 묶여 있는가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.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false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도 주장이므로 근거를 요구한다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근거 없는 해결 방법이 다시 새어들어왔다는 뜻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69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600" b="1" i="0">
                <a:solidFill>
                  <a:srgbClr val="191C1F"/>
                </a:solidFill>
                <a:latin typeface="맑은 고딕"/>
              </a:rPr>
              <a:t>11-2. 그 결정론을 테스트로 고정했습니다 (계속)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09878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09878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537691"/>
            <a:ext cx="10765231" cy="792990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$ pytest tests/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.........................                  [100%]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32 passed, 1 warning in 0.72s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513561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5C636B"/>
                </a:solidFill>
                <a:latin typeface="Consolas"/>
              </a:rPr>
              <a:t>test_edge.py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 는 크래시 방지용이 아닙니다.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아래 절(11-1)의 3값 원칙이 코드에서 지켜지는지 검사하는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회귀 방어선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입니다.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2994962"/>
          <a:ext cx="10765230" cy="17084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테스트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지키는 원칙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test_empty_profile_is_indeterminate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필수 상태가 없으면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ok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가 아니라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indeterminate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test_null_value_is_classified_as_unknown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null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은 충족·미충족으로 추측하지 않고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unknown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test_unknown_goal_returns_404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없는 목표는 서버 오류(500)가 아니라 404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test_numeric_string_is_classified_as_unknown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숫자 자리에 문자열이 오면 크래시 대신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unknown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test_empty_condition_tree_returns_ok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조건이 없는 트리도 예외 없이 판정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13232" y="4959398"/>
            <a:ext cx="32004" cy="74334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959398"/>
            <a:ext cx="1058235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위 2,000회와 이 테스트는 목적이 다릅니다.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2,000회는 조합당 200회를 돌린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1회성 실측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이고, pytest 의 조합당 10회는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커밋마다 돌아가는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회귀 테스트입니다. 전자는 규모를, 후자는 지속성을 증명합니다.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69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600" b="1" i="0">
                <a:solidFill>
                  <a:srgbClr val="191C1F"/>
                </a:solidFill>
                <a:latin typeface="맑은 고딕"/>
              </a:rPr>
              <a:t>11-3. 그리고 화면에서 직접 확인하실 수 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09878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09878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7691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측정치와 테스트는 저희가 한 말입니다.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직접 눌러 보시는 편이 빠릅니다.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019092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데모 화면의 「값을 바꾸면 판정이 바뀝니다」에서 사용자 상태를 바꾸면 판정이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즉시 다시 계산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됩니다.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2500493"/>
          <a:ext cx="10765230" cy="14856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5818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눌러 보실 것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그때 일어나는 일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58185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해외원화결제(DCC) 차단 → 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아니오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미충족 </a:t>
                      </a:r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3 → 2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. 판정은 여전히 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blocked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58185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막힌 조건 3개를 모두 해제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blocked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 → </a:t>
                      </a:r>
                      <a:r>
                        <a:rPr sz="1100" b="1" i="0">
                          <a:solidFill>
                            <a:srgbClr val="5C636B"/>
                          </a:solidFill>
                          <a:latin typeface="Consolas"/>
                        </a:rPr>
                        <a:t>ok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5818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필수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 조건을 → 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모름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그 조건이 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unknown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 으로 이동, 판정이 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확인할 수 없습니다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 로 바뀝니다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452871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참고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 조건을 → 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모름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unknown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 으로는 가지만 판정은 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가능합니다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 그대로입니다. 판정은 필수 조건만 보기 때문이며, 화면이 «막는 조건은 없습니다. 다만 확인하지 못한 값 N개가 남아 있습니다» 로 밝힙니다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13232" y="4242140"/>
            <a:ext cx="32004" cy="74334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242140"/>
            <a:ext cx="1058235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하나만 풀어도 안 된다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는 저희 주장이 화면에서 그대로 재현됩니다. 이 계산에도 LLM 은 없습니다. 값이 같으면 몇 번을 눌러도 같은 답이 나옵니다.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131790"/>
            <a:ext cx="10765231" cy="11150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안전 장치.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바꾼 값은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그 요청에만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적용되고 프로필 파일은 바뀌지 않습니다.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card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·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account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·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context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안에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이미 있는 키만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바꿀 수 있습니다. 없는 키를 만들 수 있게 하면 조건 트리에 없는 상태를 지어내는 셈이고, 그 값이 맞는지는 아무도 보증할 수 없습니다. (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tests/test_overrides.py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가 지킵니다)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11-1. 판정은 3값입니다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612026"/>
          <a:ext cx="10765230" cy="1138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blocked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차단 조건이 미충족 — 지금은 되지 않습니다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5C636B"/>
                          </a:solidFill>
                          <a:latin typeface="Consolas"/>
                        </a:rPr>
                        <a:t>indeterminate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미충족은 없지만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판정에 필요한 값을 몰라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된다고 말할 수 없습니다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ok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차단 조건을 전부 확인했고 모두 충족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" y="3006994"/>
            <a:ext cx="32004" cy="74334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006994"/>
            <a:ext cx="1058235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Consolas"/>
              </a:rPr>
              <a:t>indeterminate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가 있는 이유 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모르는 상태에서 "됩니다"라고 답하지 않기 위해서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입니다. 값을 모르는데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ok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를 주면 그건 추측이고, 이 시스템의 설계 원칙 위반입니다.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896644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전부 ✓/✕ 로 채운 화면이 더 깔끔해 보이지만,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모르는 것을 안다고 표시하는 것이 거짓말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입니다. 그래서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unknown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을 화면에 그대로 노출합니다.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12. 해결 계획 — "하나만 풀면 되나요?"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조건을 나열해 주는 것만으로는 이 프로젝트가 시작된 경험이 해결되지 않습니다.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하나를 풀어도 여전히 막힌다는 사실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을 먼저 말해야 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2465100"/>
            <a:ext cx="10765231" cy="2887652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판정 — 조건 11개 중  미충족 3 · 확인불가 1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✕ 해외원화결제(DCC) 차단 해제   앱에서 가능: KB Pay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✕ 해외거래정지 해제             앱에서 가능: KB Pay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✕ IC칩 비밀번호 등록            앱 밖에서만: 영업점 또는 ATM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── 하나만 풀면 되나요? ─────────────────────────────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3개 중 어느 하나만 해결   →  여전히 안 됩니다 · 필수 조건 2개 남음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앱에서 할 수 있는 것 모두 →  여전히 안 됩니다 · 필수 조건 1개 남음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3개 모두                 →  됩니다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※ 서버는 5행을 다 내지만, 결과가 같은 행은 화면에서 묶습니다.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같은 문장을 세로로 쌓아도 정보가 늘지 않기 때문입니다.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535632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이 계산에도 LLM을 쓰지 않습니다.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판정 결과를 집합 연산으로 다시 평가할 뿐이며,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없는 사용자 값을 지어내지 않습니다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— 값을 만들면 그 값이 맞는지 아무도 보증할 수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13. 측정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612026"/>
          <a:ext cx="10765230" cy="3353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조건 추출 규모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문서 8건 → 청크 280 → 후보 276 → 병합 16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조건 12개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검수 통과율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병합된 조건 중 트리에 들어간 비율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12 / 16 = 0.75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근거 실재율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트리의 모든 인용이 원문에 있는가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12 / 12 = 100%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근거 표시율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판정 결과에 근거가 붙는 비율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구조적 100%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(스키마 필수)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앱 안에서 해결 가능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actionable_in_app is True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해외결제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2 / 11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앱 밖에서 해결 (근거 확인됨)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... is False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해외결제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3 / 11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해결 경로 미확인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... is None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해외결제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6 / 11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결정론성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2,000회 반복 일치율 (1회성 실측)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회귀 테스트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pytest tests/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— 결정론 1 · 엣지 6 · 상태변경 8 · 근거묶음 10 · 적용범위 7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32 passed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수동 라벨 대비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정밀도 / 재현율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eval/results/extraction_accuracy.md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1358062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13-1. 수동 라벨과의 차이를 정직하게 다룹니다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2166787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2166787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2494600"/>
            <a:ext cx="10600639" cy="17919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자동 추출이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라벨에 없던 유효 조건 4개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를 새로 찾았습니다 (IC칩 비밀번호 · 명의도용 차단 · 카드 잠김 · 1일 한도)</a:t>
            </a:r>
          </a:p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반대로 라벨에만 있던 1건은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검토 결과 라벨 쪽이 틀렸습니다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— 방향을 뒤집어 만든 조건이었고, LLM 이 조건이 아니라고 판정한 것이 옳았습니다</a:t>
            </a:r>
          </a:p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라벨 파일은 고치지 않았습니다.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자를 나중에 고치면 그 자로 잰 수치가 의미를 잃습니다. 결함은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eval/labels/errata.yaml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에 기록하고 보고서가 함께 출력합니다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14. 한계 — 숨기지 않습니다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612026"/>
          <a:ext cx="10765230" cy="401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5818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한계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우리의 처리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452871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사용자 상태는 가상입니다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실제 연동에는 내부 API가 필요합니다. 이 시스템에서 가짜는 상태 하나뿐이고, 조건·근거는 전부 실제 문서에서 나옵니다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452871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판정 응답 0.056ms 는 </a:t>
                      </a:r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로직 비용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입니다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실제 서비스에는 상태 조회 시간이 더해집니다. 그래서 속도 배수를 강조하지 않습니다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452871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약관은 개정됩니다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모든 조건에 </a:t>
                      </a:r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수집 일자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를 남기고, 트리의 유효성은 가장 낡은 근거를 따릅니다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452871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표에서 뽑은 인용 1건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셀을 `\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` 로 이은 형태라 원문 HTML 검색으로는 나오지 않습니다 (각 셀은 실재). README에 명시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452871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커버리지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지금은 목표 2종입니다. 조건 트리는 목표 단위로 </a:t>
                      </a:r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추가되는 구조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입니다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842243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자연어 목표 식별은 아직 없습니다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목표가 2종이라 직접 선택으로 충분했고, LLM 을 데모 경로에 넣으면 실패 처리가 따라붙습니다. 15장 개발 계획 1단계입니다 — </a:t>
                      </a:r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기획안 파이프라인 그림에도 구현·계획을 구분해 표시했습니다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647557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수집 범위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robots.txt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 가 막은 페이지는 자동 수집하지 않고, 사람이 공개 안내 본문만 확보해 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collection_method: manual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 로 기록합니다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" y="5880404"/>
            <a:ext cx="32004" cy="371673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5880404"/>
            <a:ext cx="1058235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로그인 뒤 개인화 페이지는 수집하지 않습니다.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공시·안내 페이지만 사용합니다.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15. 개발 계획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예선 이후 — 무엇을 어떤 순서로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241800"/>
          <a:ext cx="10765230" cy="19296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검증 방법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1. 목표 식별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자연어 질의 → goal_id (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src/resolve/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질의 100건 라벨 대비 정확도. 못 찾으면 </a:t>
                      </a:r>
                      <a:r>
                        <a:rPr sz="1250" b="0" i="1">
                          <a:solidFill>
                            <a:srgbClr val="5C636B"/>
                          </a:solidFill>
                          <a:latin typeface="맑은 고딕"/>
                        </a:rPr>
                        <a:t>"아직 다루지 않는 주제"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로 정직하게 답함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2. 커버리지 확장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목표 2종 → 10종 (대출·카드발급·이체한도 등)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목표당 조건 추출 → 검수 통과율 유지 여부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3. 상태 연동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가상 프로필 → 내부 API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조회 실패 시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unknown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유지 (추측 금지)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4. 개정 감시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문서 재수집 → 조건 변경 감지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트리 diff 알림. 변경된 조건은 재검수 대상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5. 운영 지표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판정 후 실제 해결 여부 추적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"지목한 원인이 맞았는가" 사후 검증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" y="4427470"/>
            <a:ext cx="10765231" cy="353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900" b="1" i="0">
                <a:solidFill>
                  <a:srgbClr val="191C1F"/>
                </a:solidFill>
                <a:latin typeface="맑은 고딕"/>
              </a:rPr>
              <a:t>확장이 쉬운 이유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871999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새 목표를 넣을 때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코드를 고치지 않습니다.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sources.yaml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에 문서를 추가하고 → 파이프라인을 돌리고 → 검수하면 트리가 생깁니다.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13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840" b="1" i="0">
                <a:solidFill>
                  <a:srgbClr val="191C1F"/>
                </a:solidFill>
                <a:latin typeface="맑은 고딕"/>
              </a:rPr>
              <a:t>15-1. 비워 둔 칸을 어떻게 메우는가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54479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54479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82292"/>
            <a:ext cx="10765231" cy="481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592" b="1" i="0">
                <a:solidFill>
                  <a:srgbClr val="191C1F"/>
                </a:solidFill>
                <a:latin typeface="맑은 고딕"/>
              </a:rPr>
              <a:t>지금 조건 12개 중 6개는 해결 경로가 비어 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191996"/>
            <a:ext cx="10765231" cy="356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39" b="0" i="0">
                <a:solidFill>
                  <a:srgbClr val="5C636B"/>
                </a:solidFill>
                <a:latin typeface="맑은 고딕"/>
              </a:rPr>
              <a:t>이것은 추출 실패가 아닙니다. </a:t>
            </a:r>
            <a:r>
              <a:rPr sz="1439" b="1" i="0">
                <a:solidFill>
                  <a:srgbClr val="191C1F"/>
                </a:solidFill>
                <a:latin typeface="맑은 고딕"/>
              </a:rPr>
              <a:t>문서에 없는 것</a:t>
            </a:r>
            <a:r>
              <a:rPr sz="1439" b="0" i="0">
                <a:solidFill>
                  <a:srgbClr val="5C636B"/>
                </a:solidFill>
                <a:latin typeface="맑은 고딕"/>
              </a:rPr>
              <a:t>입니다. 원문 전체를 다시 검색해 확인했고, 없다는 사실을 화면에 그대로 적었습니다.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2658530"/>
          <a:ext cx="10765230" cy="2016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758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왜 비었나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다음 단계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무엇으로 확인하나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488269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공개문서가 </a:t>
                      </a:r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조건은 말하고 해결 방법은 말하지 않는다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수집 범위 확장 — 앱 내 도움말 · 고객센터 안내 · 상품 약관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근거가 붙은 조건 수 / </a:t>
                      </a:r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여전히 빈 조건 수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488269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문서에 없어 </a:t>
                      </a:r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사람이 앱에서 직접 확인</a:t>
                      </a:r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한 건이 1개 (DCC)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실측을 기록 양식으로 고정 (</a:t>
                      </a:r>
                      <a:r>
                        <a:rPr sz="1200" b="0" i="0">
                          <a:solidFill>
                            <a:srgbClr val="5C636B"/>
                          </a:solidFill>
                          <a:latin typeface="Consolas"/>
                        </a:rPr>
                        <a:t>basis: measured</a:t>
                      </a:r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조건마다 측정 기록 파일이 붙는가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7588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채널은 아는데 </a:t>
                      </a:r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앱 안 경로</a:t>
                      </a:r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를 모른다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KB Pay 화면 매핑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그 링크가 실제로 그 설정 화면을 여는가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488269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조건의 </a:t>
                      </a:r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적용 대상</a:t>
                      </a:r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을 사람이 붙이고 있다 (</a:t>
                      </a:r>
                      <a:r>
                        <a:rPr sz="1200" b="0" i="0">
                          <a:solidFill>
                            <a:srgbClr val="5C636B"/>
                          </a:solidFill>
                          <a:latin typeface="Consolas"/>
                        </a:rPr>
                        <a:t>applies_when</a:t>
                      </a:r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추출 단계로 올린다 — 인용의 «체크카드의 경우» 같은 한정어를 형식화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사람이 붙인 것과 자동 추출이 일치하는가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13232" y="4931139"/>
            <a:ext cx="32004" cy="713612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931139"/>
            <a:ext cx="10582351" cy="713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39" b="1" i="0">
                <a:solidFill>
                  <a:srgbClr val="191C1F"/>
                </a:solidFill>
                <a:latin typeface="맑은 고딕"/>
              </a:rPr>
              <a:t>메우지 못하면 비워 둡니다.</a:t>
            </a:r>
            <a:r>
              <a:rPr sz="1439" b="0" i="0">
                <a:solidFill>
                  <a:srgbClr val="5C636B"/>
                </a:solidFill>
                <a:latin typeface="맑은 고딕"/>
              </a:rPr>
              <a:t> 6을 0으로 만드는 것이 목표가 아닙니다. 지금의 답은 </a:t>
            </a:r>
            <a:r>
              <a:rPr sz="1439" b="1" i="0">
                <a:solidFill>
                  <a:srgbClr val="191C1F"/>
                </a:solidFill>
                <a:latin typeface="맑은 고딕"/>
              </a:rPr>
              <a:t>빈 칸이 왜 비었는지 화면이 말하는 것</a:t>
            </a:r>
            <a:r>
              <a:rPr sz="1439" b="0" i="0">
                <a:solidFill>
                  <a:srgbClr val="5C636B"/>
                </a:solidFill>
                <a:latin typeface="맑은 고딕"/>
              </a:rPr>
              <a:t>이고, 다음 단계는 </a:t>
            </a:r>
            <a:r>
              <a:rPr sz="1439" b="1" i="0">
                <a:solidFill>
                  <a:srgbClr val="191C1F"/>
                </a:solidFill>
                <a:latin typeface="맑은 고딕"/>
              </a:rPr>
              <a:t>빈 칸을 줄이되 채운 근거를 함께 남기는 것</a:t>
            </a:r>
            <a:r>
              <a:rPr sz="1439" b="0" i="0">
                <a:solidFill>
                  <a:srgbClr val="5C636B"/>
                </a:solidFill>
                <a:latin typeface="맑은 고딕"/>
              </a:rPr>
              <a:t>입니다. 근거 없이 채우는 순간 이 시스템은 다른 종류의 물건이 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16. 기술 실현 가능성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지금 돌아갑니다. 제3자도 돌릴 수 있습니다.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241800"/>
          <a:ext cx="10765230" cy="1423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배포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Vercel 서버리스 —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https://kb-ai-challenge-2026.vercel.app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 (설치 없이 열립니다)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배포본 의존성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fastapi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·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pydantic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·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python-dotenv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3개뿐 — </a:t>
                      </a:r>
                      <a:r>
                        <a:rPr sz="1250" b="1" i="0">
                          <a:solidFill>
                            <a:srgbClr val="5C636B"/>
                          </a:solidFill>
                          <a:latin typeface="Consolas"/>
                        </a:rPr>
                        <a:t>openai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 가 없습니다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코드 규모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파이썬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33개 파일 / 3,533줄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(최대 파일 239줄)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외부 의존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개발 전체로도 8개(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requirements.txt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).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HTML 파서도 표준 라이브러리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입니다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재현 절차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docs/REPRODUCE.md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—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새 폴더에서 처음부터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돌린 로그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13232" y="3921502"/>
            <a:ext cx="32004" cy="74334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921502"/>
            <a:ext cx="1058235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배포본 의존성에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openai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가 없다는 것은,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판정에 LLM 이 없다는 사실이 의존성 목록에서 그대로 보인다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는 뜻입니다. 그래서 배포 환경에 넣을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API 키도 없습니다.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811152"/>
            <a:ext cx="10765231" cy="353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900" b="1" i="0">
                <a:solidFill>
                  <a:srgbClr val="191C1F"/>
                </a:solidFill>
                <a:latin typeface="맑은 고딕"/>
              </a:rPr>
              <a:t>재현 시험이 실제 결함을 잡았습니다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255681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Consolas"/>
              </a:rPr>
              <a:t>pip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은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requirements.txt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를 시스템 로케일로 읽습니다. 한국어 Windows(cp949)에서 UTF-8 한글 주석 때문에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설치 자체가 실패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했습니다 — 심사 환경에서 가장 흔한 조합입니다. 새 폴더에서 실제로 돌려보지 않았다면 그대로 제출됐을 결함입니다.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28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920" b="1" i="0">
                <a:solidFill>
                  <a:srgbClr val="191C1F"/>
                </a:solidFill>
                <a:latin typeface="맑은 고딕"/>
              </a:rPr>
              <a:t>16-1. 유지보수와 보안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69346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69346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97159"/>
            <a:ext cx="10765231" cy="9834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646" b="1" i="0">
                <a:solidFill>
                  <a:srgbClr val="191C1F"/>
                </a:solidFill>
                <a:latin typeface="맑은 고딕"/>
              </a:rPr>
              <a:t>LLM이 만든 데이터를 화면에 그립니다 — 그래서 렌더링도 믿지 않습니다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708622"/>
            <a:ext cx="10765231" cy="364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70" b="0" i="0">
                <a:solidFill>
                  <a:srgbClr val="5C636B"/>
                </a:solidFill>
                <a:latin typeface="맑은 고딕"/>
              </a:rPr>
              <a:t>판정에서 LLM을 배제한 것과 같은 이유로, </a:t>
            </a:r>
            <a:r>
              <a:rPr sz="1470" b="1" i="0">
                <a:solidFill>
                  <a:srgbClr val="191C1F"/>
                </a:solidFill>
                <a:latin typeface="맑은 고딕"/>
              </a:rPr>
              <a:t>화면도 트리를 신뢰하지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182589"/>
            <a:ext cx="10600639" cy="2809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7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모든 출력이 이스케이프를 거칩니다. 링크는 </a:t>
            </a:r>
            <a:r>
              <a:rPr sz="1470" b="0" i="0">
                <a:solidFill>
                  <a:srgbClr val="5C636B"/>
                </a:solidFill>
                <a:latin typeface="Consolas"/>
              </a:rPr>
              <a:t>http(s)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만 허용합니다 — </a:t>
            </a:r>
            <a:r>
              <a:rPr sz="1470" b="0" i="0">
                <a:solidFill>
                  <a:srgbClr val="5C636B"/>
                </a:solidFill>
                <a:latin typeface="Consolas"/>
              </a:rPr>
              <a:t>javascript: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같은 스킴이 트리에 섞여 들어올 여지를 남기지 않습니다</a:t>
            </a:r>
          </a:p>
          <a:p>
            <a:pPr>
              <a:lnSpc>
                <a:spcPct val="135000"/>
              </a:lnSpc>
            </a:pPr>
            <a:r>
              <a:rPr sz="147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값을 빠르게 여러 번 바꿔도 </a:t>
            </a:r>
            <a:r>
              <a:rPr sz="1470" b="1" i="0">
                <a:solidFill>
                  <a:srgbClr val="191C1F"/>
                </a:solidFill>
                <a:latin typeface="맑은 고딕"/>
              </a:rPr>
              <a:t>늦게 도착한 옛 응답이 최신 판정을 덮지 않습니다.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느린 응답 1.8초를 주입해 재현한 뒤 요청 일련번호로 막았습니다</a:t>
            </a:r>
          </a:p>
          <a:p>
            <a:pPr>
              <a:lnSpc>
                <a:spcPct val="135000"/>
              </a:lnSpc>
            </a:pPr>
            <a:r>
              <a:rPr sz="147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다시 그릴 때 </a:t>
            </a:r>
            <a:r>
              <a:rPr sz="1470" b="1" i="0">
                <a:solidFill>
                  <a:srgbClr val="191C1F"/>
                </a:solidFill>
                <a:latin typeface="맑은 고딕"/>
              </a:rPr>
              <a:t>포커스·펼쳐 둔 근거·스크롤 위치를 보존합니다.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값 하나 바꿀 때마다 근거가 접히고(6개→2개) 버튼이 튀던 것을(225~316px) 실측하고 고쳤습니다</a:t>
            </a:r>
          </a:p>
          <a:p>
            <a:pPr>
              <a:lnSpc>
                <a:spcPct val="135000"/>
              </a:lnSpc>
            </a:pPr>
            <a:r>
              <a:rPr sz="147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상태를 색으로만 말하지 않습니다. 세 버튼은 </a:t>
            </a:r>
            <a:r>
              <a:rPr sz="1470" b="0" i="0">
                <a:solidFill>
                  <a:srgbClr val="5C636B"/>
                </a:solidFill>
                <a:latin typeface="Consolas"/>
              </a:rPr>
              <a:t>aria-pressed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, 판정 갱신은 </a:t>
            </a:r>
            <a:r>
              <a:rPr sz="1470" b="0" i="0">
                <a:solidFill>
                  <a:srgbClr val="5C636B"/>
                </a:solidFill>
                <a:latin typeface="Consolas"/>
              </a:rPr>
              <a:t>role="status"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로 알리고, 본문 대비는 4.5:1 이상입니다</a:t>
            </a:r>
          </a:p>
          <a:p>
            <a:pPr>
              <a:lnSpc>
                <a:spcPct val="135000"/>
              </a:lnSpc>
            </a:pPr>
            <a:r>
              <a:rPr sz="147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470" b="0" i="0">
                <a:solidFill>
                  <a:srgbClr val="5C636B"/>
                </a:solidFill>
                <a:latin typeface="Consolas"/>
              </a:rPr>
              <a:t>/api/health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로 </a:t>
            </a:r>
            <a:r>
              <a:rPr sz="1470" b="1" i="0">
                <a:solidFill>
                  <a:srgbClr val="191C1F"/>
                </a:solidFill>
                <a:latin typeface="맑은 고딕"/>
              </a:rPr>
              <a:t>배포본이 어떤 데이터를 보고 있는지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즉시 확인할 수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나중에 고칠 것을 전제로 만들었습니다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3232" y="1105262"/>
          <a:ext cx="10765230" cy="1360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규칙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파일 200줄 / 함수 40줄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상한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33개 중 31개 준수.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api/main.py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(239)·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judge/schema.py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(216) 2개가 기능 추가로 상한을 넘었고, 분리는 제출 후 과제로 남깁니다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파이프라인 단계 = 폴더 하나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새 단계가 생기면 폴더를 만들지, 기존 파일을 부풀리지 않습니다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인터페이스 계약 C1~C4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judge/schema.py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한 곳에 고정 — 세 사람이 병렬로 일하는 접점입니다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" y="2721464"/>
            <a:ext cx="10765231" cy="353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900" b="1" i="0">
                <a:solidFill>
                  <a:srgbClr val="191C1F"/>
                </a:solidFill>
                <a:latin typeface="맑은 고딕"/>
              </a:rPr>
              <a:t>보안 — 장치를 넣고, 실제로 뚫어봅니다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65993"/>
            <a:ext cx="10600639" cy="10751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.env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는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.gitignore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+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pre-commit 훅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으로 이중 차단. 훅은 감지해도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값을 출력하지 않습니다</a:t>
            </a:r>
          </a:p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제출 서류(성명·생년월일·연락처)도 같은 방식으로 저장소 진입을 차단합니다</a:t>
            </a:r>
          </a:p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LLM 캐시에는 응답 구조체만 저장하고 요청 헤더는 남기지 않습니다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4369206"/>
            <a:ext cx="32004" cy="74334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4369206"/>
            <a:ext cx="1058235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훅을 넣은 뒤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가짜 파일로 실제 커밋을 시도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했더니, 한글 파일명이 그대로 통과했습니다. git 이 비ASCII 경로를 8진수로 이스케이프해 출력하기 때문이었습니다.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막는 장치를 넣는 것과, 실제로 막히는지 확인하는 것은 다른 일입니다.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17. 팀과 역할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612026"/>
          <a:ext cx="10765230" cy="8542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84734"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담당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팀장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문제 정의 · 조건 추출 설계(프롬프트·어휘·검수) · 근거 검증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팀원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검증 스위트(결정론성·엣지) · 클린설치 재현 · 기술 문서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" y="2722260"/>
            <a:ext cx="10765231" cy="353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900" b="1" i="0">
                <a:solidFill>
                  <a:srgbClr val="191C1F"/>
                </a:solidFill>
                <a:latin typeface="맑은 고딕"/>
              </a:rPr>
              <a:t>AI 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166789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코드 작성·문서 정리에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Claude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를 활용했습니다. 다만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무엇을 만들지, 어떤 조건을 트리에 넣을지, 어떤 수치를 주장할지는 사람이 판단했습니다.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019863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이 문서의 모든 수치는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저장소의 코드와 데이터에서 직접 산출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한 값입니다. 추정치는 쓰지 않았고, 측정하지 못한 것은 측정하지 못했다고 적었습니다.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다 됐나요?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10035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조치를 하나 끝내고 재시도하며 던지는 질문이자, 앱이 끝내 대답하지 않는 질문입니다.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2743559"/>
            <a:ext cx="32004" cy="371673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743559"/>
            <a:ext cx="1058235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역대 팀들은 약관을 사람에게 쉽게 설명했습니다. 저희는 약관을 기계가 판정할 수 있게 만듭니다.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261536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데모 — https://kb-ai-challenge-2026.vercel.app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(설치 없이 열립니다)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742937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저장소 · 재현 절차는 제출물에 포함되어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224338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모든 조건에는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출처 URL · 원문 인용 · 수집 일자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가 붙어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