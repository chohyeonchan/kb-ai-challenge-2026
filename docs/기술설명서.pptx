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786384"/>
            <a:ext cx="107652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C19A2E"/>
                </a:solidFill>
                <a:latin typeface="맑은 고딕"/>
              </a:rPr>
              <a:t>THE 8TH KB FUTURE FINANCE A.I.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417320"/>
            <a:ext cx="10765231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1"/>
            </a:pPr>
            <a:r>
              <a:rPr b="1" sz="4000">
                <a:solidFill>
                  <a:srgbClr val="ECEAE6"/>
                </a:solidFill>
                <a:latin typeface="맑은 고딕"/>
              </a:rPr>
              <a:t>다 됐나요?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2258567"/>
            <a:ext cx="10765231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1"/>
            </a:pPr>
            <a:r>
              <a:rPr b="1" sz="2700">
                <a:solidFill>
                  <a:srgbClr val="ECEAE6"/>
                </a:solidFill>
                <a:latin typeface="맑은 고딕"/>
              </a:rPr>
              <a:t>은행 앱이 말해주지 않는 실패 원인을, 근거와 함께 판정합니다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843783"/>
            <a:ext cx="10765231" cy="2654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b="0" sz="1500">
                <a:solidFill>
                  <a:srgbClr val="9AA0A6"/>
                </a:solidFill>
                <a:latin typeface="맑은 고딕"/>
              </a:rPr>
              <a:t>팀명 </a:t>
            </a:r>
            <a:r>
              <a:rPr b="1" sz="1500">
                <a:solidFill>
                  <a:srgbClr val="F6F5F2"/>
                </a:solidFill>
                <a:latin typeface="맑은 고딕"/>
              </a:rPr>
              <a:t>다 됐나요</a:t>
            </a:r>
            <a:r>
              <a:rPr b="0" sz="1500">
                <a:solidFill>
                  <a:srgbClr val="9AA0A6"/>
                </a:solidFill>
                <a:latin typeface="맑은 고딕"/>
              </a:rPr>
              <a:t> · 2인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200693"/>
            <a:ext cx="10765231" cy="38581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b="0" sz="1500">
                <a:solidFill>
                  <a:srgbClr val="9AA0A6"/>
                </a:solidFill>
                <a:latin typeface="맑은 고딕"/>
              </a:rPr>
              <a:t>제8회 KB Future Finance A.I. Challenge · 예선 기술설명서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3677950"/>
            <a:ext cx="10765231" cy="3751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b="1" sz="1500">
                <a:solidFill>
                  <a:srgbClr val="F6F5F2"/>
                </a:solidFill>
                <a:latin typeface="맑은 고딕"/>
              </a:rPr>
              <a:t>데모 — https://kb-ai-challenge-2026.vercel.app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144588"/>
            <a:ext cx="10765231" cy="2548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b="0" sz="1500">
                <a:solidFill>
                  <a:srgbClr val="9AA0A6"/>
                </a:solidFill>
                <a:latin typeface="맑은 고딕"/>
              </a:rPr>
              <a:t>2026-07-29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1"/>
            </a:pPr>
            <a:r>
              <a:rPr b="1" sz="4000">
                <a:solidFill>
                  <a:srgbClr val="191C1F"/>
                </a:solidFill>
                <a:latin typeface="맑은 고딕"/>
              </a:rPr>
              <a:t>한 장 요약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316735"/>
            <a:ext cx="10765231" cy="3928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b="1" sz="1500">
                <a:solidFill>
                  <a:srgbClr val="191C1F"/>
                </a:solidFill>
                <a:latin typeface="맑은 고딕"/>
              </a:rPr>
              <a:t>문제</a:t>
            </a:r>
            <a:r>
              <a:rPr b="0" sz="1500">
                <a:solidFill>
                  <a:srgbClr val="5C636B"/>
                </a:solidFill>
                <a:latin typeface="맑은 고딕"/>
              </a:rPr>
              <a:t> — 은행 앱은 </a:t>
            </a:r>
            <a:r>
              <a:rPr i="1" sz="1500">
                <a:solidFill>
                  <a:srgbClr val="5C636B"/>
                </a:solidFill>
                <a:latin typeface="맑은 고딕"/>
              </a:rPr>
              <a:t>"안 됩니다"</a:t>
            </a:r>
            <a:r>
              <a:rPr b="0" sz="1500">
                <a:solidFill>
                  <a:srgbClr val="5C636B"/>
                </a:solidFill>
                <a:latin typeface="맑은 고딕"/>
              </a:rPr>
              <a:t> 라고만 말하고, </a:t>
            </a:r>
            <a:r>
              <a:rPr b="1" sz="1500">
                <a:solidFill>
                  <a:srgbClr val="191C1F"/>
                </a:solidFill>
                <a:latin typeface="맑은 고딕"/>
              </a:rPr>
              <a:t>무엇이 막고 있는지는 말하지 않습니다.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801072"/>
            <a:ext cx="10765231" cy="545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b="1" sz="1500">
                <a:solidFill>
                  <a:srgbClr val="191C1F"/>
                </a:solidFill>
                <a:latin typeface="맑은 고딕"/>
              </a:rPr>
              <a:t>해결</a:t>
            </a:r>
            <a:r>
              <a:rPr b="0" sz="1500">
                <a:solidFill>
                  <a:srgbClr val="5C636B"/>
                </a:solidFill>
                <a:latin typeface="맑은 고딕"/>
              </a:rPr>
              <a:t> — KB 공개문서에서 조건을 </a:t>
            </a:r>
            <a:r>
              <a:rPr b="1" sz="1500">
                <a:solidFill>
                  <a:srgbClr val="191C1F"/>
                </a:solidFill>
                <a:latin typeface="맑은 고딕"/>
              </a:rPr>
              <a:t>자동 추출</a:t>
            </a:r>
            <a:r>
              <a:rPr b="0" sz="1500">
                <a:solidFill>
                  <a:srgbClr val="5C636B"/>
                </a:solidFill>
                <a:latin typeface="맑은 고딕"/>
              </a:rPr>
              <a:t>해 기계가 판정할 수 있는 </a:t>
            </a:r>
            <a:r>
              <a:rPr b="1" sz="1500">
                <a:solidFill>
                  <a:srgbClr val="191C1F"/>
                </a:solidFill>
                <a:latin typeface="맑은 고딕"/>
              </a:rPr>
              <a:t>조건 트리</a:t>
            </a:r>
            <a:r>
              <a:rPr b="0" sz="1500">
                <a:solidFill>
                  <a:srgbClr val="5C636B"/>
                </a:solidFill>
                <a:latin typeface="맑은 고딕"/>
              </a:rPr>
              <a:t>로 만들고, 사용자 상태와 대조해 </a:t>
            </a:r>
            <a:r>
              <a:rPr b="1" sz="1500">
                <a:solidFill>
                  <a:srgbClr val="191C1F"/>
                </a:solidFill>
                <a:latin typeface="맑은 고딕"/>
              </a:rPr>
              <a:t>막힌 항목 + 근거 원문 + 다음 행동</a:t>
            </a:r>
            <a:r>
              <a:rPr b="0" sz="1500">
                <a:solidFill>
                  <a:srgbClr val="5C636B"/>
                </a:solidFill>
                <a:latin typeface="맑은 고딕"/>
              </a:rPr>
              <a:t>을 지목합니다.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2437612"/>
            <a:ext cx="10765231" cy="918514"/>
          </a:xfrm>
          <a:prstGeom prst="rect">
            <a:avLst/>
          </a:prstGeom>
          <a:solidFill>
            <a:srgbClr val="FBFAF8"/>
          </a:solidFill>
          <a:ln>
            <a:solidFill>
              <a:srgbClr val="E4E1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64008" bIns="64008"/>
          <a:lstStyle/>
          <a:p>
            <a:pPr algn="l">
              <a:lnSpc>
                <a:spcPct val="100000"/>
              </a:lnSpc>
            </a:pPr>
            <a:r>
              <a:rPr sz="1250">
                <a:solidFill>
                  <a:srgbClr val="5C636B"/>
                </a:solidFill>
                <a:latin typeface="Consolas"/>
              </a:rPr>
              <a:t>KB 공개문서 ──[LLM]──→ 조건 트리 ──[규칙엔진]──→ 무엇에 막혔는가</a:t>
            </a:r>
          </a:p>
          <a:p>
            <a:pPr algn="l">
              <a:lnSpc>
                <a:spcPct val="100000"/>
              </a:lnSpc>
            </a:pPr>
            <a:r>
              <a:rPr sz="1250">
                <a:solidFill>
                  <a:srgbClr val="5C636B"/>
                </a:solidFill>
                <a:latin typeface="Consolas"/>
              </a:rPr>
              <a:t>  약관·FAQ      추출         재사용 자산        + 근거 원문</a:t>
            </a:r>
          </a:p>
          <a:p>
            <a:pPr algn="l">
              <a:lnSpc>
                <a:spcPct val="100000"/>
              </a:lnSpc>
            </a:pPr>
            <a:r>
              <a:rPr sz="1250">
                <a:solidFill>
                  <a:srgbClr val="5C636B"/>
                </a:solidFill>
                <a:latin typeface="Consolas"/>
              </a:rPr>
              <a:t>  8건                        조건 12개          + 앱에서 되는지</a:t>
            </a:r>
          </a:p>
          <a:p>
            <a:pPr algn="l">
              <a:lnSpc>
                <a:spcPct val="100000"/>
              </a:lnSpc>
            </a:pPr>
            <a:r>
              <a:rPr sz="1250">
                <a:solidFill>
                  <a:srgbClr val="5C636B"/>
                </a:solidFill>
                <a:latin typeface="Consolas"/>
              </a:rPr>
              <a:t>                                                + 하나만 풀면 되는지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13232" y="3502430"/>
          <a:ext cx="10765230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0178"/>
                <a:gridCol w="7105052"/>
              </a:tblGrid>
              <a:tr h="237744">
                <a:tc>
                  <a:txBody>
                    <a:bodyPr wrap="square"/>
                    <a:lstStyle/>
                    <a:p>
                      <a:r>
                        <a:rPr b="1" sz="1250">
                          <a:solidFill>
                            <a:srgbClr val="191C1F"/>
                          </a:solidFill>
                          <a:latin typeface="맑은 고딕"/>
                        </a:rPr>
                        <a:t>지금 상태</a:t>
                      </a:r>
                    </a:p>
                  </a:txBody>
                  <a:tcPr marL="73152" marR="73152" marT="27432" marB="27432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73152" marR="73152" marT="27432" marB="27432" anchor="ctr">
                    <a:solidFill>
                      <a:srgbClr val="FBFAF8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문서 8건 → 청크 280개 → </a:t>
                      </a:r>
                      <a:r>
                        <a:rPr b="1" sz="1250">
                          <a:solidFill>
                            <a:srgbClr val="191C1F"/>
                          </a:solidFill>
                          <a:latin typeface="맑은 고딕"/>
                        </a:rPr>
                        <a:t>조건 12개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전부 자동 추출 · 검수 통과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근거가 원문에 실재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50">
                          <a:solidFill>
                            <a:srgbClr val="191C1F"/>
                          </a:solidFill>
                          <a:latin typeface="맑은 고딕"/>
                        </a:rPr>
                        <a:t>12 / 12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판정 2,000회 반복 일치율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50">
                          <a:solidFill>
                            <a:srgbClr val="191C1F"/>
                          </a:solidFill>
                          <a:latin typeface="맑은 고딕"/>
                        </a:rPr>
                        <a:t>100%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판정 1회 소요 (중앙값)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50">
                          <a:solidFill>
                            <a:srgbClr val="191C1F"/>
                          </a:solidFill>
                          <a:latin typeface="맑은 고딕"/>
                        </a:rPr>
                        <a:t>0.056 ms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직접 재현 — </a:t>
                      </a:r>
                      <a:r>
                        <a:rPr sz="1250">
                          <a:solidFill>
                            <a:srgbClr val="5C636B"/>
                          </a:solidFill>
                          <a:latin typeface="Consolas"/>
                        </a:rPr>
                        <a:t>pytest tests/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50">
                          <a:solidFill>
                            <a:srgbClr val="191C1F"/>
                          </a:solidFill>
                          <a:latin typeface="맑은 고딕"/>
                        </a:rPr>
                        <a:t>32 passed</a:t>
                      </a:r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 (결정론 1 · 엣지 6 · 상태변경 8 · 근거묶음 10 · 적용범위 7)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0957255" y="652881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178"/>
                </a:solidFill>
                <a:latin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53986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1"/>
            </a:pPr>
            <a:r>
              <a:rPr b="1" sz="3279">
                <a:solidFill>
                  <a:srgbClr val="191C1F"/>
                </a:solidFill>
                <a:latin typeface="맑은 고딕"/>
              </a:rPr>
              <a:t>1. 문제 정의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198229"/>
            <a:ext cx="10765231" cy="389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1"/>
            </a:pPr>
            <a:r>
              <a:rPr b="1" sz="2213">
                <a:solidFill>
                  <a:srgbClr val="191C1F"/>
                </a:solidFill>
                <a:latin typeface="맑은 고딕"/>
              </a:rPr>
              <a:t>앱은 실패를 알려주지만, 원인은 알려주지 않는다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1697857"/>
            <a:ext cx="10765231" cy="1060603"/>
          </a:xfrm>
          <a:prstGeom prst="rect">
            <a:avLst/>
          </a:prstGeom>
          <a:solidFill>
            <a:srgbClr val="FBFAF8"/>
          </a:solidFill>
          <a:ln>
            <a:solidFill>
              <a:srgbClr val="E4E1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64008" bIns="64008"/>
          <a:lstStyle/>
          <a:p>
            <a:pPr algn="l">
              <a:lnSpc>
                <a:spcPct val="100000"/>
              </a:lnSpc>
            </a:pPr>
            <a:r>
              <a:rPr sz="1025">
                <a:solidFill>
                  <a:srgbClr val="5C636B"/>
                </a:solidFill>
                <a:latin typeface="Consolas"/>
              </a:rPr>
              <a:t>앱:    "신분증이 인식되지 않습니다. 다시 촬영해 주세요."</a:t>
            </a:r>
          </a:p>
          <a:p>
            <a:pPr algn="l">
              <a:lnSpc>
                <a:spcPct val="100000"/>
              </a:lnSpc>
            </a:pPr>
            <a:r>
              <a:rPr sz="1025">
                <a:solidFill>
                  <a:srgbClr val="5C636B"/>
                </a:solidFill>
                <a:latin typeface="Consolas"/>
              </a:rPr>
              <a:t>사용자: 재촬영 반복 → 포기</a:t>
            </a:r>
          </a:p>
          <a:p>
            <a:pPr algn="l">
              <a:lnSpc>
                <a:spcPct val="100000"/>
              </a:lnSpc>
            </a:pPr>
            <a:r>
              <a:rPr sz="1025">
                <a:solidFill>
                  <a:srgbClr val="5C636B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025">
                <a:solidFill>
                  <a:srgbClr val="5C636B"/>
                </a:solidFill>
                <a:latin typeface="Consolas"/>
              </a:rPr>
              <a:t>실제:  비대면 계좌개설 안심차단이 켜져 있음</a:t>
            </a:r>
          </a:p>
          <a:p>
            <a:pPr algn="l">
              <a:lnSpc>
                <a:spcPct val="100000"/>
              </a:lnSpc>
            </a:pPr>
            <a:r>
              <a:rPr sz="1025">
                <a:solidFill>
                  <a:srgbClr val="5C636B"/>
                </a:solidFill>
                <a:latin typeface="Consolas"/>
              </a:rPr>
              <a:t>       → 다시 찍어도, 다른 은행에 가도 개설되지 않음</a:t>
            </a:r>
          </a:p>
          <a:p>
            <a:pPr algn="l">
              <a:lnSpc>
                <a:spcPct val="100000"/>
              </a:lnSpc>
            </a:pPr>
            <a:r>
              <a:rPr sz="1025">
                <a:solidFill>
                  <a:srgbClr val="5C636B"/>
                </a:solidFill>
                <a:latin typeface="Consolas"/>
              </a:rPr>
              <a:t>       → 해제는 영업점에서만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2904764"/>
            <a:ext cx="32004" cy="432469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7824" y="2904764"/>
            <a:ext cx="10600639" cy="43246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b="1" sz="1230">
                <a:solidFill>
                  <a:srgbClr val="191C1F"/>
                </a:solidFill>
                <a:latin typeface="맑은 고딕"/>
              </a:rPr>
              <a:t>"확인하세요"와 "확인해드렸습니다"의 차이.</a:t>
            </a:r>
            <a:r>
              <a:rPr b="0" sz="1230">
                <a:solidFill>
                  <a:srgbClr val="5C636B"/>
                </a:solidFill>
                <a:latin typeface="맑은 고딕"/>
              </a:rPr>
              <a:t> 검색하면 FAQ가 나옵니다. 그러나 FAQ는 </a:t>
            </a:r>
            <a:r>
              <a:rPr i="1" sz="1230">
                <a:solidFill>
                  <a:srgbClr val="5C636B"/>
                </a:solidFill>
                <a:latin typeface="맑은 고딕"/>
              </a:rPr>
              <a:t>확인하라고</a:t>
            </a:r>
            <a:r>
              <a:rPr b="0" sz="1230">
                <a:solidFill>
                  <a:srgbClr val="5C636B"/>
                </a:solidFill>
                <a:latin typeface="맑은 고딕"/>
              </a:rPr>
              <a:t> 말할 뿐, </a:t>
            </a:r>
            <a:r>
              <a:rPr b="1" sz="1230">
                <a:solidFill>
                  <a:srgbClr val="191C1F"/>
                </a:solidFill>
                <a:latin typeface="맑은 고딕"/>
              </a:rPr>
              <a:t>지금 내 상태가 어떤지는 확인해주지 않습니다.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3465249"/>
            <a:ext cx="10765231" cy="4295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b="0" sz="1230">
                <a:solidFill>
                  <a:srgbClr val="5C636B"/>
                </a:solidFill>
                <a:latin typeface="맑은 고딕"/>
              </a:rPr>
              <a:t>이 프로젝트는 팀장이 직접 겪은 일에서 시작했습니다 — </a:t>
            </a:r>
            <a:r>
              <a:rPr i="1" sz="1230">
                <a:solidFill>
                  <a:srgbClr val="5C636B"/>
                </a:solidFill>
                <a:latin typeface="맑은 고딕"/>
              </a:rPr>
              <a:t>"해외결제를 풀려고 하나 풀었는데 안 되고, 하나 더 풀 게 있더라. 어디 있는지 몰라 검색했다."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3986256"/>
            <a:ext cx="10765231" cy="389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1"/>
            </a:pPr>
            <a:r>
              <a:rPr b="1" sz="2213">
                <a:solidFill>
                  <a:srgbClr val="191C1F"/>
                </a:solidFill>
                <a:latin typeface="맑은 고딕"/>
              </a:rPr>
              <a:t>저희가 서는 자리 — 실패한 </a:t>
            </a:r>
            <a:r>
              <a:rPr b="1" sz="2213">
                <a:solidFill>
                  <a:srgbClr val="191C1F"/>
                </a:solidFill>
                <a:latin typeface="맑은 고딕"/>
              </a:rPr>
              <a:t>직후</a:t>
            </a:r>
            <a:r>
              <a:rPr b="1" sz="2213">
                <a:solidFill>
                  <a:srgbClr val="191C1F"/>
                </a:solidFill>
                <a:latin typeface="맑은 고딕"/>
              </a:rPr>
              <a:t>, 다시 시도하기 </a:t>
            </a:r>
            <a:r>
              <a:rPr b="1" sz="2213">
                <a:solidFill>
                  <a:srgbClr val="191C1F"/>
                </a:solidFill>
                <a:latin typeface="맑은 고딕"/>
              </a:rPr>
              <a:t>전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" y="4485884"/>
            <a:ext cx="10765231" cy="753182"/>
          </a:xfrm>
          <a:prstGeom prst="rect">
            <a:avLst/>
          </a:prstGeom>
          <a:solidFill>
            <a:srgbClr val="FBFAF8"/>
          </a:solidFill>
          <a:ln>
            <a:solidFill>
              <a:srgbClr val="E4E1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64008" bIns="64008"/>
          <a:lstStyle/>
          <a:p>
            <a:pPr algn="l">
              <a:lnSpc>
                <a:spcPct val="100000"/>
              </a:lnSpc>
            </a:pPr>
            <a:r>
              <a:rPr sz="1025">
                <a:solidFill>
                  <a:srgbClr val="5C636B"/>
                </a:solidFill>
                <a:latin typeface="Consolas"/>
              </a:rPr>
              <a:t>    가입·신청 전            실행 시도            실패 직후            며칠 뒤</a:t>
            </a:r>
          </a:p>
          <a:p>
            <a:pPr algn="l">
              <a:lnSpc>
                <a:spcPct val="100000"/>
              </a:lnSpc>
            </a:pPr>
            <a:r>
              <a:rPr sz="1025">
                <a:solidFill>
                  <a:srgbClr val="5C636B"/>
                </a:solidFill>
                <a:latin typeface="Consolas"/>
              </a:rPr>
              <a:t> ─────────────────────────────────────────────────────────────────────────</a:t>
            </a:r>
          </a:p>
          <a:p>
            <a:pPr algn="l">
              <a:lnSpc>
                <a:spcPct val="100000"/>
              </a:lnSpc>
            </a:pPr>
            <a:r>
              <a:rPr sz="1025">
                <a:solidFill>
                  <a:srgbClr val="5C636B"/>
                </a:solidFill>
                <a:latin typeface="Consolas"/>
              </a:rPr>
              <a:t>   상품 추천 · 자격 진단      거래 실행         ★ 여기가 비어 있다      민원 · 분쟁조정</a:t>
            </a:r>
          </a:p>
          <a:p>
            <a:pPr algn="l">
              <a:lnSpc>
                <a:spcPct val="100000"/>
              </a:lnSpc>
            </a:pPr>
            <a:r>
              <a:rPr sz="1025">
                <a:solidFill>
                  <a:srgbClr val="5C636B"/>
                </a:solidFill>
                <a:latin typeface="Consolas"/>
              </a:rPr>
              <a:t>   (사전 예방)             (에이전트)         "왜 안 됐지?"          (사후 구제)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5385370"/>
            <a:ext cx="10765231" cy="55437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b="1" sz="1230">
                <a:solidFill>
                  <a:srgbClr val="191C1F"/>
                </a:solidFill>
                <a:latin typeface="맑은 고딕"/>
              </a:rPr>
              <a:t>사전 예방</a:t>
            </a:r>
            <a:r>
              <a:rPr b="0" sz="1230">
                <a:solidFill>
                  <a:srgbClr val="5C636B"/>
                </a:solidFill>
                <a:latin typeface="맑은 고딕"/>
              </a:rPr>
              <a:t>은 아직 시도하지 않은 사람을 돕고, </a:t>
            </a:r>
            <a:r>
              <a:rPr b="1" sz="1230">
                <a:solidFill>
                  <a:srgbClr val="191C1F"/>
                </a:solidFill>
                <a:latin typeface="맑은 고딕"/>
              </a:rPr>
              <a:t>사후 구제</a:t>
            </a:r>
            <a:r>
              <a:rPr b="0" sz="1230">
                <a:solidFill>
                  <a:srgbClr val="5C636B"/>
                </a:solidFill>
                <a:latin typeface="맑은 고딕"/>
              </a:rPr>
              <a:t>는 이미 손해가 난 사람을 돕습니다. 그 사이, </a:t>
            </a:r>
            <a:r>
              <a:rPr b="1" sz="1230">
                <a:solidFill>
                  <a:srgbClr val="191C1F"/>
                </a:solidFill>
                <a:latin typeface="맑은 고딕"/>
              </a:rPr>
              <a:t>방금 실패해서 다시 시도하려는 사람</a:t>
            </a:r>
            <a:r>
              <a:rPr b="0" sz="1230">
                <a:solidFill>
                  <a:srgbClr val="5C636B"/>
                </a:solidFill>
                <a:latin typeface="맑은 고딕"/>
              </a:rPr>
              <a:t>에게는 아무것도 없습니다. 앱은 실패만 알리고 원인을 말하지 않으며, 검색은 일반론을 줍니다.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6031184"/>
            <a:ext cx="10765231" cy="41795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b="0" sz="1230">
                <a:solidFill>
                  <a:srgbClr val="5C636B"/>
                </a:solidFill>
                <a:latin typeface="맑은 고딕"/>
              </a:rPr>
              <a:t>그 몇 분이 이 시스템의 자리입니다. 이 순간의 사용자는 </a:t>
            </a:r>
            <a:r>
              <a:rPr b="1" sz="1230">
                <a:solidFill>
                  <a:srgbClr val="191C1F"/>
                </a:solidFill>
                <a:latin typeface="맑은 고딕"/>
              </a:rPr>
              <a:t>판단할 재료</a:t>
            </a:r>
            <a:r>
              <a:rPr b="0" sz="1230">
                <a:solidFill>
                  <a:srgbClr val="5C636B"/>
                </a:solidFill>
                <a:latin typeface="맑은 고딕"/>
              </a:rPr>
              <a:t>만 있으면 스스로 해결합니다 — 무엇이 막고 있는지, 그 근거가 어디에 있는지.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52881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178"/>
                </a:solidFill>
                <a:latin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1"/>
            </a:pPr>
            <a:r>
              <a:rPr b="1" sz="4000">
                <a:solidFill>
                  <a:srgbClr val="191C1F"/>
                </a:solidFill>
                <a:latin typeface="맑은 고딕"/>
              </a:rPr>
              <a:t>2. 문제의 크기 — 추정이 아니라 실측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316735"/>
            <a:ext cx="10765231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1"/>
            </a:pPr>
            <a:r>
              <a:rPr b="1" sz="2700">
                <a:solidFill>
                  <a:srgbClr val="191C1F"/>
                </a:solidFill>
                <a:latin typeface="맑은 고딕"/>
              </a:rPr>
              <a:t>조건은 흩어져 있고, 화면은 일부만 보여준다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13232" y="1901951"/>
          <a:ext cx="1076523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8960"/>
                <a:gridCol w="3983135"/>
                <a:gridCol w="3983135"/>
              </a:tblGrid>
              <a:tr h="237744">
                <a:tc>
                  <a:txBody>
                    <a:bodyPr wrap="square"/>
                    <a:lstStyle/>
                    <a:p/>
                  </a:txBody>
                  <a:tcPr marL="73152" marR="73152" marT="27432" marB="27432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50">
                          <a:solidFill>
                            <a:srgbClr val="191C1F"/>
                          </a:solidFill>
                          <a:latin typeface="맑은 고딕"/>
                        </a:rPr>
                        <a:t>값</a:t>
                      </a:r>
                    </a:p>
                  </a:txBody>
                  <a:tcPr marL="73152" marR="73152" marT="27432" marB="27432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50">
                          <a:solidFill>
                            <a:srgbClr val="191C1F"/>
                          </a:solidFill>
                          <a:latin typeface="맑은 고딕"/>
                        </a:rPr>
                        <a:t>출처</a:t>
                      </a:r>
                    </a:p>
                  </a:txBody>
                  <a:tcPr marL="73152" marR="73152" marT="27432" marB="27432" anchor="ctr">
                    <a:solidFill>
                      <a:srgbClr val="FBFAF8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KB Pay 설정 화면에 보이는 항목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50">
                          <a:solidFill>
                            <a:srgbClr val="191C1F"/>
                          </a:solidFill>
                          <a:latin typeface="맑은 고딕"/>
                        </a:rPr>
                        <a:t>2개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실측 (2026-07-27)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공개문서에서 자동 추출한 조건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50">
                          <a:solidFill>
                            <a:srgbClr val="191C1F"/>
                          </a:solidFill>
                          <a:latin typeface="맑은 고딕"/>
                        </a:rPr>
                        <a:t>11개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5C636B"/>
                          </a:solidFill>
                          <a:latin typeface="Consolas"/>
                        </a:rPr>
                        <a:t>data/trees/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그중 </a:t>
                      </a:r>
                      <a:r>
                        <a:rPr b="1" sz="1250">
                          <a:solidFill>
                            <a:srgbClr val="191C1F"/>
                          </a:solidFill>
                          <a:latin typeface="맑은 고딕"/>
                        </a:rPr>
                        <a:t>앱 안에서 해결할 수 있는</a:t>
                      </a:r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 조건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50">
                          <a:solidFill>
                            <a:srgbClr val="191C1F"/>
                          </a:solidFill>
                          <a:latin typeface="맑은 고딕"/>
                        </a:rPr>
                        <a:t>2개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5C636B"/>
                          </a:solidFill>
                          <a:latin typeface="Consolas"/>
                        </a:rPr>
                        <a:t>remedy.actionable_in_app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앱 밖에서 해결해야 하는 조건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50">
                          <a:solidFill>
                            <a:srgbClr val="191C1F"/>
                          </a:solidFill>
                          <a:latin typeface="맑은 고딕"/>
                        </a:rPr>
                        <a:t>3개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근거 원문에 채널이 적힌 것만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b="1" sz="1250">
                          <a:solidFill>
                            <a:srgbClr val="191C1F"/>
                          </a:solidFill>
                          <a:latin typeface="맑은 고딕"/>
                        </a:rPr>
                        <a:t>해결 경로를 수집 문서에서 못 찾은</a:t>
                      </a:r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 조건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50">
                          <a:solidFill>
                            <a:srgbClr val="191C1F"/>
                          </a:solidFill>
                          <a:latin typeface="맑은 고딕"/>
                        </a:rPr>
                        <a:t>6개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추측하지 않고 비워 둡니다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사람이 조건 7개를 직접 확인한 시간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50">
                          <a:solidFill>
                            <a:srgbClr val="191C1F"/>
                          </a:solidFill>
                          <a:latin typeface="맑은 고딕"/>
                        </a:rPr>
                        <a:t>326초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스톱워치 실측, 측정자 2인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그중 검색을 거친 조건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50">
                          <a:solidFill>
                            <a:srgbClr val="191C1F"/>
                          </a:solidFill>
                          <a:latin typeface="맑은 고딕"/>
                        </a:rPr>
                        <a:t>4 / 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앱 메뉴로 도달한 사례 0건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결론에 도달하지 못한 조건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50">
                          <a:solidFill>
                            <a:srgbClr val="191C1F"/>
                          </a:solidFill>
                          <a:latin typeface="맑은 고딕"/>
                        </a:rPr>
                        <a:t>1건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FAQ가 "고객센터 문의"로 종결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인증 장벽으로 측정조차 못한 조건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50">
                          <a:solidFill>
                            <a:srgbClr val="191C1F"/>
                          </a:solidFill>
                          <a:latin typeface="맑은 고딕"/>
                        </a:rPr>
                        <a:t>2건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카드 비밀번호 미기억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13232" y="5248654"/>
            <a:ext cx="32004" cy="619432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7824" y="5248654"/>
            <a:ext cx="10600639" cy="61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b="0" sz="1500">
                <a:solidFill>
                  <a:srgbClr val="5C636B"/>
                </a:solidFill>
                <a:latin typeface="맑은 고딕"/>
              </a:rPr>
              <a:t>326초는 </a:t>
            </a:r>
            <a:r>
              <a:rPr b="1" sz="1500">
                <a:solidFill>
                  <a:srgbClr val="191C1F"/>
                </a:solidFill>
                <a:latin typeface="맑은 고딕"/>
              </a:rPr>
              <a:t>찾아야 할 목록을 미리 알고 잰 시간</a:t>
            </a:r>
            <a:r>
              <a:rPr b="0" sz="1500">
                <a:solidFill>
                  <a:srgbClr val="5C636B"/>
                </a:solidFill>
                <a:latin typeface="맑은 고딕"/>
              </a:rPr>
              <a:t>입니다. 무엇을 확인해야 하는지 모르는 실제 사용자는 더 오래 걸립니다 — 이 수치는 </a:t>
            </a:r>
            <a:r>
              <a:rPr b="1" sz="1500">
                <a:solidFill>
                  <a:srgbClr val="191C1F"/>
                </a:solidFill>
                <a:latin typeface="맑은 고딕"/>
              </a:rPr>
              <a:t>하한</a:t>
            </a:r>
            <a:r>
              <a:rPr b="0" sz="1500">
                <a:solidFill>
                  <a:srgbClr val="5C636B"/>
                </a:solidFill>
                <a:latin typeface="맑은 고딕"/>
              </a:rPr>
              <a:t>입니다. (7개는 측정 시점 기준이며, 자동 추출본은 11개입니다)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52881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178"/>
                </a:solidFill>
                <a:latin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645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1"/>
            </a:pPr>
            <a:r>
              <a:rPr b="1" sz="3920">
                <a:solidFill>
                  <a:srgbClr val="191C1F"/>
                </a:solidFill>
                <a:latin typeface="맑은 고딕"/>
              </a:rPr>
              <a:t>3. 접근 — 생성이 아니라 </a:t>
            </a:r>
            <a:r>
              <a:rPr b="1" sz="3920">
                <a:solidFill>
                  <a:srgbClr val="191C1F"/>
                </a:solidFill>
                <a:latin typeface="맑은 고딕"/>
              </a:rPr>
              <a:t>검증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303568"/>
            <a:ext cx="10765231" cy="465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1"/>
            </a:pPr>
            <a:r>
              <a:rPr b="1" sz="2646">
                <a:solidFill>
                  <a:srgbClr val="191C1F"/>
                </a:solidFill>
                <a:latin typeface="맑은 고딕"/>
              </a:rPr>
              <a:t>Retrieval-Augmented </a:t>
            </a:r>
            <a:r>
              <a:rPr b="1" sz="2646">
                <a:solidFill>
                  <a:srgbClr val="191C1F"/>
                </a:solidFill>
                <a:latin typeface="맑은 고딕"/>
              </a:rPr>
              <a:t>Verification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879274"/>
            <a:ext cx="10765231" cy="409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b="0" sz="1470">
                <a:solidFill>
                  <a:srgbClr val="5C636B"/>
                </a:solidFill>
                <a:latin typeface="맑은 고딕"/>
              </a:rPr>
              <a:t>일반적인 RAG는 검색 결과를 </a:t>
            </a:r>
            <a:r>
              <a:rPr b="1" sz="1470">
                <a:solidFill>
                  <a:srgbClr val="191C1F"/>
                </a:solidFill>
                <a:latin typeface="맑은 고딕"/>
              </a:rPr>
              <a:t>문장으로 요약</a:t>
            </a:r>
            <a:r>
              <a:rPr b="0" sz="1470">
                <a:solidFill>
                  <a:srgbClr val="5C636B"/>
                </a:solidFill>
                <a:latin typeface="맑은 고딕"/>
              </a:rPr>
              <a:t>합니다. 그러면 답이 매번 달라지고, 틀려도 그럴듯합니다.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380034"/>
            <a:ext cx="10765231" cy="350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b="0" sz="1470">
                <a:solidFill>
                  <a:srgbClr val="5C636B"/>
                </a:solidFill>
                <a:latin typeface="맑은 고딕"/>
              </a:rPr>
              <a:t>저희는 검색 결과를 </a:t>
            </a:r>
            <a:r>
              <a:rPr b="1" sz="1470">
                <a:solidFill>
                  <a:srgbClr val="191C1F"/>
                </a:solidFill>
                <a:latin typeface="맑은 고딕"/>
              </a:rPr>
              <a:t>실행 가능한 술어(predicate)</a:t>
            </a:r>
            <a:r>
              <a:rPr b="0" sz="1470">
                <a:solidFill>
                  <a:srgbClr val="5C636B"/>
                </a:solidFill>
                <a:latin typeface="맑은 고딕"/>
              </a:rPr>
              <a:t> 로 바꿉니다.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2821824"/>
            <a:ext cx="10765231" cy="1083847"/>
          </a:xfrm>
          <a:prstGeom prst="rect">
            <a:avLst/>
          </a:prstGeom>
          <a:solidFill>
            <a:srgbClr val="FBFAF8"/>
          </a:solidFill>
          <a:ln>
            <a:solidFill>
              <a:srgbClr val="E4E1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64008" bIns="64008"/>
          <a:lstStyle/>
          <a:p>
            <a:pPr algn="l">
              <a:lnSpc>
                <a:spcPct val="100000"/>
              </a:lnSpc>
            </a:pPr>
            <a:r>
              <a:rPr sz="1225">
                <a:solidFill>
                  <a:srgbClr val="5C636B"/>
                </a:solidFill>
                <a:latin typeface="Consolas"/>
              </a:rPr>
              <a:t>RAG          문서 → LLM → 자연어 답변            (매번 다름 · 검증 불가)</a:t>
            </a:r>
          </a:p>
          <a:p>
            <a:pPr algn="l">
              <a:lnSpc>
                <a:spcPct val="100000"/>
              </a:lnSpc>
            </a:pPr>
            <a:r>
              <a:rPr sz="1225">
                <a:solidFill>
                  <a:srgbClr val="5C636B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225">
                <a:solidFill>
                  <a:srgbClr val="5C636B"/>
                </a:solidFill>
                <a:latin typeface="Consolas"/>
              </a:rPr>
              <a:t>RAV(우리)     문서 → LLM → 조건 트리(구조)  ← 여기까지만 LLM</a:t>
            </a:r>
          </a:p>
          <a:p>
            <a:pPr algn="l">
              <a:lnSpc>
                <a:spcPct val="100000"/>
              </a:lnSpc>
            </a:pPr>
            <a:r>
              <a:rPr sz="1225">
                <a:solidFill>
                  <a:srgbClr val="5C636B"/>
                </a:solidFill>
                <a:latin typeface="Consolas"/>
              </a:rPr>
              <a:t>                          ↓</a:t>
            </a:r>
          </a:p>
          <a:p>
            <a:pPr algn="l">
              <a:lnSpc>
                <a:spcPct val="100000"/>
              </a:lnSpc>
            </a:pPr>
            <a:r>
              <a:rPr sz="1225">
                <a:solidFill>
                  <a:srgbClr val="5C636B"/>
                </a:solidFill>
                <a:latin typeface="Consolas"/>
              </a:rPr>
              <a:t>             사용자 상태 → 규칙 엔진 → 판정   ← 여기부터는 결정론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13232" y="4051975"/>
          <a:ext cx="10765230" cy="9319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8960"/>
                <a:gridCol w="3983135"/>
                <a:gridCol w="3983135"/>
              </a:tblGrid>
              <a:tr h="232989">
                <a:tc>
                  <a:txBody>
                    <a:bodyPr wrap="square"/>
                    <a:lstStyle/>
                    <a:p/>
                  </a:txBody>
                  <a:tcPr marL="73152" marR="73152" marT="27432" marB="27432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25">
                          <a:solidFill>
                            <a:srgbClr val="191C1F"/>
                          </a:solidFill>
                          <a:latin typeface="맑은 고딕"/>
                        </a:rPr>
                        <a:t>LLM 이 하는 일</a:t>
                      </a:r>
                    </a:p>
                  </a:txBody>
                  <a:tcPr marL="73152" marR="73152" marT="27432" marB="27432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25">
                          <a:solidFill>
                            <a:srgbClr val="191C1F"/>
                          </a:solidFill>
                          <a:latin typeface="맑은 고딕"/>
                        </a:rPr>
                        <a:t>LLM 이 하지 않는 일</a:t>
                      </a:r>
                    </a:p>
                  </a:txBody>
                  <a:tcPr marL="73152" marR="73152" marT="27432" marB="27432" anchor="ctr">
                    <a:solidFill>
                      <a:srgbClr val="FBFAF8"/>
                    </a:solidFill>
                  </a:tcPr>
                </a:tc>
              </a:tr>
              <a:tr h="232989">
                <a:tc>
                  <a:txBody>
                    <a:bodyPr wrap="square"/>
                    <a:lstStyle/>
                    <a:p>
                      <a:r>
                        <a:rPr b="0" sz="1225">
                          <a:solidFill>
                            <a:srgbClr val="5C636B"/>
                          </a:solidFill>
                          <a:latin typeface="맑은 고딕"/>
                        </a:rPr>
                        <a:t>범위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25">
                          <a:solidFill>
                            <a:srgbClr val="5C636B"/>
                          </a:solidFill>
                          <a:latin typeface="맑은 고딕"/>
                        </a:rPr>
                        <a:t>비정형 문서에서 조건을 </a:t>
                      </a:r>
                      <a:r>
                        <a:rPr b="1" sz="1225">
                          <a:solidFill>
                            <a:srgbClr val="191C1F"/>
                          </a:solidFill>
                          <a:latin typeface="맑은 고딕"/>
                        </a:rPr>
                        <a:t>뽑아 형식화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25">
                          <a:solidFill>
                            <a:srgbClr val="191C1F"/>
                          </a:solidFill>
                          <a:latin typeface="맑은 고딕"/>
                        </a:rPr>
                        <a:t>판정</a:t>
                      </a:r>
                      <a:r>
                        <a:rPr b="0" sz="1225">
                          <a:solidFill>
                            <a:srgbClr val="5C636B"/>
                          </a:solidFill>
                          <a:latin typeface="맑은 고딕"/>
                        </a:rPr>
                        <a:t> · </a:t>
                      </a:r>
                      <a:r>
                        <a:rPr b="1" sz="1225">
                          <a:solidFill>
                            <a:srgbClr val="191C1F"/>
                          </a:solidFill>
                          <a:latin typeface="맑은 고딕"/>
                        </a:rPr>
                        <a:t>해결 계획</a:t>
                      </a:r>
                      <a:r>
                        <a:rPr b="0" sz="1225">
                          <a:solidFill>
                            <a:srgbClr val="5C636B"/>
                          </a:solidFill>
                          <a:latin typeface="맑은 고딕"/>
                        </a:rPr>
                        <a:t> · </a:t>
                      </a:r>
                      <a:r>
                        <a:rPr b="1" sz="1225">
                          <a:solidFill>
                            <a:srgbClr val="191C1F"/>
                          </a:solidFill>
                          <a:latin typeface="맑은 고딕"/>
                        </a:rPr>
                        <a:t>사유 설명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2989">
                <a:tc>
                  <a:txBody>
                    <a:bodyPr wrap="square"/>
                    <a:lstStyle/>
                    <a:p>
                      <a:r>
                        <a:rPr b="0" sz="1225">
                          <a:solidFill>
                            <a:srgbClr val="5C636B"/>
                          </a:solidFill>
                          <a:latin typeface="맑은 고딕"/>
                        </a:rPr>
                        <a:t>결과물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25">
                          <a:solidFill>
                            <a:srgbClr val="5C636B"/>
                          </a:solidFill>
                          <a:latin typeface="맑은 고딕"/>
                        </a:rPr>
                        <a:t>조건 트리 (파일로 고정)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25">
                          <a:solidFill>
                            <a:srgbClr val="5C636B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2989">
                <a:tc>
                  <a:txBody>
                    <a:bodyPr wrap="square"/>
                    <a:lstStyle/>
                    <a:p>
                      <a:r>
                        <a:rPr b="0" sz="1225">
                          <a:solidFill>
                            <a:srgbClr val="5C636B"/>
                          </a:solidFill>
                          <a:latin typeface="맑은 고딕"/>
                        </a:rPr>
                        <a:t>재현성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25">
                          <a:solidFill>
                            <a:srgbClr val="5C636B"/>
                          </a:solidFill>
                          <a:latin typeface="맑은 고딕"/>
                        </a:rPr>
                        <a:t>캐시 + </a:t>
                      </a:r>
                      <a:r>
                        <a:rPr sz="1225">
                          <a:solidFill>
                            <a:srgbClr val="5C636B"/>
                          </a:solidFill>
                          <a:latin typeface="Consolas"/>
                        </a:rPr>
                        <a:t>temperature=0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25">
                          <a:solidFill>
                            <a:srgbClr val="5C636B"/>
                          </a:solidFill>
                          <a:latin typeface="맑은 고딕"/>
                        </a:rPr>
                        <a:t>같은 입력 = 같은 출력 (측정)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713232" y="5221675"/>
            <a:ext cx="32004" cy="558480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5221675"/>
            <a:ext cx="10600639" cy="558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b="1" sz="1470">
                <a:solidFill>
                  <a:srgbClr val="191C1F"/>
                </a:solidFill>
                <a:latin typeface="맑은 고딕"/>
              </a:rPr>
              <a:t>미충족 사유를 문장으로 생성하지 않습니다.</a:t>
            </a:r>
            <a:r>
              <a:rPr b="0" sz="1470">
                <a:solidFill>
                  <a:srgbClr val="5C636B"/>
                </a:solidFill>
                <a:latin typeface="맑은 고딕"/>
              </a:rPr>
              <a:t> 근거 원문을 그대로 보여줍니다. 설명을 생성하면 원문 밖 문장이 나올 위험이 생깁니다 — 그 위험을 </a:t>
            </a:r>
            <a:r>
              <a:rPr b="1" sz="1470">
                <a:solidFill>
                  <a:srgbClr val="191C1F"/>
                </a:solidFill>
                <a:latin typeface="맑은 고딕"/>
              </a:rPr>
              <a:t>아예 만들지 않는 쪽</a:t>
            </a:r>
            <a:r>
              <a:rPr b="0" sz="1470">
                <a:solidFill>
                  <a:srgbClr val="5C636B"/>
                </a:solidFill>
                <a:latin typeface="맑은 고딕"/>
              </a:rPr>
              <a:t>을 택했습니다.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5908171"/>
            <a:ext cx="10765231" cy="51338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b="1" sz="1470">
                <a:solidFill>
                  <a:srgbClr val="191C1F"/>
                </a:solidFill>
                <a:latin typeface="맑은 고딕"/>
              </a:rPr>
              <a:t>이 분리가 이 제안의 핵심입니다.</a:t>
            </a:r>
            <a:r>
              <a:rPr b="0" sz="1470">
                <a:solidFill>
                  <a:srgbClr val="5C636B"/>
                </a:solidFill>
                <a:latin typeface="맑은 고딕"/>
              </a:rPr>
              <a:t> 금융 판정은 틀리면 사용자를 잘못된 행동으로 보냅니다. 그래서 판정에서 LLM을 뺐고, 뺐다는 사실을 </a:t>
            </a:r>
            <a:r>
              <a:rPr b="1" sz="1470">
                <a:solidFill>
                  <a:srgbClr val="191C1F"/>
                </a:solidFill>
                <a:latin typeface="맑은 고딕"/>
              </a:rPr>
              <a:t>숫자로 증명</a:t>
            </a:r>
            <a:r>
              <a:rPr b="0" sz="1470">
                <a:solidFill>
                  <a:srgbClr val="5C636B"/>
                </a:solidFill>
                <a:latin typeface="맑은 고딕"/>
              </a:rPr>
              <a:t>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52881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178"/>
                </a:solidFill>
                <a:latin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1"/>
            </a:pPr>
            <a:r>
              <a:rPr b="1" sz="4000">
                <a:solidFill>
                  <a:srgbClr val="191C1F"/>
                </a:solidFill>
                <a:latin typeface="맑은 고딕"/>
              </a:rPr>
              <a:t>3. 접근 — 생성이 아니라 </a:t>
            </a:r>
            <a:r>
              <a:rPr b="1" sz="4000">
                <a:solidFill>
                  <a:srgbClr val="191C1F"/>
                </a:solidFill>
                <a:latin typeface="맑은 고딕"/>
              </a:rPr>
              <a:t>검증</a:t>
            </a:r>
            <a:r>
              <a:rPr b="1" sz="4000">
                <a:solidFill>
                  <a:srgbClr val="191C1F"/>
                </a:solidFill>
                <a:latin typeface="맑은 고딕"/>
              </a:rPr>
              <a:t>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316735"/>
            <a:ext cx="10765231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1"/>
            </a:pPr>
            <a:r>
              <a:rPr b="1" sz="2700">
                <a:solidFill>
                  <a:srgbClr val="191C1F"/>
                </a:solidFill>
                <a:latin typeface="맑은 고딕"/>
              </a:rPr>
              <a:t>왜 에이전트로 만들지 않았는가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901951"/>
            <a:ext cx="10765231" cy="35396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b="0" sz="1500">
                <a:solidFill>
                  <a:srgbClr val="5C636B"/>
                </a:solidFill>
                <a:latin typeface="맑은 고딕"/>
              </a:rPr>
              <a:t>에이전트는 </a:t>
            </a:r>
            <a:r>
              <a:rPr b="1" sz="1500">
                <a:solidFill>
                  <a:srgbClr val="191C1F"/>
                </a:solidFill>
                <a:latin typeface="맑은 고딕"/>
              </a:rPr>
              <a:t>대신 해줍니다.</a:t>
            </a:r>
            <a:r>
              <a:rPr b="0" sz="1500">
                <a:solidFill>
                  <a:srgbClr val="5C636B"/>
                </a:solidFill>
                <a:latin typeface="맑은 고딕"/>
              </a:rPr>
              <a:t> 저희는 </a:t>
            </a:r>
            <a:r>
              <a:rPr b="1" sz="1500">
                <a:solidFill>
                  <a:srgbClr val="191C1F"/>
                </a:solidFill>
                <a:latin typeface="맑은 고딕"/>
              </a:rPr>
              <a:t>판정만 합니다.</a:t>
            </a:r>
            <a:r>
              <a:rPr b="0" sz="1500">
                <a:solidFill>
                  <a:srgbClr val="5C636B"/>
                </a:solidFill>
                <a:latin typeface="맑은 고딕"/>
              </a:rPr>
              <a:t> 의도한 선택입니다.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13232" y="2347352"/>
          <a:ext cx="1076523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8960"/>
                <a:gridCol w="3983135"/>
                <a:gridCol w="3983135"/>
              </a:tblGrid>
              <a:tr h="237744">
                <a:tc>
                  <a:txBody>
                    <a:bodyPr wrap="square"/>
                    <a:lstStyle/>
                    <a:p/>
                  </a:txBody>
                  <a:tcPr marL="73152" marR="73152" marT="27432" marB="27432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50">
                          <a:solidFill>
                            <a:srgbClr val="191C1F"/>
                          </a:solidFill>
                          <a:latin typeface="맑은 고딕"/>
                        </a:rPr>
                        <a:t>에이전트</a:t>
                      </a:r>
                    </a:p>
                  </a:txBody>
                  <a:tcPr marL="73152" marR="73152" marT="27432" marB="27432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50">
                          <a:solidFill>
                            <a:srgbClr val="191C1F"/>
                          </a:solidFill>
                          <a:latin typeface="맑은 고딕"/>
                        </a:rPr>
                        <a:t>이 시스템</a:t>
                      </a:r>
                    </a:p>
                  </a:txBody>
                  <a:tcPr marL="73152" marR="73152" marT="27432" marB="27432" anchor="ctr">
                    <a:solidFill>
                      <a:srgbClr val="FBFAF8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하는 일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사용자를 대신해 실행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무엇이 막고 있는지 </a:t>
                      </a:r>
                      <a:r>
                        <a:rPr b="1" sz="1250">
                          <a:solidFill>
                            <a:srgbClr val="191C1F"/>
                          </a:solidFill>
                          <a:latin typeface="맑은 고딕"/>
                        </a:rPr>
                        <a:t>지목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틀렸을 때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잘못된 실행이 </a:t>
                      </a:r>
                      <a:r>
                        <a:rPr b="1" sz="1250">
                          <a:solidFill>
                            <a:srgbClr val="191C1F"/>
                          </a:solidFill>
                          <a:latin typeface="맑은 고딕"/>
                        </a:rPr>
                        <a:t>이미 일어남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사용자가 근거 원문을 보고 </a:t>
                      </a:r>
                      <a:r>
                        <a:rPr b="1" sz="1250">
                          <a:solidFill>
                            <a:srgbClr val="191C1F"/>
                          </a:solidFill>
                          <a:latin typeface="맑은 고딕"/>
                        </a:rPr>
                        <a:t>직접 판단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필요한 권한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계좌·카드 제어 권한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50">
                          <a:solidFill>
                            <a:srgbClr val="191C1F"/>
                          </a:solidFill>
                          <a:latin typeface="맑은 고딕"/>
                        </a:rPr>
                        <a:t>읽기만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검증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실행 로그를 사후에 본다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조건·상태·판정이 </a:t>
                      </a:r>
                      <a:r>
                        <a:rPr b="1" sz="1250">
                          <a:solidFill>
                            <a:srgbClr val="191C1F"/>
                          </a:solidFill>
                          <a:latin typeface="맑은 고딕"/>
                        </a:rPr>
                        <a:t>화면에 동시에</a:t>
                      </a:r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 보인다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13232" y="3773816"/>
            <a:ext cx="10765231" cy="64066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b="0" sz="1500">
                <a:solidFill>
                  <a:srgbClr val="5C636B"/>
                </a:solidFill>
                <a:latin typeface="맑은 고딕"/>
              </a:rPr>
              <a:t>해외거래정지를 대신 해제해주는 편이 더 친절해 보입니다. 그러나 그것이 틀렸을 때 사용자의 카드는 이미 열려 있습니다. </a:t>
            </a:r>
            <a:r>
              <a:rPr b="1" sz="1500">
                <a:solidFill>
                  <a:srgbClr val="191C1F"/>
                </a:solidFill>
                <a:latin typeface="맑은 고딕"/>
              </a:rPr>
              <a:t>저희는 아무것도 실행하지 않습니다.</a:t>
            </a:r>
            <a:r>
              <a:rPr b="0" sz="1500">
                <a:solidFill>
                  <a:srgbClr val="5C636B"/>
                </a:solidFill>
                <a:latin typeface="맑은 고딕"/>
              </a:rPr>
              <a:t> 막힌 조건과 그 근거를 보여주고, 행동은 사용자가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4505925"/>
            <a:ext cx="32004" cy="584036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4505925"/>
            <a:ext cx="10600639" cy="5840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b="0" sz="1500">
                <a:solidFill>
                  <a:srgbClr val="5C636B"/>
                </a:solidFill>
                <a:latin typeface="맑은 고딕"/>
              </a:rPr>
              <a:t>그래서 이 시스템은 </a:t>
            </a:r>
            <a:r>
              <a:rPr b="1" sz="1500">
                <a:solidFill>
                  <a:srgbClr val="191C1F"/>
                </a:solidFill>
                <a:latin typeface="맑은 고딕"/>
              </a:rPr>
              <a:t>틀려도 사용자가 알아챌 수 있습니다.</a:t>
            </a:r>
            <a:r>
              <a:rPr b="0" sz="1500">
                <a:solidFill>
                  <a:srgbClr val="5C636B"/>
                </a:solidFill>
                <a:latin typeface="맑은 고딕"/>
              </a:rPr>
              <a:t> 모든 판정에 근거 원문·출처·수집일이 붙어 있고, 화면에서 값을 바꿔 판정이 어떻게 달라지는지 직접 확인할 수 있기 때문입니다.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52881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178"/>
                </a:solidFill>
                <a:latin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1"/>
            </a:pPr>
            <a:r>
              <a:rPr b="1" sz="4000">
                <a:solidFill>
                  <a:srgbClr val="191C1F"/>
                </a:solidFill>
                <a:latin typeface="맑은 고딕"/>
              </a:rPr>
              <a:t>4. 시스템 구조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5"/>
            <a:ext cx="10765231" cy="2418130"/>
          </a:xfrm>
          <a:prstGeom prst="rect">
            <a:avLst/>
          </a:prstGeom>
          <a:solidFill>
            <a:srgbClr val="FBFAF8"/>
          </a:solidFill>
          <a:ln>
            <a:solidFill>
              <a:srgbClr val="E4E1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64008" bIns="64008"/>
          <a:lstStyle/>
          <a:p>
            <a:pPr algn="l">
              <a:lnSpc>
                <a:spcPct val="100000"/>
              </a:lnSpc>
            </a:pPr>
            <a:r>
              <a:rPr sz="1250">
                <a:solidFill>
                  <a:srgbClr val="5C636B"/>
                </a:solidFill>
                <a:latin typeface="Consolas"/>
              </a:rPr>
              <a:t> 수집          청킹           추출          검증           병합          검수          조립</a:t>
            </a:r>
          </a:p>
          <a:p>
            <a:pPr algn="l">
              <a:lnSpc>
                <a:spcPct val="100000"/>
              </a:lnSpc>
            </a:pPr>
            <a:r>
              <a:rPr sz="1250">
                <a:solidFill>
                  <a:srgbClr val="5C636B"/>
                </a:solidFill>
                <a:latin typeface="Consolas"/>
              </a:rPr>
              <a:t> collect  →  collect   →   extract   →   extract   →   extract   →   extract   →  extract</a:t>
            </a:r>
          </a:p>
          <a:p>
            <a:pPr algn="l">
              <a:lnSpc>
                <a:spcPct val="100000"/>
              </a:lnSpc>
            </a:pPr>
            <a:r>
              <a:rPr sz="1250">
                <a:solidFill>
                  <a:srgbClr val="5C636B"/>
                </a:solidFill>
                <a:latin typeface="Consolas"/>
              </a:rPr>
              <a:t> fetch        chunk        extractor     validate      merge         review       assemble</a:t>
            </a:r>
          </a:p>
          <a:p>
            <a:pPr algn="l">
              <a:lnSpc>
                <a:spcPct val="100000"/>
              </a:lnSpc>
            </a:pPr>
            <a:r>
              <a:rPr sz="1250">
                <a:solidFill>
                  <a:srgbClr val="5C636B"/>
                </a:solidFill>
                <a:latin typeface="Consolas"/>
              </a:rPr>
              <a:t>                             (LLM)        (규칙)       (규칙)        (사람)       (규칙)</a:t>
            </a:r>
          </a:p>
          <a:p>
            <a:pPr algn="l">
              <a:lnSpc>
                <a:spcPct val="100000"/>
              </a:lnSpc>
            </a:pPr>
            <a:r>
              <a:rPr sz="1250">
                <a:solidFill>
                  <a:srgbClr val="5C636B"/>
                </a:solidFill>
                <a:latin typeface="Consolas"/>
              </a:rPr>
              <a:t>   │            │              │             │            │             │            │</a:t>
            </a:r>
          </a:p>
          <a:p>
            <a:pPr algn="l">
              <a:lnSpc>
                <a:spcPct val="100000"/>
              </a:lnSpc>
            </a:pPr>
            <a:r>
              <a:rPr sz="1250">
                <a:solidFill>
                  <a:srgbClr val="5C636B"/>
                </a:solidFill>
                <a:latin typeface="Consolas"/>
              </a:rPr>
              <a:t>robots.txt   표를 행으로   구조 강제      인용이 원문에  문서 간 합의   승인/반려    조건 트리</a:t>
            </a:r>
          </a:p>
          <a:p>
            <a:pPr algn="l">
              <a:lnSpc>
                <a:spcPct val="100000"/>
              </a:lnSpc>
            </a:pPr>
            <a:r>
              <a:rPr sz="1250">
                <a:solidFill>
                  <a:srgbClr val="5C636B"/>
                </a:solidFill>
                <a:latin typeface="Consolas"/>
              </a:rPr>
              <a:t>준수         살린다        어휘 제한      실재하는가     로 대표 선정   + 사유 기록  data/trees/</a:t>
            </a:r>
          </a:p>
          <a:p>
            <a:pPr algn="l">
              <a:lnSpc>
                <a:spcPct val="100000"/>
              </a:lnSpc>
            </a:pPr>
            <a:r>
              <a:rPr sz="1250">
                <a:solidFill>
                  <a:srgbClr val="5C636B"/>
                </a:solidFill>
                <a:latin typeface="Consolas"/>
              </a:rPr>
              <a:t>                                                                                      │</a:t>
            </a:r>
          </a:p>
          <a:p>
            <a:pPr algn="l">
              <a:lnSpc>
                <a:spcPct val="100000"/>
              </a:lnSpc>
            </a:pPr>
            <a:r>
              <a:rPr sz="1250">
                <a:solidFill>
                  <a:srgbClr val="5C636B"/>
                </a:solidFill>
                <a:latin typeface="Consolas"/>
              </a:rPr>
              <a:t>                                          사용자 상태 ─────────────────────────────────┤</a:t>
            </a:r>
          </a:p>
          <a:p>
            <a:pPr algn="l">
              <a:lnSpc>
                <a:spcPct val="100000"/>
              </a:lnSpc>
            </a:pPr>
            <a:r>
              <a:rPr sz="1250">
                <a:solidFill>
                  <a:srgbClr val="5C636B"/>
                </a:solidFill>
                <a:latin typeface="Consolas"/>
              </a:rPr>
              <a:t>                                                                                      ▼</a:t>
            </a:r>
          </a:p>
          <a:p>
            <a:pPr algn="l">
              <a:lnSpc>
                <a:spcPct val="100000"/>
              </a:lnSpc>
            </a:pPr>
            <a:r>
              <a:rPr sz="1250">
                <a:solidFill>
                  <a:srgbClr val="5C636B"/>
                </a:solidFill>
                <a:latin typeface="Consolas"/>
              </a:rPr>
              <a:t>                                                              judge/engine  →  판정 (LLM 없음)</a:t>
            </a:r>
          </a:p>
          <a:p>
            <a:pPr algn="l">
              <a:lnSpc>
                <a:spcPct val="100000"/>
              </a:lnSpc>
            </a:pPr>
            <a:r>
              <a:rPr sz="1250">
                <a:solidFill>
                  <a:srgbClr val="5C636B"/>
                </a:solidFill>
                <a:latin typeface="Consolas"/>
              </a:rPr>
              <a:t>                                                              judge/simulate →  해결 계획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3881169"/>
            <a:ext cx="10765231" cy="41059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b="1" sz="1500">
                <a:solidFill>
                  <a:srgbClr val="191C1F"/>
                </a:solidFill>
                <a:latin typeface="맑은 고딕"/>
              </a:rPr>
              <a:t>LLM 은 `extract/extractor` 한 곳에만 있습니다.</a:t>
            </a:r>
            <a:r>
              <a:rPr b="0" sz="1500">
                <a:solidFill>
                  <a:srgbClr val="5C636B"/>
                </a:solidFill>
                <a:latin typeface="맑은 고딕"/>
              </a:rPr>
              <a:t> 나머지는 전부 규칙과 사람입니다.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7255" y="652881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178"/>
                </a:solidFill>
                <a:latin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1"/>
            </a:pPr>
            <a:r>
              <a:rPr b="1" sz="4000">
                <a:solidFill>
                  <a:srgbClr val="191C1F"/>
                </a:solidFill>
                <a:latin typeface="맑은 고딕"/>
              </a:rPr>
              <a:t>5. 핵심 산출물 — 조건 트리 (C1)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7255" y="652881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178"/>
                </a:solidFill>
                <a:latin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46085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1"/>
            </a:pPr>
            <a:r>
              <a:rPr b="1" sz="2800">
                <a:solidFill>
                  <a:srgbClr val="191C1F"/>
                </a:solidFill>
                <a:latin typeface="맑은 고딕"/>
              </a:rPr>
              <a:t>5. 핵심 산출물 — 조건 트리 (C1)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119225"/>
            <a:ext cx="10765231" cy="33284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1"/>
            </a:pPr>
            <a:r>
              <a:rPr b="1" sz="1889">
                <a:solidFill>
                  <a:srgbClr val="191C1F"/>
                </a:solidFill>
                <a:latin typeface="맑은 고딕"/>
              </a:rPr>
              <a:t>이 프로젝트가 남기는 자산은 서비스가 아니라 </a:t>
            </a:r>
            <a:r>
              <a:rPr b="1" sz="1889">
                <a:solidFill>
                  <a:srgbClr val="191C1F"/>
                </a:solidFill>
                <a:latin typeface="맑은 고딕"/>
              </a:rPr>
              <a:t>데이터</a:t>
            </a:r>
            <a:r>
              <a:rPr b="1" sz="1889">
                <a:solidFill>
                  <a:srgbClr val="191C1F"/>
                </a:solidFill>
                <a:latin typeface="맑은 고딕"/>
              </a:rPr>
              <a:t>입니다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1561794"/>
            <a:ext cx="10765231" cy="2611206"/>
          </a:xfrm>
          <a:prstGeom prst="rect">
            <a:avLst/>
          </a:prstGeom>
          <a:solidFill>
            <a:srgbClr val="FBFAF8"/>
          </a:solidFill>
          <a:ln>
            <a:solidFill>
              <a:srgbClr val="E4E1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64008" bIns="64008"/>
          <a:lstStyle/>
          <a:p>
            <a:pPr algn="l">
              <a:lnSpc>
                <a:spcPct val="100000"/>
              </a:lnSpc>
            </a:pPr>
            <a:r>
              <a:rPr sz="875">
                <a:solidFill>
                  <a:srgbClr val="5C636B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</a:pPr>
            <a:r>
              <a:rPr sz="875">
                <a:solidFill>
                  <a:srgbClr val="5C636B"/>
                </a:solidFill>
                <a:latin typeface="Consolas"/>
              </a:rPr>
              <a:t>  "id": "c_nonface_open_block",</a:t>
            </a:r>
          </a:p>
          <a:p>
            <a:pPr algn="l">
              <a:lnSpc>
                <a:spcPct val="100000"/>
              </a:lnSpc>
            </a:pPr>
            <a:r>
              <a:rPr sz="875">
                <a:solidFill>
                  <a:srgbClr val="5C636B"/>
                </a:solidFill>
                <a:latin typeface="Consolas"/>
              </a:rPr>
              <a:t>  "label": "비대면 계좌개설 안심차단이 해제되어 있어야 합니다",</a:t>
            </a:r>
          </a:p>
          <a:p>
            <a:pPr algn="l">
              <a:lnSpc>
                <a:spcPct val="100000"/>
              </a:lnSpc>
            </a:pPr>
            <a:r>
              <a:rPr sz="875">
                <a:solidFill>
                  <a:srgbClr val="5C636B"/>
                </a:solidFill>
                <a:latin typeface="Consolas"/>
              </a:rPr>
              <a:t>  "predicate": { "subject": "account.nonface_open_block", "op": "eq", "value": false },</a:t>
            </a:r>
          </a:p>
          <a:p>
            <a:pPr algn="l">
              <a:lnSpc>
                <a:spcPct val="100000"/>
              </a:lnSpc>
            </a:pPr>
            <a:r>
              <a:rPr sz="875">
                <a:solidFill>
                  <a:srgbClr val="5C636B"/>
                </a:solidFill>
                <a:latin typeface="Consolas"/>
              </a:rPr>
              <a:t>  "severity": "blocking",</a:t>
            </a:r>
          </a:p>
          <a:p>
            <a:pPr algn="l">
              <a:lnSpc>
                <a:spcPct val="100000"/>
              </a:lnSpc>
            </a:pPr>
            <a:r>
              <a:rPr sz="875">
                <a:solidFill>
                  <a:srgbClr val="5C636B"/>
                </a:solidFill>
                <a:latin typeface="Consolas"/>
              </a:rPr>
              <a:t>  "remedy": { "actionable_in_app": false, "channels": ["branch:영업점"],</a:t>
            </a:r>
          </a:p>
          <a:p>
            <a:pPr algn="l">
              <a:lnSpc>
                <a:spcPct val="100000"/>
              </a:lnSpc>
            </a:pPr>
            <a:r>
              <a:rPr sz="875">
                <a:solidFill>
                  <a:srgbClr val="5C636B"/>
                </a:solidFill>
                <a:latin typeface="Consolas"/>
              </a:rPr>
              <a:t>              "primary_path": "영업점 방문 (신분증 지참)",</a:t>
            </a:r>
          </a:p>
          <a:p>
            <a:pPr algn="l">
              <a:lnSpc>
                <a:spcPct val="100000"/>
              </a:lnSpc>
            </a:pPr>
            <a:r>
              <a:rPr sz="875">
                <a:solidFill>
                  <a:srgbClr val="5C636B"/>
                </a:solidFill>
                <a:latin typeface="Consolas"/>
              </a:rPr>
              <a:t>              "basis": "evidence" },</a:t>
            </a:r>
          </a:p>
          <a:p>
            <a:pPr algn="l">
              <a:lnSpc>
                <a:spcPct val="100000"/>
              </a:lnSpc>
            </a:pPr>
            <a:r>
              <a:rPr sz="875">
                <a:solidFill>
                  <a:srgbClr val="5C636B"/>
                </a:solidFill>
                <a:latin typeface="Consolas"/>
              </a:rPr>
              <a:t>  "evidence": {</a:t>
            </a:r>
          </a:p>
          <a:p>
            <a:pPr algn="l">
              <a:lnSpc>
                <a:spcPct val="100000"/>
              </a:lnSpc>
            </a:pPr>
            <a:r>
              <a:rPr sz="875">
                <a:solidFill>
                  <a:srgbClr val="5C636B"/>
                </a:solidFill>
                <a:latin typeface="Consolas"/>
              </a:rPr>
              <a:t>    "source_title": "비대면 계좌개설 안심차단으로 보이스피싱 피해 예방하기",</a:t>
            </a:r>
          </a:p>
          <a:p>
            <a:pPr algn="l">
              <a:lnSpc>
                <a:spcPct val="100000"/>
              </a:lnSpc>
            </a:pPr>
            <a:r>
              <a:rPr sz="875">
                <a:solidFill>
                  <a:srgbClr val="5C636B"/>
                </a:solidFill>
                <a:latin typeface="Consolas"/>
              </a:rPr>
              <a:t>    "url": "https://kbthink.com/main/living-finance/talk-cardnews/2025/...",</a:t>
            </a:r>
          </a:p>
          <a:p>
            <a:pPr algn="l">
              <a:lnSpc>
                <a:spcPct val="100000"/>
              </a:lnSpc>
            </a:pPr>
            <a:r>
              <a:rPr sz="875">
                <a:solidFill>
                  <a:srgbClr val="5C636B"/>
                </a:solidFill>
                <a:latin typeface="Consolas"/>
              </a:rPr>
              <a:t>    "quote": "… 서비스 해제는 반드시 지점을 방문해 직접 신청해야 합니다. …",</a:t>
            </a:r>
          </a:p>
          <a:p>
            <a:pPr algn="l">
              <a:lnSpc>
                <a:spcPct val="100000"/>
              </a:lnSpc>
            </a:pPr>
            <a:r>
              <a:rPr sz="875">
                <a:solidFill>
                  <a:srgbClr val="5C636B"/>
                </a:solidFill>
                <a:latin typeface="Consolas"/>
              </a:rPr>
              <a:t>    "collected_at": "2026-07-27", "confidence": "high"</a:t>
            </a:r>
          </a:p>
          <a:p>
            <a:pPr algn="l">
              <a:lnSpc>
                <a:spcPct val="100000"/>
              </a:lnSpc>
            </a:pPr>
            <a:r>
              <a:rPr sz="875">
                <a:solidFill>
                  <a:srgbClr val="5C636B"/>
                </a:solidFill>
                <a:latin typeface="Consolas"/>
              </a:rPr>
              <a:t>  },</a:t>
            </a:r>
          </a:p>
          <a:p>
            <a:pPr algn="l">
              <a:lnSpc>
                <a:spcPct val="100000"/>
              </a:lnSpc>
            </a:pPr>
            <a:r>
              <a:rPr sz="875">
                <a:solidFill>
                  <a:srgbClr val="5C636B"/>
                </a:solidFill>
                <a:latin typeface="Consolas"/>
              </a:rPr>
              <a:t>  "provenance": {</a:t>
            </a:r>
          </a:p>
          <a:p>
            <a:pPr algn="l">
              <a:lnSpc>
                <a:spcPct val="100000"/>
              </a:lnSpc>
            </a:pPr>
            <a:r>
              <a:rPr sz="875">
                <a:solidFill>
                  <a:srgbClr val="5C636B"/>
                </a:solidFill>
                <a:latin typeface="Consolas"/>
              </a:rPr>
              <a:t>    "support_count": 5,</a:t>
            </a:r>
          </a:p>
          <a:p>
            <a:pPr algn="l">
              <a:lnSpc>
                <a:spcPct val="100000"/>
              </a:lnSpc>
            </a:pPr>
            <a:r>
              <a:rPr sz="875">
                <a:solidFill>
                  <a:srgbClr val="5C636B"/>
                </a:solidFill>
                <a:latin typeface="Consolas"/>
              </a:rPr>
              <a:t>    "source_ids": ["kbthink_safeblock", "obank_nonface_safeblock"]</a:t>
            </a:r>
          </a:p>
          <a:p>
            <a:pPr algn="l">
              <a:lnSpc>
                <a:spcPct val="100000"/>
              </a:lnSpc>
            </a:pPr>
            <a:r>
              <a:rPr sz="875">
                <a:solidFill>
                  <a:srgbClr val="5C636B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</a:pPr>
            <a:r>
              <a:rPr sz="875">
                <a:solidFill>
                  <a:srgbClr val="5C636B"/>
                </a:solidFill>
                <a:latin typeface="Consolas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319304"/>
            <a:ext cx="10765231" cy="3097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i="1" sz="1050">
                <a:solidFill>
                  <a:srgbClr val="5C636B"/>
                </a:solidFill>
                <a:latin typeface="맑은 고딕"/>
              </a:rPr>
              <a:t>(실제 `data/trees/account_open_nonface.json` 의 조건을 인용문만 줄여 옮긴 것입니다)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4720460"/>
            <a:ext cx="10765231" cy="1604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200"/>
              </a:spcAft>
            </a:pPr>
            <a:r>
              <a:rPr sz="1050" b="1">
                <a:solidFill>
                  <a:srgbClr val="C19A2E"/>
                </a:solidFill>
                <a:latin typeface="맑은 고딕"/>
              </a:rPr>
              <a:t>· </a:t>
            </a:r>
            <a:r>
              <a:rPr b="1" sz="1050">
                <a:solidFill>
                  <a:srgbClr val="191C1F"/>
                </a:solidFill>
                <a:latin typeface="맑은 고딕"/>
              </a:rPr>
              <a:t>`evidence` 는 스키마상 필수</a:t>
            </a:r>
            <a:r>
              <a:rPr b="0" sz="1050">
                <a:solidFill>
                  <a:srgbClr val="5C636B"/>
                </a:solidFill>
                <a:latin typeface="맑은 고딕"/>
              </a:rPr>
              <a:t>입니다 → 근거 없는 조건은 </a:t>
            </a:r>
            <a:r>
              <a:rPr b="1" sz="1050">
                <a:solidFill>
                  <a:srgbClr val="191C1F"/>
                </a:solidFill>
                <a:latin typeface="맑은 고딕"/>
              </a:rPr>
              <a:t>존재할 수 없습니다</a:t>
            </a:r>
          </a:p>
          <a:p>
            <a:pPr>
              <a:lnSpc>
                <a:spcPct val="135000"/>
              </a:lnSpc>
              <a:spcAft>
                <a:spcPts val="200"/>
              </a:spcAft>
            </a:pPr>
            <a:r>
              <a:rPr sz="1050" b="1">
                <a:solidFill>
                  <a:srgbClr val="C19A2E"/>
                </a:solidFill>
                <a:latin typeface="맑은 고딕"/>
              </a:rPr>
              <a:t>· </a:t>
            </a:r>
            <a:r>
              <a:rPr sz="1050">
                <a:solidFill>
                  <a:srgbClr val="5C636B"/>
                </a:solidFill>
                <a:latin typeface="Consolas"/>
              </a:rPr>
              <a:t>actionable_in_app</a:t>
            </a:r>
            <a:r>
              <a:rPr b="0" sz="1050">
                <a:solidFill>
                  <a:srgbClr val="5C636B"/>
                </a:solidFill>
                <a:latin typeface="맑은 고딕"/>
              </a:rPr>
              <a:t> 은 </a:t>
            </a:r>
            <a:r>
              <a:rPr b="1" sz="1050">
                <a:solidFill>
                  <a:srgbClr val="191C1F"/>
                </a:solidFill>
                <a:latin typeface="맑은 고딕"/>
              </a:rPr>
              <a:t>세 값</a:t>
            </a:r>
            <a:r>
              <a:rPr b="0" sz="1050">
                <a:solidFill>
                  <a:srgbClr val="5C636B"/>
                </a:solidFill>
                <a:latin typeface="맑은 고딕"/>
              </a:rPr>
              <a:t>입니다. 근거로 확인되지 않으면 </a:t>
            </a:r>
            <a:r>
              <a:rPr sz="1050">
                <a:solidFill>
                  <a:srgbClr val="5C636B"/>
                </a:solidFill>
                <a:latin typeface="Consolas"/>
              </a:rPr>
              <a:t>null</a:t>
            </a:r>
            <a:r>
              <a:rPr b="0" sz="1050">
                <a:solidFill>
                  <a:srgbClr val="5C636B"/>
                </a:solidFill>
                <a:latin typeface="맑은 고딕"/>
              </a:rPr>
              <a:t> 이며, 무엇이 그 판단을 뒷받침하는지는 </a:t>
            </a:r>
            <a:r>
              <a:rPr sz="1050">
                <a:solidFill>
                  <a:srgbClr val="5C636B"/>
                </a:solidFill>
                <a:latin typeface="Consolas"/>
              </a:rPr>
              <a:t>basis</a:t>
            </a:r>
            <a:r>
              <a:rPr b="0" sz="1050">
                <a:solidFill>
                  <a:srgbClr val="5C636B"/>
                </a:solidFill>
                <a:latin typeface="맑은 고딕"/>
              </a:rPr>
              <a:t> 에 남깁니다 (7-1 참조)</a:t>
            </a:r>
          </a:p>
          <a:p>
            <a:pPr>
              <a:lnSpc>
                <a:spcPct val="135000"/>
              </a:lnSpc>
              <a:spcAft>
                <a:spcPts val="200"/>
              </a:spcAft>
            </a:pPr>
            <a:r>
              <a:rPr sz="1050" b="1">
                <a:solidFill>
                  <a:srgbClr val="C19A2E"/>
                </a:solidFill>
                <a:latin typeface="맑은 고딕"/>
              </a:rPr>
              <a:t>· </a:t>
            </a:r>
            <a:r>
              <a:rPr sz="1050">
                <a:solidFill>
                  <a:srgbClr val="5C636B"/>
                </a:solidFill>
                <a:latin typeface="Consolas"/>
              </a:rPr>
              <a:t>provenance</a:t>
            </a:r>
            <a:r>
              <a:rPr b="0" sz="1050">
                <a:solidFill>
                  <a:srgbClr val="5C636B"/>
                </a:solidFill>
                <a:latin typeface="맑은 고딕"/>
              </a:rPr>
              <a:t> 는 </a:t>
            </a:r>
            <a:r>
              <a:rPr b="1" sz="1050">
                <a:solidFill>
                  <a:srgbClr val="191C1F"/>
                </a:solidFill>
                <a:latin typeface="맑은 고딕"/>
              </a:rPr>
              <a:t>문서 몇 곳 · 문장 몇 개</a:t>
            </a:r>
            <a:r>
              <a:rPr b="0" sz="1050">
                <a:solidFill>
                  <a:srgbClr val="5C636B"/>
                </a:solidFill>
                <a:latin typeface="맑은 고딕"/>
              </a:rPr>
              <a:t>에서 확인됐는지를 남깁니다. </a:t>
            </a:r>
            <a:r>
              <a:rPr sz="1050">
                <a:solidFill>
                  <a:srgbClr val="5C636B"/>
                </a:solidFill>
                <a:latin typeface="Consolas"/>
              </a:rPr>
              <a:t>support_count</a:t>
            </a:r>
            <a:r>
              <a:rPr b="0" sz="1050">
                <a:solidFill>
                  <a:srgbClr val="5C636B"/>
                </a:solidFill>
                <a:latin typeface="맑은 고딕"/>
              </a:rPr>
              <a:t> 는 </a:t>
            </a:r>
            <a:r>
              <a:rPr b="1" sz="1050">
                <a:solidFill>
                  <a:srgbClr val="191C1F"/>
                </a:solidFill>
                <a:latin typeface="맑은 고딕"/>
              </a:rPr>
              <a:t>문장(청크) 수</a:t>
            </a:r>
            <a:r>
              <a:rPr b="0" sz="1050">
                <a:solidFill>
                  <a:srgbClr val="5C636B"/>
                </a:solidFill>
                <a:latin typeface="맑은 고딕"/>
              </a:rPr>
              <a:t>이고 문서 수는 </a:t>
            </a:r>
            <a:r>
              <a:rPr sz="1050">
                <a:solidFill>
                  <a:srgbClr val="5C636B"/>
                </a:solidFill>
                <a:latin typeface="Consolas"/>
              </a:rPr>
              <a:t>source_ids</a:t>
            </a:r>
            <a:r>
              <a:rPr b="0" sz="1050">
                <a:solidFill>
                  <a:srgbClr val="5C636B"/>
                </a:solidFill>
                <a:latin typeface="맑은 고딕"/>
              </a:rPr>
              <a:t> 로 셉니다 — 위 예시는 </a:t>
            </a:r>
            <a:r>
              <a:rPr b="1" sz="1050">
                <a:solidFill>
                  <a:srgbClr val="191C1F"/>
                </a:solidFill>
                <a:latin typeface="맑은 고딕"/>
              </a:rPr>
              <a:t>문서 2곳 · 문장 5개</a:t>
            </a:r>
            <a:r>
              <a:rPr b="0" sz="1050">
                <a:solidFill>
                  <a:srgbClr val="5C636B"/>
                </a:solidFill>
                <a:latin typeface="맑은 고딕"/>
              </a:rPr>
              <a:t>입니다. 화면도 그렇게 표시합니다</a:t>
            </a:r>
          </a:p>
          <a:p>
            <a:pPr>
              <a:lnSpc>
                <a:spcPct val="135000"/>
              </a:lnSpc>
              <a:spcAft>
                <a:spcPts val="200"/>
              </a:spcAft>
            </a:pPr>
            <a:r>
              <a:rPr sz="1050" b="1">
                <a:solidFill>
                  <a:srgbClr val="C19A2E"/>
                </a:solidFill>
                <a:latin typeface="맑은 고딕"/>
              </a:rPr>
              <a:t>· </a:t>
            </a:r>
            <a:r>
              <a:rPr b="0" sz="1050">
                <a:solidFill>
                  <a:srgbClr val="5C636B"/>
                </a:solidFill>
                <a:latin typeface="맑은 고딕"/>
              </a:rPr>
              <a:t>화면에는 </a:t>
            </a:r>
            <a:r>
              <a:rPr b="1" sz="1050">
                <a:solidFill>
                  <a:srgbClr val="191C1F"/>
                </a:solidFill>
                <a:latin typeface="맑은 고딕"/>
              </a:rPr>
              <a:t>「조건 원본」 절</a:t>
            </a:r>
            <a:r>
              <a:rPr b="0" sz="1050">
                <a:solidFill>
                  <a:srgbClr val="5C636B"/>
                </a:solidFill>
                <a:latin typeface="맑은 고딕"/>
              </a:rPr>
              <a:t>이 따로 있습니다. 판정이 「가능」이어도 이 절은 그대로 남습니다 — </a:t>
            </a:r>
            <a:r>
              <a:rPr b="1" sz="1050">
                <a:solidFill>
                  <a:srgbClr val="191C1F"/>
                </a:solidFill>
                <a:latin typeface="맑은 고딕"/>
              </a:rPr>
              <a:t>자산은 판정에 종속되지 않기 때문입니다.</a:t>
            </a:r>
            <a:r>
              <a:rPr b="0" sz="1050">
                <a:solidFill>
                  <a:srgbClr val="5C636B"/>
                </a:solidFill>
                <a:latin typeface="맑은 고딕"/>
              </a:rPr>
              <a:t> 화면 첫머리와 절 경계에서 </a:t>
            </a:r>
            <a:r>
              <a:rPr i="1" sz="1050">
                <a:solidFill>
                  <a:srgbClr val="5C636B"/>
                </a:solidFill>
                <a:latin typeface="맑은 고딕"/>
              </a:rPr>
              <a:t>"여기부터는 판정과 별개입니다"</a:t>
            </a:r>
            <a:r>
              <a:rPr b="0" sz="1050">
                <a:solidFill>
                  <a:srgbClr val="5C636B"/>
                </a:solidFill>
                <a:latin typeface="맑은 고딕"/>
              </a:rPr>
              <a:t> 라고 범위를 명시적으로 끊습니다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52881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178"/>
                </a:solidFill>
                <a:latin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1"/>
            </a:pPr>
            <a:r>
              <a:rPr b="1" sz="4000">
                <a:solidFill>
                  <a:srgbClr val="191C1F"/>
                </a:solidFill>
                <a:latin typeface="맑은 고딕"/>
              </a:rPr>
              <a:t>6. 추출 — 통제된 어휘로 형식화한다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316735"/>
            <a:ext cx="10765231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1"/>
            </a:pPr>
            <a:r>
              <a:rPr b="1" sz="2700">
                <a:solidFill>
                  <a:srgbClr val="191C1F"/>
                </a:solidFill>
                <a:latin typeface="맑은 고딕"/>
              </a:rPr>
              <a:t>directed symbolic prompting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901951"/>
            <a:ext cx="10765231" cy="5203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b="0" sz="1500">
                <a:solidFill>
                  <a:srgbClr val="5C636B"/>
                </a:solidFill>
                <a:latin typeface="맑은 고딕"/>
              </a:rPr>
              <a:t>LLM에게 자유롭게 조건을 만들게 하면 </a:t>
            </a:r>
            <a:r>
              <a:rPr b="1" sz="1500">
                <a:solidFill>
                  <a:srgbClr val="191C1F"/>
                </a:solidFill>
                <a:latin typeface="맑은 고딕"/>
              </a:rPr>
              <a:t>존재하지 않는 상태 경로를 지어냅니다.</a:t>
            </a:r>
            <a:r>
              <a:rPr b="0" sz="1500">
                <a:solidFill>
                  <a:srgbClr val="5C636B"/>
                </a:solidFill>
                <a:latin typeface="맑은 고딕"/>
              </a:rPr>
              <a:t> 그 조건은 사용자 프로필과 매칭되지 않아 영원히 </a:t>
            </a:r>
            <a:r>
              <a:rPr sz="1500">
                <a:solidFill>
                  <a:srgbClr val="5C636B"/>
                </a:solidFill>
                <a:latin typeface="Consolas"/>
              </a:rPr>
              <a:t>unknown</a:t>
            </a:r>
            <a:r>
              <a:rPr b="0" sz="1500">
                <a:solidFill>
                  <a:srgbClr val="5C636B"/>
                </a:solidFill>
                <a:latin typeface="맑은 고딕"/>
              </a:rPr>
              <a:t> 이 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513714"/>
            <a:ext cx="10765231" cy="3079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b="0" sz="1500">
                <a:solidFill>
                  <a:srgbClr val="5C636B"/>
                </a:solidFill>
                <a:latin typeface="맑은 고딕"/>
              </a:rPr>
              <a:t>그래서 참조 가능한 </a:t>
            </a:r>
            <a:r>
              <a:rPr b="1" sz="1500">
                <a:solidFill>
                  <a:srgbClr val="191C1F"/>
                </a:solidFill>
                <a:latin typeface="맑은 고딕"/>
              </a:rPr>
              <a:t>어휘를 미리 못 박습니다.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13232" y="2913100"/>
          <a:ext cx="10765230" cy="9509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8960"/>
                <a:gridCol w="3983135"/>
                <a:gridCol w="3983135"/>
              </a:tblGrid>
              <a:tr h="237744">
                <a:tc>
                  <a:txBody>
                    <a:bodyPr wrap="square"/>
                    <a:lstStyle/>
                    <a:p/>
                  </a:txBody>
                  <a:tcPr marL="73152" marR="73152" marT="27432" marB="27432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50">
                          <a:solidFill>
                            <a:srgbClr val="191C1F"/>
                          </a:solidFill>
                          <a:latin typeface="맑은 고딕"/>
                        </a:rPr>
                        <a:t>수</a:t>
                      </a:r>
                    </a:p>
                  </a:txBody>
                  <a:tcPr marL="73152" marR="73152" marT="27432" marB="27432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50">
                          <a:solidFill>
                            <a:srgbClr val="191C1F"/>
                          </a:solidFill>
                          <a:latin typeface="맑은 고딕"/>
                        </a:rPr>
                        <a:t>예</a:t>
                      </a:r>
                    </a:p>
                  </a:txBody>
                  <a:tcPr marL="73152" marR="73152" marT="27432" marB="27432" anchor="ctr">
                    <a:solidFill>
                      <a:srgbClr val="FBFAF8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허용 </a:t>
                      </a:r>
                      <a:r>
                        <a:rPr sz="1250">
                          <a:solidFill>
                            <a:srgbClr val="5C636B"/>
                          </a:solidFill>
                          <a:latin typeface="Consolas"/>
                        </a:rPr>
                        <a:t>subject</a:t>
                      </a:r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 (상태 경로)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50">
                          <a:solidFill>
                            <a:srgbClr val="191C1F"/>
                          </a:solidFill>
                          <a:latin typeface="맑은 고딕"/>
                        </a:rPr>
                        <a:t>21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5C636B"/>
                          </a:solidFill>
                          <a:latin typeface="Consolas"/>
                        </a:rPr>
                        <a:t>card.overseas_block_online</a:t>
                      </a:r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, </a:t>
                      </a:r>
                      <a:r>
                        <a:rPr sz="1250">
                          <a:solidFill>
                            <a:srgbClr val="5C636B"/>
                          </a:solidFill>
                          <a:latin typeface="Consolas"/>
                        </a:rPr>
                        <a:t>account.nonface_open_block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허용 </a:t>
                      </a:r>
                      <a:r>
                        <a:rPr sz="1250">
                          <a:solidFill>
                            <a:srgbClr val="5C636B"/>
                          </a:solidFill>
                          <a:latin typeface="Consolas"/>
                        </a:rPr>
                        <a:t>op</a:t>
                      </a:r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 (연산자)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50">
                          <a:solidFill>
                            <a:srgbClr val="191C1F"/>
                          </a:solidFill>
                          <a:latin typeface="맑은 고딕"/>
                        </a:rPr>
                        <a:t>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5C636B"/>
                          </a:solidFill>
                          <a:latin typeface="Consolas"/>
                        </a:rPr>
                        <a:t>eq</a:t>
                      </a:r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, </a:t>
                      </a:r>
                      <a:r>
                        <a:rPr sz="1250">
                          <a:solidFill>
                            <a:srgbClr val="5C636B"/>
                          </a:solidFill>
                          <a:latin typeface="Consolas"/>
                        </a:rPr>
                        <a:t>lte</a:t>
                      </a:r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, </a:t>
                      </a:r>
                      <a:r>
                        <a:rPr sz="1250">
                          <a:solidFill>
                            <a:srgbClr val="5C636B"/>
                          </a:solidFill>
                          <a:latin typeface="Consolas"/>
                        </a:rPr>
                        <a:t>date_after</a:t>
                      </a:r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, </a:t>
                      </a:r>
                      <a:r>
                        <a:rPr sz="1250">
                          <a:solidFill>
                            <a:srgbClr val="5C636B"/>
                          </a:solidFill>
                          <a:latin typeface="Consolas"/>
                        </a:rPr>
                        <a:t>count_lte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허용 </a:t>
                      </a:r>
                      <a:r>
                        <a:rPr sz="1250">
                          <a:solidFill>
                            <a:srgbClr val="5C636B"/>
                          </a:solidFill>
                          <a:latin typeface="Consolas"/>
                        </a:rPr>
                        <a:t>category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setting / document / limit / temporal / eligibility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13232" y="4650460"/>
            <a:ext cx="32004" cy="612353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4650460"/>
            <a:ext cx="10600639" cy="6123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b="0" sz="1500">
                <a:solidFill>
                  <a:srgbClr val="5C636B"/>
                </a:solidFill>
                <a:latin typeface="맑은 고딕"/>
              </a:rPr>
              <a:t>근거: </a:t>
            </a:r>
            <a:r>
              <a:rPr i="1" sz="1500">
                <a:solidFill>
                  <a:srgbClr val="5C636B"/>
                </a:solidFill>
                <a:latin typeface="맑은 고딕"/>
              </a:rPr>
              <a:t>Neuro-Symbolic Framework for Public-Sector AI</a:t>
            </a:r>
            <a:r>
              <a:rPr b="0" sz="1500">
                <a:solidFill>
                  <a:srgbClr val="5C636B"/>
                </a:solidFill>
                <a:latin typeface="맑은 고딕"/>
              </a:rPr>
              <a:t> (arXiv:2512.12109, FAccT 2026) — 통제 어휘를 명시하면 형식화 성공률이 크게 오른다.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5390829"/>
            <a:ext cx="10765231" cy="428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b="0" sz="1500">
                <a:solidFill>
                  <a:srgbClr val="5C636B"/>
                </a:solidFill>
                <a:latin typeface="맑은 고딕"/>
              </a:rPr>
              <a:t>목록에 </a:t>
            </a:r>
            <a:r>
              <a:rPr b="1" sz="1500">
                <a:solidFill>
                  <a:srgbClr val="191C1F"/>
                </a:solidFill>
                <a:latin typeface="맑은 고딕"/>
              </a:rPr>
              <a:t>맞는 경로가 없으면 그 조건은 추출하지 않습니다.</a:t>
            </a:r>
            <a:r>
              <a:rPr b="0" sz="1500">
                <a:solidFill>
                  <a:srgbClr val="5C636B"/>
                </a:solidFill>
                <a:latin typeface="맑은 고딕"/>
              </a:rPr>
              <a:t> 빠뜨리는 비용이 틀리는 비용보다 작기 때문입니다.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57255" y="652881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178"/>
                </a:solidFill>
                <a:latin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1"/>
            </a:pPr>
            <a:r>
              <a:rPr b="1" sz="4000">
                <a:solidFill>
                  <a:srgbClr val="191C1F"/>
                </a:solidFill>
                <a:latin typeface="맑은 고딕"/>
              </a:rPr>
              <a:t>7. 검증 게이트 — "근거 100%"를 구조로 보증한다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316735"/>
            <a:ext cx="10765231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1"/>
            </a:pPr>
            <a:r>
              <a:rPr b="1" sz="2700">
                <a:solidFill>
                  <a:srgbClr val="191C1F"/>
                </a:solidFill>
                <a:latin typeface="맑은 고딕"/>
              </a:rPr>
              <a:t>말이 아니라 코드가 막는다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13232" y="1901951"/>
          <a:ext cx="10765230" cy="1664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8960"/>
                <a:gridCol w="3983135"/>
                <a:gridCol w="3983135"/>
              </a:tblGrid>
              <a:tr h="237744">
                <a:tc>
                  <a:txBody>
                    <a:bodyPr wrap="square"/>
                    <a:lstStyle/>
                    <a:p>
                      <a:r>
                        <a:rPr b="1" sz="1250">
                          <a:solidFill>
                            <a:srgbClr val="191C1F"/>
                          </a:solidFill>
                          <a:latin typeface="맑은 고딕"/>
                        </a:rPr>
                        <a:t>#</a:t>
                      </a:r>
                    </a:p>
                  </a:txBody>
                  <a:tcPr marL="73152" marR="73152" marT="27432" marB="27432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50">
                          <a:solidFill>
                            <a:srgbClr val="191C1F"/>
                          </a:solidFill>
                          <a:latin typeface="맑은 고딕"/>
                        </a:rPr>
                        <a:t>게이트</a:t>
                      </a:r>
                    </a:p>
                  </a:txBody>
                  <a:tcPr marL="73152" marR="73152" marT="27432" marB="27432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50">
                          <a:solidFill>
                            <a:srgbClr val="191C1F"/>
                          </a:solidFill>
                          <a:latin typeface="맑은 고딕"/>
                        </a:rPr>
                        <a:t>막는 것</a:t>
                      </a:r>
                    </a:p>
                  </a:txBody>
                  <a:tcPr marL="73152" marR="73152" marT="27432" marB="27432" anchor="ctr">
                    <a:solidFill>
                      <a:srgbClr val="FBFAF8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50">
                          <a:solidFill>
                            <a:srgbClr val="191C1F"/>
                          </a:solidFill>
                          <a:latin typeface="맑은 고딕"/>
                        </a:rPr>
                        <a:t>인용 실재 검증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모델이 지어낸 인용 — 원문에 없으면 폐기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5C636B"/>
                          </a:solidFill>
                          <a:latin typeface="Consolas"/>
                        </a:rPr>
                        <a:t>subject</a:t>
                      </a:r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 허용목록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존재하지 않는 상태 경로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5C636B"/>
                          </a:solidFill>
                          <a:latin typeface="Consolas"/>
                        </a:rPr>
                        <a:t>op</a:t>
                      </a:r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 허용목록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평가할 수 없는 연산자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5C636B"/>
                          </a:solidFill>
                          <a:latin typeface="Consolas"/>
                        </a:rPr>
                        <a:t>value</a:t>
                      </a:r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 JSON 파싱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빈 값·형식 오류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5C636B"/>
                          </a:solidFill>
                          <a:latin typeface="Consolas"/>
                        </a:rPr>
                        <a:t>confidence</a:t>
                      </a:r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 규칙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medium/low 인데 사유가 없는 조건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50">
                          <a:solidFill>
                            <a:srgbClr val="191C1F"/>
                          </a:solidFill>
                          <a:latin typeface="맑은 고딕"/>
                        </a:rPr>
                        <a:t>해결 경로 근거 대조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원문이 채널을 말하지 않는데 붙은 해결 방법 (7-1 참조)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13232" y="3986783"/>
            <a:ext cx="10765231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1"/>
            </a:pPr>
            <a:r>
              <a:rPr b="1" sz="1900">
                <a:solidFill>
                  <a:srgbClr val="5C636B"/>
                </a:solidFill>
                <a:latin typeface="맑은 고딕"/>
              </a:rPr>
              <a:t>인용 자동 보정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4443983"/>
            <a:ext cx="10765231" cy="4353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b="0" sz="1500">
                <a:solidFill>
                  <a:srgbClr val="5C636B"/>
                </a:solidFill>
                <a:latin typeface="맑은 고딕"/>
              </a:rPr>
              <a:t>모델은 원문 문장 앞뒤에 </a:t>
            </a:r>
            <a:r>
              <a:rPr b="1" sz="1500">
                <a:solidFill>
                  <a:srgbClr val="191C1F"/>
                </a:solidFill>
                <a:latin typeface="맑은 고딕"/>
              </a:rPr>
              <a:t>없는 말을 덧붙이는</a:t>
            </a:r>
            <a:r>
              <a:rPr b="0" sz="1500">
                <a:solidFill>
                  <a:srgbClr val="5C636B"/>
                </a:solidFill>
                <a:latin typeface="맑은 고딕"/>
              </a:rPr>
              <a:t> 실수를 반복했습니다. 그대로 폐기하면 </a:t>
            </a:r>
            <a:r>
              <a:rPr b="1" sz="1500">
                <a:solidFill>
                  <a:srgbClr val="191C1F"/>
                </a:solidFill>
                <a:latin typeface="맑은 고딕"/>
              </a:rPr>
              <a:t>실재하는 조건이 사라집니다.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4970795"/>
            <a:ext cx="10765231" cy="731062"/>
          </a:xfrm>
          <a:prstGeom prst="rect">
            <a:avLst/>
          </a:prstGeom>
          <a:solidFill>
            <a:srgbClr val="FBFAF8"/>
          </a:solidFill>
          <a:ln>
            <a:solidFill>
              <a:srgbClr val="E4E1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64008" bIns="64008"/>
          <a:lstStyle/>
          <a:p>
            <a:pPr algn="l">
              <a:lnSpc>
                <a:spcPct val="100000"/>
              </a:lnSpc>
            </a:pPr>
            <a:r>
              <a:rPr sz="1250">
                <a:solidFill>
                  <a:srgbClr val="5C636B"/>
                </a:solidFill>
                <a:latin typeface="Consolas"/>
              </a:rPr>
              <a:t>원문   "… 권유 드립니다. 원화 결제 시 추가로 부과되는 …"</a:t>
            </a:r>
          </a:p>
          <a:p>
            <a:pPr algn="l">
              <a:lnSpc>
                <a:spcPct val="100000"/>
              </a:lnSpc>
            </a:pPr>
            <a:r>
              <a:rPr sz="1250">
                <a:solidFill>
                  <a:srgbClr val="5C636B"/>
                </a:solidFill>
                <a:latin typeface="Consolas"/>
              </a:rPr>
              <a:t>모델   "해외 가맹점에서 원화 결제 시 추가로 부과되는 …"   ← 앞에 없는 구절</a:t>
            </a:r>
          </a:p>
          <a:p>
            <a:pPr algn="l">
              <a:lnSpc>
                <a:spcPct val="100000"/>
              </a:lnSpc>
            </a:pPr>
            <a:r>
              <a:rPr sz="1250">
                <a:solidFill>
                  <a:srgbClr val="5C636B"/>
                </a:solidFill>
                <a:latin typeface="Consolas"/>
              </a:rPr>
              <a:t>보정   원문에 실제로 있는 최장 연속 구간만 남긴다 → 결과는 언제나 원문의 부분 문자열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5848161"/>
            <a:ext cx="32004" cy="538021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5848161"/>
            <a:ext cx="10600639" cy="53802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b="0" sz="1500">
                <a:solidFill>
                  <a:srgbClr val="5C636B"/>
                </a:solidFill>
                <a:latin typeface="맑은 고딕"/>
              </a:rPr>
              <a:t>LLM 에게 사유를 알려주고 다시 묻는 방법을 </a:t>
            </a:r>
            <a:r>
              <a:rPr b="1" sz="1500">
                <a:solidFill>
                  <a:srgbClr val="191C1F"/>
                </a:solidFill>
                <a:latin typeface="맑은 고딕"/>
              </a:rPr>
              <a:t>먼저 시도했습니다 — 3건 중 0건 복구.</a:t>
            </a:r>
            <a:r>
              <a:rPr b="0" sz="1500">
                <a:solidFill>
                  <a:srgbClr val="5C636B"/>
                </a:solidFill>
                <a:latin typeface="맑은 고딕"/>
              </a:rPr>
              <a:t> 같은 실수를 반복했습니다. 그래서 규칙으로 바꿨고, 1건을 되살렸습니다.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57255" y="652881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178"/>
                </a:solidFill>
                <a:latin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1"/>
            </a:pPr>
            <a:r>
              <a:rPr b="1" sz="4000">
                <a:solidFill>
                  <a:srgbClr val="191C1F"/>
                </a:solidFill>
                <a:latin typeface="맑은 고딕"/>
              </a:rPr>
              <a:t>7-1. 게이트가 놓친 것 — 해결 방법에는 근거가 없었습니다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316735"/>
            <a:ext cx="10765231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1"/>
            </a:pPr>
            <a:r>
              <a:rPr b="1" sz="2700">
                <a:solidFill>
                  <a:srgbClr val="191C1F"/>
                </a:solidFill>
                <a:latin typeface="맑은 고딕"/>
              </a:rPr>
              <a:t>인용은 검증했는데, 해결 방법은 검증하지 않았습니다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901951"/>
            <a:ext cx="10765231" cy="4318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b="0" sz="1500">
                <a:solidFill>
                  <a:srgbClr val="5C636B"/>
                </a:solidFill>
                <a:latin typeface="맑은 고딕"/>
              </a:rPr>
              <a:t>제출 직전 화면에서 이상한 것이 보였습니다. 같은 성격의 한도 조건 셋 중 하나만 「앱에서 가능」이었습니다.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2425223"/>
            <a:ext cx="10765231" cy="731062"/>
          </a:xfrm>
          <a:prstGeom prst="rect">
            <a:avLst/>
          </a:prstGeom>
          <a:solidFill>
            <a:srgbClr val="FBFAF8"/>
          </a:solidFill>
          <a:ln>
            <a:solidFill>
              <a:srgbClr val="E4E1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64008" bIns="64008"/>
          <a:lstStyle/>
          <a:p>
            <a:pPr algn="l">
              <a:lnSpc>
                <a:spcPct val="100000"/>
              </a:lnSpc>
            </a:pPr>
            <a:r>
              <a:rPr sz="1250">
                <a:solidFill>
                  <a:srgbClr val="5C636B"/>
                </a:solidFill>
                <a:latin typeface="Consolas"/>
              </a:rPr>
              <a:t>1일 이용한도 이내여야 합니다      앱에서 가능 · "한도 조정" (KB Pay)</a:t>
            </a:r>
          </a:p>
          <a:p>
            <a:pPr algn="l">
              <a:lnSpc>
                <a:spcPct val="100000"/>
              </a:lnSpc>
            </a:pPr>
            <a:r>
              <a:rPr sz="1250">
                <a:solidFill>
                  <a:srgbClr val="5C636B"/>
                </a:solidFill>
                <a:latin typeface="Consolas"/>
              </a:rPr>
              <a:t>1회 이용한도 이내여야 합니다      앱에서 불가</a:t>
            </a:r>
          </a:p>
          <a:p>
            <a:pPr algn="l">
              <a:lnSpc>
                <a:spcPct val="100000"/>
              </a:lnSpc>
            </a:pPr>
            <a:r>
              <a:rPr sz="1250">
                <a:solidFill>
                  <a:srgbClr val="5C636B"/>
                </a:solidFill>
                <a:latin typeface="Consolas"/>
              </a:rPr>
              <a:t>누적 이용액이 … 이내여야 합니다   앱에서 불가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302589"/>
            <a:ext cx="10765231" cy="70792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b="0" sz="1500">
                <a:solidFill>
                  <a:srgbClr val="5C636B"/>
                </a:solidFill>
                <a:latin typeface="맑은 고딕"/>
              </a:rPr>
              <a:t>근거 원문을 열어 보니 </a:t>
            </a:r>
            <a:r>
              <a:rPr b="1" sz="1500">
                <a:solidFill>
                  <a:srgbClr val="191C1F"/>
                </a:solidFill>
                <a:latin typeface="맑은 고딕"/>
              </a:rPr>
              <a:t>`1일 한도 | 현금인출/가맹점이용 | 600만원 상당의 달러(USD) 환산액`</a:t>
            </a:r>
            <a:r>
              <a:rPr b="0" sz="1500">
                <a:solidFill>
                  <a:srgbClr val="5C636B"/>
                </a:solidFill>
                <a:latin typeface="맑은 고딕"/>
              </a:rPr>
              <a:t> — 한도 </a:t>
            </a:r>
            <a:r>
              <a:rPr b="1" sz="1500">
                <a:solidFill>
                  <a:srgbClr val="191C1F"/>
                </a:solidFill>
                <a:latin typeface="맑은 고딕"/>
              </a:rPr>
              <a:t>수치</a:t>
            </a:r>
            <a:r>
              <a:rPr b="0" sz="1500">
                <a:solidFill>
                  <a:srgbClr val="5C636B"/>
                </a:solidFill>
                <a:latin typeface="맑은 고딕"/>
              </a:rPr>
              <a:t>만 있고 조정 방법은 한 글자도 없었습니다. </a:t>
            </a:r>
            <a:r>
              <a:rPr sz="1500">
                <a:solidFill>
                  <a:srgbClr val="5C636B"/>
                </a:solidFill>
                <a:latin typeface="Consolas"/>
              </a:rPr>
              <a:t>"한도 조정"</a:t>
            </a:r>
            <a:r>
              <a:rPr b="0" sz="1500">
                <a:solidFill>
                  <a:srgbClr val="5C636B"/>
                </a:solidFill>
                <a:latin typeface="맑은 고딕"/>
              </a:rPr>
              <a:t> 이라는 말은 KB 문서 어디에도 없었고, </a:t>
            </a:r>
            <a:r>
              <a:rPr b="1" sz="1500">
                <a:solidFill>
                  <a:srgbClr val="191C1F"/>
                </a:solidFill>
                <a:latin typeface="맑은 고딕"/>
              </a:rPr>
              <a:t>저희 프롬프트 예시에만</a:t>
            </a:r>
            <a:r>
              <a:rPr b="0" sz="1500">
                <a:solidFill>
                  <a:srgbClr val="5C636B"/>
                </a:solidFill>
                <a:latin typeface="맑은 고딕"/>
              </a:rPr>
              <a:t> 있었습니다.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101951"/>
            <a:ext cx="10765231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1"/>
            </a:pPr>
            <a:r>
              <a:rPr b="1" sz="2700">
                <a:solidFill>
                  <a:srgbClr val="191C1F"/>
                </a:solidFill>
                <a:latin typeface="맑은 고딕"/>
              </a:rPr>
              <a:t>원인 두 가지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13232" y="4687167"/>
          <a:ext cx="10765230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0178"/>
                <a:gridCol w="7105052"/>
              </a:tblGrid>
              <a:tr h="237744">
                <a:tc>
                  <a:txBody>
                    <a:bodyPr wrap="square"/>
                    <a:lstStyle/>
                    <a:p/>
                  </a:txBody>
                  <a:tcPr marL="73152" marR="73152" marT="27432" marB="27432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50">
                          <a:solidFill>
                            <a:srgbClr val="191C1F"/>
                          </a:solidFill>
                          <a:latin typeface="맑은 고딕"/>
                        </a:rPr>
                        <a:t>무엇이 잘못됐나</a:t>
                      </a:r>
                    </a:p>
                  </a:txBody>
                  <a:tcPr marL="73152" marR="73152" marT="27432" marB="27432" anchor="ctr">
                    <a:solidFill>
                      <a:srgbClr val="FBFAF8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b="1" sz="1250">
                          <a:solidFill>
                            <a:srgbClr val="191C1F"/>
                          </a:solidFill>
                          <a:latin typeface="맑은 고딕"/>
                        </a:rPr>
                        <a:t>스키마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5C636B"/>
                          </a:solidFill>
                          <a:latin typeface="Consolas"/>
                        </a:rPr>
                        <a:t>actionable_in_app: bool</a:t>
                      </a:r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 — "모른다"를 표현할 자리가 없어 모델이 반드시 참/거짓 중 하나를 고르게 </a:t>
                      </a:r>
                      <a:r>
                        <a:rPr b="1" sz="1250">
                          <a:solidFill>
                            <a:srgbClr val="191C1F"/>
                          </a:solidFill>
                          <a:latin typeface="맑은 고딕"/>
                        </a:rPr>
                        <a:t>강요</a:t>
                      </a:r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했습니다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b="1" sz="1250">
                          <a:solidFill>
                            <a:srgbClr val="191C1F"/>
                          </a:solidFill>
                          <a:latin typeface="맑은 고딕"/>
                        </a:rPr>
                        <a:t>프롬프트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few-shot 예시에 </a:t>
                      </a:r>
                      <a:r>
                        <a:rPr sz="1250">
                          <a:solidFill>
                            <a:srgbClr val="5C636B"/>
                          </a:solidFill>
                          <a:latin typeface="Consolas"/>
                        </a:rPr>
                        <a:t>"primary_path": "한도 조정"</a:t>
                      </a:r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 이 있었고, 한도 조건을 만나자 그대로 베꼈습니다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13232" y="6003903"/>
            <a:ext cx="10765231" cy="53094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b="0" sz="1500">
                <a:solidFill>
                  <a:srgbClr val="5C636B"/>
                </a:solidFill>
                <a:latin typeface="맑은 고딕"/>
              </a:rPr>
              <a:t>조건·상태·판정에서는 「모르면 모른다」를 지켰으면서 </a:t>
            </a:r>
            <a:r>
              <a:rPr b="1" sz="1500">
                <a:solidFill>
                  <a:srgbClr val="191C1F"/>
                </a:solidFill>
                <a:latin typeface="맑은 고딕"/>
              </a:rPr>
              <a:t>remedy 에서만 그 원칙이 빠져</a:t>
            </a:r>
            <a:r>
              <a:rPr b="0" sz="1500">
                <a:solidFill>
                  <a:srgbClr val="5C636B"/>
                </a:solidFill>
                <a:latin typeface="맑은 고딕"/>
              </a:rPr>
              <a:t> 있었습니다. 검수자도 조건과 인용만 봤지 해결 방법은 보지 않았습니다.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57255" y="652881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178"/>
                </a:solidFill>
                <a:latin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52669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1"/>
            </a:pPr>
            <a:r>
              <a:rPr b="1" sz="3200">
                <a:solidFill>
                  <a:srgbClr val="191C1F"/>
                </a:solidFill>
                <a:latin typeface="맑은 고딕"/>
              </a:rPr>
              <a:t>7-1. 게이트가 놓친 것 — 해결 방법에는 근거가 없었습니다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185062"/>
            <a:ext cx="10765231" cy="3803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1"/>
            </a:pPr>
            <a:r>
              <a:rPr b="1" sz="2160">
                <a:solidFill>
                  <a:srgbClr val="191C1F"/>
                </a:solidFill>
                <a:latin typeface="맑은 고딕"/>
              </a:rPr>
              <a:t>고친 방법 — 네 겹으로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13232" y="1675180"/>
          <a:ext cx="10765230" cy="9509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8960"/>
                <a:gridCol w="3983135"/>
                <a:gridCol w="3983135"/>
              </a:tblGrid>
              <a:tr h="190195">
                <a:tc>
                  <a:txBody>
                    <a:bodyPr wrap="square"/>
                    <a:lstStyle/>
                    <a:p>
                      <a:r>
                        <a:rPr b="1" sz="1000">
                          <a:solidFill>
                            <a:srgbClr val="191C1F"/>
                          </a:solidFill>
                          <a:latin typeface="맑은 고딕"/>
                        </a:rPr>
                        <a:t>#</a:t>
                      </a:r>
                    </a:p>
                  </a:txBody>
                  <a:tcPr marL="73152" marR="73152" marT="27432" marB="27432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000">
                          <a:solidFill>
                            <a:srgbClr val="191C1F"/>
                          </a:solidFill>
                          <a:latin typeface="맑은 고딕"/>
                        </a:rPr>
                        <a:t>조치</a:t>
                      </a:r>
                    </a:p>
                  </a:txBody>
                  <a:tcPr marL="73152" marR="73152" marT="27432" marB="27432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73152" marR="73152" marT="27432" marB="27432" anchor="ctr">
                    <a:solidFill>
                      <a:srgbClr val="FBFAF8"/>
                    </a:solidFill>
                  </a:tcPr>
                </a:tc>
              </a:tr>
              <a:tr h="190195">
                <a:tc>
                  <a:txBody>
                    <a:bodyPr wrap="square"/>
                    <a:lstStyle/>
                    <a:p>
                      <a:r>
                        <a:rPr b="0" sz="1000">
                          <a:solidFill>
                            <a:srgbClr val="5C636B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000">
                          <a:solidFill>
                            <a:srgbClr val="5C636B"/>
                          </a:solidFill>
                          <a:latin typeface="맑은 고딕"/>
                        </a:rPr>
                        <a:t>스키마를 </a:t>
                      </a:r>
                      <a:r>
                        <a:rPr b="1" sz="1000">
                          <a:solidFill>
                            <a:srgbClr val="191C1F"/>
                          </a:solidFill>
                          <a:latin typeface="맑은 고딕"/>
                        </a:rPr>
                        <a:t>세 값</a:t>
                      </a:r>
                      <a:r>
                        <a:rPr b="0" sz="1000">
                          <a:solidFill>
                            <a:srgbClr val="5C636B"/>
                          </a:solidFill>
                          <a:latin typeface="맑은 고딕"/>
                        </a:rPr>
                        <a:t>으로. `actionable_in_app: bool \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000">
                          <a:solidFill>
                            <a:srgbClr val="5C636B"/>
                          </a:solidFill>
                          <a:latin typeface="맑은 고딕"/>
                        </a:rPr>
                        <a:t>None</a:t>
                      </a:r>
                      <a:r>
                        <a:rPr sz="1000">
                          <a:solidFill>
                            <a:srgbClr val="5C636B"/>
                          </a:solidFill>
                          <a:latin typeface="Consolas"/>
                        </a:rPr>
                        <a:t>. **</a:t>
                      </a:r>
                      <a:r>
                        <a:rPr b="0" sz="1000">
                          <a:solidFill>
                            <a:srgbClr val="5C636B"/>
                          </a:solidFill>
                          <a:latin typeface="맑은 고딕"/>
                        </a:rPr>
                        <a:t>false` 도 주장**이므로 근거가 필요합니다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190195">
                <a:tc>
                  <a:txBody>
                    <a:bodyPr wrap="square"/>
                    <a:lstStyle/>
                    <a:p>
                      <a:r>
                        <a:rPr b="0" sz="1000">
                          <a:solidFill>
                            <a:srgbClr val="5C636B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5C636B"/>
                          </a:solidFill>
                          <a:latin typeface="Consolas"/>
                        </a:rPr>
                        <a:t>remedy.basis</a:t>
                      </a:r>
                      <a:r>
                        <a:rPr b="0" sz="1000">
                          <a:solidFill>
                            <a:srgbClr val="5C636B"/>
                          </a:solidFill>
                          <a:latin typeface="맑은 고딕"/>
                        </a:rPr>
                        <a:t> 신설 — </a:t>
                      </a:r>
                      <a:r>
                        <a:rPr sz="1000">
                          <a:solidFill>
                            <a:srgbClr val="5C636B"/>
                          </a:solidFill>
                          <a:latin typeface="Consolas"/>
                        </a:rPr>
                        <a:t>evidence</a:t>
                      </a:r>
                      <a:r>
                        <a:rPr b="0" sz="1000">
                          <a:solidFill>
                            <a:srgbClr val="5C636B"/>
                          </a:solidFill>
                          <a:latin typeface="맑은 고딕"/>
                        </a:rPr>
                        <a:t>(원문에 채널 명시) / </a:t>
                      </a:r>
                      <a:r>
                        <a:rPr sz="1000">
                          <a:solidFill>
                            <a:srgbClr val="5C636B"/>
                          </a:solidFill>
                          <a:latin typeface="Consolas"/>
                        </a:rPr>
                        <a:t>measured</a:t>
                      </a:r>
                      <a:r>
                        <a:rPr b="0" sz="1000">
                          <a:solidFill>
                            <a:srgbClr val="5C636B"/>
                          </a:solidFill>
                          <a:latin typeface="맑은 고딕"/>
                        </a:rPr>
                        <a:t>(앱에서 직접 확인) / </a:t>
                      </a:r>
                      <a:r>
                        <a:rPr sz="1000">
                          <a:solidFill>
                            <a:srgbClr val="5C636B"/>
                          </a:solidFill>
                          <a:latin typeface="Consolas"/>
                        </a:rPr>
                        <a:t>self_evident</a:t>
                      </a:r>
                      <a:r>
                        <a:rPr b="0" sz="1000">
                          <a:solidFill>
                            <a:srgbClr val="5C636B"/>
                          </a:solidFill>
                          <a:latin typeface="맑은 고딕"/>
                        </a:rPr>
                        <a:t>(물리적으로 자명). </a:t>
                      </a:r>
                      <a:r>
                        <a:rPr b="1" sz="1000">
                          <a:solidFill>
                            <a:srgbClr val="191C1F"/>
                          </a:solidFill>
                          <a:latin typeface="맑은 고딕"/>
                        </a:rPr>
                        <a:t>셋 중 어디에도 없으면 비웁니다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190195">
                <a:tc>
                  <a:txBody>
                    <a:bodyPr wrap="square"/>
                    <a:lstStyle/>
                    <a:p>
                      <a:r>
                        <a:rPr b="0" sz="1000">
                          <a:solidFill>
                            <a:srgbClr val="5C636B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000">
                          <a:solidFill>
                            <a:srgbClr val="5C636B"/>
                          </a:solidFill>
                          <a:latin typeface="맑은 고딕"/>
                        </a:rPr>
                        <a:t>검증 게이트에 </a:t>
                      </a:r>
                      <a:r>
                        <a:rPr b="1" sz="1000">
                          <a:solidFill>
                            <a:srgbClr val="191C1F"/>
                          </a:solidFill>
                          <a:latin typeface="맑은 고딕"/>
                        </a:rPr>
                        <a:t>6번 관문</a:t>
                      </a:r>
                      <a:r>
                        <a:rPr b="0" sz="1000">
                          <a:solidFill>
                            <a:srgbClr val="5C636B"/>
                          </a:solidFill>
                          <a:latin typeface="맑은 고딕"/>
                        </a:rPr>
                        <a:t> 추가. 원문에 채널을 가리키는 말이 없으면 remedy 를 자동으로 비웁니다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190195">
                <a:tc>
                  <a:txBody>
                    <a:bodyPr wrap="square"/>
                    <a:lstStyle/>
                    <a:p>
                      <a:r>
                        <a:rPr b="0" sz="1000">
                          <a:solidFill>
                            <a:srgbClr val="5C636B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000">
                          <a:solidFill>
                            <a:srgbClr val="5C636B"/>
                          </a:solidFill>
                          <a:latin typeface="맑은 고딕"/>
                        </a:rPr>
                        <a:t>프롬프트 예시를 </a:t>
                      </a:r>
                      <a:r>
                        <a:rPr b="1" sz="1000">
                          <a:solidFill>
                            <a:srgbClr val="191C1F"/>
                          </a:solidFill>
                          <a:latin typeface="맑은 고딕"/>
                        </a:rPr>
                        <a:t>정반대로</a:t>
                      </a:r>
                      <a:r>
                        <a:rPr b="0" sz="1000">
                          <a:solidFill>
                            <a:srgbClr val="5C636B"/>
                          </a:solidFill>
                          <a:latin typeface="맑은 고딕"/>
                        </a:rPr>
                        <a:t> 교체. 이제 그 예시가 </a:t>
                      </a:r>
                      <a:r>
                        <a:rPr sz="1000">
                          <a:solidFill>
                            <a:srgbClr val="5C636B"/>
                          </a:solidFill>
                          <a:latin typeface="Consolas"/>
                        </a:rPr>
                        <a:t>null</a:t>
                      </a:r>
                      <a:r>
                        <a:rPr b="0" sz="1000">
                          <a:solidFill>
                            <a:srgbClr val="5C636B"/>
                          </a:solidFill>
                          <a:latin typeface="맑은 고딕"/>
                        </a:rPr>
                        <a:t> 을 가르칩니다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13232" y="3953864"/>
            <a:ext cx="10765231" cy="3803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1"/>
            </a:pPr>
            <a:r>
              <a:rPr b="1" sz="2160">
                <a:solidFill>
                  <a:srgbClr val="191C1F"/>
                </a:solidFill>
                <a:latin typeface="맑은 고딕"/>
              </a:rPr>
              <a:t>이 구분은 화면에도 그대로 나옵니다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4443982"/>
            <a:ext cx="10765231" cy="27184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b="0" sz="1200">
                <a:solidFill>
                  <a:srgbClr val="5C636B"/>
                </a:solidFill>
                <a:latin typeface="맑은 고딕"/>
              </a:rPr>
              <a:t>조건마다 </a:t>
            </a:r>
            <a:r>
              <a:rPr b="1" sz="1200">
                <a:solidFill>
                  <a:srgbClr val="191C1F"/>
                </a:solidFill>
                <a:latin typeface="맑은 고딕"/>
              </a:rPr>
              <a:t>무엇이 그 해결 방법을 뒷받침하는지</a:t>
            </a:r>
            <a:r>
              <a:rPr b="0" sz="1200">
                <a:solidFill>
                  <a:srgbClr val="5C636B"/>
                </a:solidFill>
                <a:latin typeface="맑은 고딕"/>
              </a:rPr>
              <a:t>를 칩으로 답니다.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13232" y="4807264"/>
          <a:ext cx="10765230" cy="9509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8960"/>
                <a:gridCol w="3983135"/>
                <a:gridCol w="3983135"/>
              </a:tblGrid>
              <a:tr h="190195">
                <a:tc>
                  <a:txBody>
                    <a:bodyPr wrap="square"/>
                    <a:lstStyle/>
                    <a:p>
                      <a:r>
                        <a:rPr b="1" sz="1000">
                          <a:solidFill>
                            <a:srgbClr val="191C1F"/>
                          </a:solidFill>
                          <a:latin typeface="맑은 고딕"/>
                        </a:rPr>
                        <a:t>칩</a:t>
                      </a:r>
                    </a:p>
                  </a:txBody>
                  <a:tcPr marL="73152" marR="73152" marT="27432" marB="27432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5C636B"/>
                          </a:solidFill>
                          <a:latin typeface="Consolas"/>
                        </a:rPr>
                        <a:t>basis</a:t>
                      </a:r>
                    </a:p>
                  </a:txBody>
                  <a:tcPr marL="73152" marR="73152" marT="27432" marB="27432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000">
                          <a:solidFill>
                            <a:srgbClr val="191C1F"/>
                          </a:solidFill>
                          <a:latin typeface="맑은 고딕"/>
                        </a:rPr>
                        <a:t>뜻</a:t>
                      </a:r>
                    </a:p>
                  </a:txBody>
                  <a:tcPr marL="73152" marR="73152" marT="27432" marB="27432" anchor="ctr">
                    <a:solidFill>
                      <a:srgbClr val="FBFAF8"/>
                    </a:solidFill>
                  </a:tcPr>
                </a:tc>
              </a:tr>
              <a:tr h="190195">
                <a:tc>
                  <a:txBody>
                    <a:bodyPr wrap="square"/>
                    <a:lstStyle/>
                    <a:p>
                      <a:r>
                        <a:rPr b="0" sz="1000">
                          <a:solidFill>
                            <a:srgbClr val="5C636B"/>
                          </a:solidFill>
                          <a:latin typeface="맑은 고딕"/>
                        </a:rPr>
                        <a:t>근거 원문에 채널 명시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5C636B"/>
                          </a:solidFill>
                          <a:latin typeface="Consolas"/>
                        </a:rPr>
                        <a:t>evidence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000">
                          <a:solidFill>
                            <a:srgbClr val="5C636B"/>
                          </a:solidFill>
                          <a:latin typeface="맑은 고딕"/>
                        </a:rPr>
                        <a:t>원문이 </a:t>
                      </a:r>
                      <a:r>
                        <a:rPr b="1" sz="1000">
                          <a:solidFill>
                            <a:srgbClr val="191C1F"/>
                          </a:solidFill>
                          <a:latin typeface="맑은 고딕"/>
                        </a:rPr>
                        <a:t>어디서</a:t>
                      </a:r>
                      <a:r>
                        <a:rPr b="0" sz="1000">
                          <a:solidFill>
                            <a:srgbClr val="5C636B"/>
                          </a:solidFill>
                          <a:latin typeface="맑은 고딕"/>
                        </a:rPr>
                        <a:t> 하는지까지 말했습니다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190195">
                <a:tc>
                  <a:txBody>
                    <a:bodyPr wrap="square"/>
                    <a:lstStyle/>
                    <a:p>
                      <a:r>
                        <a:rPr b="0" sz="1000">
                          <a:solidFill>
                            <a:srgbClr val="5C636B"/>
                          </a:solidFill>
                          <a:latin typeface="맑은 고딕"/>
                        </a:rPr>
                        <a:t>근거 원문에 할 일 명시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5C636B"/>
                          </a:solidFill>
                          <a:latin typeface="Consolas"/>
                        </a:rPr>
                        <a:t>evidence</a:t>
                      </a:r>
                      <a:r>
                        <a:rPr b="0" sz="1000">
                          <a:solidFill>
                            <a:srgbClr val="5C636B"/>
                          </a:solidFill>
                          <a:latin typeface="맑은 고딕"/>
                        </a:rPr>
                        <a:t> (+ </a:t>
                      </a:r>
                      <a:r>
                        <a:rPr sz="1000">
                          <a:solidFill>
                            <a:srgbClr val="5C636B"/>
                          </a:solidFill>
                          <a:latin typeface="Consolas"/>
                        </a:rPr>
                        <a:t>actionable_in_app: null</a:t>
                      </a:r>
                      <a:r>
                        <a:rPr b="0" sz="1000">
                          <a:solidFill>
                            <a:srgbClr val="5C636B"/>
                          </a:solidFill>
                          <a:latin typeface="맑은 고딕"/>
                        </a:rPr>
                        <a:t>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000">
                          <a:solidFill>
                            <a:srgbClr val="5C636B"/>
                          </a:solidFill>
                          <a:latin typeface="맑은 고딕"/>
                        </a:rPr>
                        <a:t>원문이 </a:t>
                      </a:r>
                      <a:r>
                        <a:rPr b="1" sz="1000">
                          <a:solidFill>
                            <a:srgbClr val="191C1F"/>
                          </a:solidFill>
                          <a:latin typeface="맑은 고딕"/>
                        </a:rPr>
                        <a:t>무엇을</a:t>
                      </a:r>
                      <a:r>
                        <a:rPr b="0" sz="1000">
                          <a:solidFill>
                            <a:srgbClr val="5C636B"/>
                          </a:solidFill>
                          <a:latin typeface="맑은 고딕"/>
                        </a:rPr>
                        <a:t> 하라고만 말했습니다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190195">
                <a:tc>
                  <a:txBody>
                    <a:bodyPr wrap="square"/>
                    <a:lstStyle/>
                    <a:p>
                      <a:r>
                        <a:rPr b="0" sz="1000">
                          <a:solidFill>
                            <a:srgbClr val="5C636B"/>
                          </a:solidFill>
                          <a:latin typeface="맑은 고딕"/>
                        </a:rPr>
                        <a:t>앱에서 직접 확인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5C636B"/>
                          </a:solidFill>
                          <a:latin typeface="Consolas"/>
                        </a:rPr>
                        <a:t>measured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000">
                          <a:solidFill>
                            <a:srgbClr val="5C636B"/>
                          </a:solidFill>
                          <a:latin typeface="맑은 고딕"/>
                        </a:rPr>
                        <a:t>문서에 없어 </a:t>
                      </a:r>
                      <a:r>
                        <a:rPr b="1" sz="1000">
                          <a:solidFill>
                            <a:srgbClr val="191C1F"/>
                          </a:solidFill>
                          <a:latin typeface="맑은 고딕"/>
                        </a:rPr>
                        <a:t>저희가 앱에서 재봤습니다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190195">
                <a:tc>
                  <a:txBody>
                    <a:bodyPr wrap="square"/>
                    <a:lstStyle/>
                    <a:p>
                      <a:r>
                        <a:rPr b="0" sz="1000">
                          <a:solidFill>
                            <a:srgbClr val="5C636B"/>
                          </a:solidFill>
                          <a:latin typeface="맑은 고딕"/>
                        </a:rPr>
                        <a:t>조건 자체로 자명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5C636B"/>
                          </a:solidFill>
                          <a:latin typeface="Consolas"/>
                        </a:rPr>
                        <a:t>self_evident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000">
                          <a:solidFill>
                            <a:srgbClr val="5C636B"/>
                          </a:solidFill>
                          <a:latin typeface="맑은 고딕"/>
                        </a:rPr>
                        <a:t>조건 문장이 곧 해결 방법입니다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13232" y="6142288"/>
            <a:ext cx="10765231" cy="3086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b="0" sz="1200">
                <a:solidFill>
                  <a:srgbClr val="5C636B"/>
                </a:solidFill>
                <a:latin typeface="맑은 고딕"/>
              </a:rPr>
              <a:t>칩이 없는 조건은 </a:t>
            </a:r>
            <a:r>
              <a:rPr b="1" sz="1200">
                <a:solidFill>
                  <a:srgbClr val="191C1F"/>
                </a:solidFill>
                <a:latin typeface="맑은 고딕"/>
              </a:rPr>
              <a:t>해결 방법을 찾지 못한 조건</a:t>
            </a:r>
            <a:r>
              <a:rPr b="0" sz="1200">
                <a:solidFill>
                  <a:srgbClr val="5C636B"/>
                </a:solidFill>
                <a:latin typeface="맑은 고딕"/>
              </a:rPr>
              <a:t>입니다. 비워 둔 것도 화면이 말합니다.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52881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178"/>
                </a:solidFill>
                <a:latin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4564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1"/>
            </a:pPr>
            <a:r>
              <a:rPr b="1" sz="2592">
                <a:solidFill>
                  <a:srgbClr val="191C1F"/>
                </a:solidFill>
                <a:latin typeface="맑은 고딕"/>
              </a:rPr>
              <a:t>결과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041684"/>
            <a:ext cx="10765231" cy="521866"/>
          </a:xfrm>
          <a:prstGeom prst="rect">
            <a:avLst/>
          </a:prstGeom>
          <a:solidFill>
            <a:srgbClr val="FBFAF8"/>
          </a:solidFill>
          <a:ln>
            <a:solidFill>
              <a:srgbClr val="E4E1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64008" bIns="64008"/>
          <a:lstStyle/>
          <a:p>
            <a:pPr algn="l">
              <a:lnSpc>
                <a:spcPct val="100000"/>
              </a:lnSpc>
            </a:pPr>
            <a:r>
              <a:rPr sz="1200">
                <a:solidFill>
                  <a:srgbClr val="5C636B"/>
                </a:solidFill>
                <a:latin typeface="Consolas"/>
              </a:rPr>
              <a:t>전   조건 11개 중 8개 "앱에서 해결 불가"      ← 그중 5개는 근거가 없었음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5C636B"/>
                </a:solidFill>
                <a:latin typeface="Consolas"/>
              </a:rPr>
              <a:t>후   앱에서 가능 2 · 앱 밖 3 · 경로 미확인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709854"/>
            <a:ext cx="10765231" cy="5402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b="1" sz="1439">
                <a:solidFill>
                  <a:srgbClr val="191C1F"/>
                </a:solidFill>
                <a:latin typeface="맑은 고딕"/>
              </a:rPr>
              <a:t>숫자는 줄었지만 주장은 정확해졌습니다.</a:t>
            </a:r>
            <a:r>
              <a:rPr b="0" sz="1439">
                <a:solidFill>
                  <a:srgbClr val="5C636B"/>
                </a:solidFill>
                <a:latin typeface="맑은 고딕"/>
              </a:rPr>
              <a:t> 그리고 문제 제기는 오히려 날카로워집니다 — </a:t>
            </a:r>
            <a:r>
              <a:rPr i="1" sz="1439">
                <a:solidFill>
                  <a:srgbClr val="5C636B"/>
                </a:solidFill>
                <a:latin typeface="맑은 고딕"/>
              </a:rPr>
              <a:t>앱이 말해주지 않는다</a:t>
            </a:r>
            <a:r>
              <a:rPr b="0" sz="1439">
                <a:solidFill>
                  <a:srgbClr val="5C636B"/>
                </a:solidFill>
                <a:latin typeface="맑은 고딕"/>
              </a:rPr>
              <a:t>가 아니라, </a:t>
            </a:r>
            <a:r>
              <a:rPr b="1" sz="1439">
                <a:solidFill>
                  <a:srgbClr val="191C1F"/>
                </a:solidFill>
                <a:latin typeface="맑은 고딕"/>
              </a:rPr>
              <a:t>문서조차 말해주지 않는 조건이 6개</a:t>
            </a:r>
            <a:r>
              <a:rPr b="0" sz="1439">
                <a:solidFill>
                  <a:srgbClr val="5C636B"/>
                </a:solidFill>
                <a:latin typeface="맑은 고딕"/>
              </a:rPr>
              <a:t>라는 뜻이기 때문입니다.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2341580"/>
            <a:ext cx="32004" cy="540286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7824" y="2341580"/>
            <a:ext cx="10600639" cy="5402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439">
                <a:solidFill>
                  <a:srgbClr val="5C636B"/>
                </a:solidFill>
                <a:latin typeface="Consolas"/>
              </a:rPr>
              <a:t>tests/test_remedy_grounding.py</a:t>
            </a:r>
            <a:r>
              <a:rPr b="0" sz="1439">
                <a:solidFill>
                  <a:srgbClr val="5C636B"/>
                </a:solidFill>
                <a:latin typeface="맑은 고딕"/>
              </a:rPr>
              <a:t> 10건이 이 원칙을 지킵니다. 근거 없는 remedy 를 되돌려 넣어 보면 테스트가 실제로 실패하는 것을 확인했습니다.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3009882"/>
            <a:ext cx="10765231" cy="4564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1"/>
            </a:pPr>
            <a:r>
              <a:rPr b="1" sz="2592">
                <a:solidFill>
                  <a:srgbClr val="191C1F"/>
                </a:solidFill>
                <a:latin typeface="맑은 고딕"/>
              </a:rPr>
              <a:t>한 번 더 확인했더니, 이번엔 반대 방향의 오류가 있었습니다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3576078"/>
            <a:ext cx="10765231" cy="5538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b="0" sz="1439">
                <a:solidFill>
                  <a:srgbClr val="5C636B"/>
                </a:solidFill>
                <a:latin typeface="맑은 고딕"/>
              </a:rPr>
              <a:t>비운 6개를 </a:t>
            </a:r>
            <a:r>
              <a:rPr b="1" sz="1439">
                <a:solidFill>
                  <a:srgbClr val="191C1F"/>
                </a:solidFill>
                <a:latin typeface="맑은 고딕"/>
              </a:rPr>
              <a:t>수집 문서 8건의 본문 전체에서 다시 검색</a:t>
            </a:r>
            <a:r>
              <a:rPr b="0" sz="1439">
                <a:solidFill>
                  <a:srgbClr val="5C636B"/>
                </a:solidFill>
                <a:latin typeface="맑은 고딕"/>
              </a:rPr>
              <a:t>했습니다 (HTML 파일 기준 82만 자, 태그·스크립트를 걷어낸 본문 기준 11만 3천 자). 그중 하나는 근거가 있었습니다.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" y="4221396"/>
            <a:ext cx="10765231" cy="521866"/>
          </a:xfrm>
          <a:prstGeom prst="rect">
            <a:avLst/>
          </a:prstGeom>
          <a:solidFill>
            <a:srgbClr val="FBFAF8"/>
          </a:solidFill>
          <a:ln>
            <a:solidFill>
              <a:srgbClr val="E4E1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64008" bIns="64008"/>
          <a:lstStyle/>
          <a:p>
            <a:pPr algn="l">
              <a:lnSpc>
                <a:spcPct val="100000"/>
              </a:lnSpc>
            </a:pPr>
            <a:r>
              <a:rPr sz="1200">
                <a:solidFill>
                  <a:srgbClr val="5C636B"/>
                </a:solidFill>
                <a:latin typeface="Consolas"/>
              </a:rPr>
              <a:t>카드 유효기한을 확인해주세요. 해외에서 카드를 사용해야하는 기간 동안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5C636B"/>
                </a:solidFill>
                <a:latin typeface="Consolas"/>
              </a:rPr>
              <a:t>만료가 예상되는 경우 사용 전 갱신 재발급이 필요합니다.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4889566"/>
            <a:ext cx="10765231" cy="5708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b="1" sz="1439">
                <a:solidFill>
                  <a:srgbClr val="191C1F"/>
                </a:solidFill>
                <a:latin typeface="맑은 고딕"/>
              </a:rPr>
              <a:t>무엇을 해야 하는지는 원문에 있습니다</a:t>
            </a:r>
            <a:r>
              <a:rPr b="0" sz="1439">
                <a:solidFill>
                  <a:srgbClr val="5C636B"/>
                </a:solidFill>
                <a:latin typeface="맑은 고딕"/>
              </a:rPr>
              <a:t> — 「갱신 재발급」. 다만 그 재발급을 </a:t>
            </a:r>
            <a:r>
              <a:rPr b="1" sz="1439">
                <a:solidFill>
                  <a:srgbClr val="191C1F"/>
                </a:solidFill>
                <a:latin typeface="맑은 고딕"/>
              </a:rPr>
              <a:t>어디서</a:t>
            </a:r>
            <a:r>
              <a:rPr b="0" sz="1439">
                <a:solidFill>
                  <a:srgbClr val="5C636B"/>
                </a:solidFill>
                <a:latin typeface="맑은 고딕"/>
              </a:rPr>
              <a:t> 하는지는 없습니다. 6개를 한 덩어리로 처리하면서 이 차이를 놓쳤습니다. 되살리되 두 층위를 구분했습니다.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13232" y="5551874"/>
          <a:ext cx="10765230" cy="6847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8960"/>
                <a:gridCol w="3983135"/>
                <a:gridCol w="3983135"/>
              </a:tblGrid>
              <a:tr h="228234">
                <a:tc>
                  <a:txBody>
                    <a:bodyPr wrap="square"/>
                    <a:lstStyle/>
                    <a:p/>
                  </a:txBody>
                  <a:tcPr marL="73152" marR="73152" marT="27432" marB="27432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91C1F"/>
                          </a:solidFill>
                          <a:latin typeface="맑은 고딕"/>
                        </a:rPr>
                        <a:t>할 일(</a:t>
                      </a:r>
                      <a:r>
                        <a:rPr sz="1200">
                          <a:solidFill>
                            <a:srgbClr val="5C636B"/>
                          </a:solidFill>
                          <a:latin typeface="Consolas"/>
                        </a:rPr>
                        <a:t>primary_path</a:t>
                      </a:r>
                      <a:r>
                        <a:rPr b="1" sz="1200">
                          <a:solidFill>
                            <a:srgbClr val="191C1F"/>
                          </a:solidFill>
                          <a:latin typeface="맑은 고딕"/>
                        </a:rPr>
                        <a:t>)</a:t>
                      </a:r>
                    </a:p>
                  </a:txBody>
                  <a:tcPr marL="73152" marR="73152" marT="27432" marB="27432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91C1F"/>
                          </a:solidFill>
                          <a:latin typeface="맑은 고딕"/>
                        </a:rPr>
                        <a:t>채널(</a:t>
                      </a:r>
                      <a:r>
                        <a:rPr sz="1200">
                          <a:solidFill>
                            <a:srgbClr val="5C636B"/>
                          </a:solidFill>
                          <a:latin typeface="Consolas"/>
                        </a:rPr>
                        <a:t>actionable_in_app</a:t>
                      </a:r>
                      <a:r>
                        <a:rPr b="1" sz="1200">
                          <a:solidFill>
                            <a:srgbClr val="191C1F"/>
                          </a:solidFill>
                          <a:latin typeface="맑은 고딕"/>
                        </a:rPr>
                        <a:t>)</a:t>
                      </a:r>
                    </a:p>
                  </a:txBody>
                  <a:tcPr marL="73152" marR="73152" marT="27432" marB="27432" anchor="ctr">
                    <a:solidFill>
                      <a:srgbClr val="FBFAF8"/>
                    </a:solidFill>
                  </a:tcPr>
                </a:tc>
              </a:tr>
              <a:tr h="228234">
                <a:tc>
                  <a:txBody>
                    <a:bodyPr wrap="square"/>
                    <a:lstStyle/>
                    <a:p>
                      <a:r>
                        <a:rPr b="0" sz="1200">
                          <a:solidFill>
                            <a:srgbClr val="5C636B"/>
                          </a:solidFill>
                          <a:latin typeface="맑은 고딕"/>
                        </a:rPr>
                        <a:t>카드 유효기한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91C1F"/>
                          </a:solidFill>
                          <a:latin typeface="맑은 고딕"/>
                        </a:rPr>
                        <a:t>갱신 재발급</a:t>
                      </a:r>
                      <a:r>
                        <a:rPr b="0" sz="1200">
                          <a:solidFill>
                            <a:srgbClr val="5C636B"/>
                          </a:solidFill>
                          <a:latin typeface="맑은 고딕"/>
                        </a:rPr>
                        <a:t> (원문에 있음)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91C1F"/>
                          </a:solidFill>
                          <a:latin typeface="맑은 고딕"/>
                        </a:rPr>
                        <a:t>미확인</a:t>
                      </a:r>
                      <a:r>
                        <a:rPr b="0" sz="1200">
                          <a:solidFill>
                            <a:srgbClr val="5C636B"/>
                          </a:solidFill>
                          <a:latin typeface="맑은 고딕"/>
                        </a:rPr>
                        <a:t> (원문에 없음)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28234">
                <a:tc>
                  <a:txBody>
                    <a:bodyPr wrap="square"/>
                    <a:lstStyle/>
                    <a:p>
                      <a:r>
                        <a:rPr b="0" sz="1200">
                          <a:solidFill>
                            <a:srgbClr val="5C636B"/>
                          </a:solidFill>
                          <a:latin typeface="맑은 고딕"/>
                        </a:rPr>
                        <a:t>나머지 5개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>
                          <a:solidFill>
                            <a:srgbClr val="5C636B"/>
                          </a:solidFill>
                          <a:latin typeface="맑은 고딕"/>
                        </a:rPr>
                        <a:t>없음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00">
                          <a:solidFill>
                            <a:srgbClr val="5C636B"/>
                          </a:solidFill>
                          <a:latin typeface="맑은 고딕"/>
                        </a:rPr>
                        <a:t>미확인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0957255" y="652881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178"/>
                </a:solidFill>
                <a:latin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1"/>
            </a:pPr>
            <a:r>
              <a:rPr b="1" sz="2700">
                <a:solidFill>
                  <a:srgbClr val="191C1F"/>
                </a:solidFill>
                <a:latin typeface="맑은 고딕"/>
              </a:rPr>
              <a:t>그리고 "KB 공개문서에 없다"고 말하지 않습니다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060704"/>
            <a:ext cx="10765231" cy="502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b="0" sz="1500">
                <a:solidFill>
                  <a:srgbClr val="5C636B"/>
                </a:solidFill>
                <a:latin typeface="맑은 고딕"/>
              </a:rPr>
              <a:t>저희가 본 것은 </a:t>
            </a:r>
            <a:r>
              <a:rPr b="1" sz="1500">
                <a:solidFill>
                  <a:srgbClr val="191C1F"/>
                </a:solidFill>
                <a:latin typeface="맑은 고딕"/>
              </a:rPr>
              <a:t>수집한 문서 8건</a:t>
            </a:r>
            <a:r>
              <a:rPr b="0" sz="1500">
                <a:solidFill>
                  <a:srgbClr val="5C636B"/>
                </a:solidFill>
                <a:latin typeface="맑은 고딕"/>
              </a:rPr>
              <a:t>입니다. KB 전체가 아닙니다. 그래서 화면과 문서의 문구를 </a:t>
            </a:r>
            <a:r>
              <a:rPr b="1" sz="1500">
                <a:solidFill>
                  <a:srgbClr val="191C1F"/>
                </a:solidFill>
                <a:latin typeface="맑은 고딕"/>
              </a:rPr>
              <a:t>"수집한 문서에서 찾지 못했습니다"</a:t>
            </a:r>
            <a:r>
              <a:rPr b="0" sz="1500">
                <a:solidFill>
                  <a:srgbClr val="5C636B"/>
                </a:solidFill>
                <a:latin typeface="맑은 고딕"/>
              </a:rPr>
              <a:t> 로 좁혔습니다.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1654769"/>
            <a:ext cx="32004" cy="778714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1654769"/>
            <a:ext cx="10600639" cy="7787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b="0" sz="1500">
                <a:solidFill>
                  <a:srgbClr val="5C636B"/>
                </a:solidFill>
                <a:latin typeface="맑은 고딕"/>
              </a:rPr>
              <a:t>다른 페이지에 해결 방법이 있을 수 있습니다. 그 경우 </a:t>
            </a:r>
            <a:r>
              <a:rPr b="1" sz="1500">
                <a:solidFill>
                  <a:srgbClr val="191C1F"/>
                </a:solidFill>
                <a:latin typeface="맑은 고딕"/>
              </a:rPr>
              <a:t>수집 범위를 넓히면 자동으로 채워집니다</a:t>
            </a:r>
            <a:r>
              <a:rPr b="0" sz="1500">
                <a:solidFill>
                  <a:srgbClr val="5C636B"/>
                </a:solidFill>
                <a:latin typeface="맑은 고딕"/>
              </a:rPr>
              <a:t> — 파이프라인이 문서를 넣으면 조건 트리를 내는 구조이기 때문입니다. 지금 비어 있다는 사실 자체가 "이 안내들만 보고는 알 수 없다"는 뜻이고, 그것이 이 프로젝트가 말하려는 문제입니다.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52881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178"/>
                </a:solidFill>
                <a:latin typeface="맑은 고딕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1"/>
            </a:pPr>
            <a:r>
              <a:rPr b="1" sz="4000">
                <a:solidFill>
                  <a:srgbClr val="191C1F"/>
                </a:solidFill>
                <a:latin typeface="맑은 고딕"/>
              </a:rPr>
              <a:t>8. 프롬프트 규칙 — 추측이 아니라 관측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316735"/>
            <a:ext cx="10765231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1"/>
            </a:pPr>
            <a:r>
              <a:rPr b="1" sz="2700">
                <a:solidFill>
                  <a:srgbClr val="191C1F"/>
                </a:solidFill>
                <a:latin typeface="맑은 고딕"/>
              </a:rPr>
              <a:t>1차 추출을 분석해 실패 7종을 규칙으로 못 박았다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13232" y="1901951"/>
          <a:ext cx="1076523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8960"/>
                <a:gridCol w="3983135"/>
                <a:gridCol w="3983135"/>
              </a:tblGrid>
              <a:tr h="237744">
                <a:tc>
                  <a:txBody>
                    <a:bodyPr wrap="square"/>
                    <a:lstStyle/>
                    <a:p>
                      <a:r>
                        <a:rPr b="1" sz="1250">
                          <a:solidFill>
                            <a:srgbClr val="191C1F"/>
                          </a:solidFill>
                          <a:latin typeface="맑은 고딕"/>
                        </a:rPr>
                        <a:t>#</a:t>
                      </a:r>
                    </a:p>
                  </a:txBody>
                  <a:tcPr marL="73152" marR="73152" marT="27432" marB="27432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50">
                          <a:solidFill>
                            <a:srgbClr val="191C1F"/>
                          </a:solidFill>
                          <a:latin typeface="맑은 고딕"/>
                        </a:rPr>
                        <a:t>관측된 실패</a:t>
                      </a:r>
                    </a:p>
                  </a:txBody>
                  <a:tcPr marL="73152" marR="73152" marT="27432" marB="27432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50">
                          <a:solidFill>
                            <a:srgbClr val="191C1F"/>
                          </a:solidFill>
                          <a:latin typeface="맑은 고딕"/>
                        </a:rPr>
                        <a:t>규칙</a:t>
                      </a:r>
                    </a:p>
                  </a:txBody>
                  <a:tcPr marL="73152" marR="73152" marT="27432" marB="27432" anchor="ctr">
                    <a:solidFill>
                      <a:srgbClr val="FBFAF8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①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50">
                          <a:solidFill>
                            <a:srgbClr val="191C1F"/>
                          </a:solidFill>
                          <a:latin typeface="맑은 고딕"/>
                        </a:rPr>
                        <a:t>방향 뒤집힘</a:t>
                      </a:r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 — "안심차단이 켜져 있어야 한다"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i="1" sz="1250">
                          <a:solidFill>
                            <a:srgbClr val="5C636B"/>
                          </a:solidFill>
                          <a:latin typeface="맑은 고딕"/>
                        </a:rPr>
                        <a:t>이 predicate 가 참이면 목표가 달성되는가?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②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subject 오매핑 — 서로 다른 조건을 한 경로에 몰아넣음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뜻이 정확히 맞지 않으면 추출하지 않는다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③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목표와 무관 — 이의신청 기한, 수수료 면제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지금 그 목표를 달성하는 조건만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④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단위 혼동 — "5,500달러" → 5500000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원화 기준이 아니면 추출하지 않는다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⑤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인용 이어붙임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연속된 한 구간만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⑥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5C636B"/>
                          </a:solidFill>
                          <a:latin typeface="Consolas"/>
                        </a:rPr>
                        <a:t>value</a:t>
                      </a:r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 를 비움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값이 없어도 </a:t>
                      </a:r>
                      <a:r>
                        <a:rPr sz="1250">
                          <a:solidFill>
                            <a:srgbClr val="5C636B"/>
                          </a:solidFill>
                          <a:latin typeface="Consolas"/>
                        </a:rPr>
                        <a:t>"null"</a:t>
                      </a:r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 을 적는다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⑦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label 과 predicate 방향 불일치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i="1" sz="1250">
                          <a:solidFill>
                            <a:srgbClr val="5C636B"/>
                          </a:solidFill>
                          <a:latin typeface="맑은 고딕"/>
                        </a:rPr>
                        <a:t>label 을 predicate 로 다시 쓰면 같은 문장인가?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13232" y="4590286"/>
            <a:ext cx="10765231" cy="4459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b="1" sz="1500">
                <a:solidFill>
                  <a:srgbClr val="191C1F"/>
                </a:solidFill>
                <a:latin typeface="맑은 고딕"/>
              </a:rPr>
              <a:t>1차 결과는 병합 15개 중 8개가 위 유형으로 틀렸습니다.</a:t>
            </a:r>
            <a:r>
              <a:rPr b="0" sz="1500">
                <a:solidFill>
                  <a:srgbClr val="5C636B"/>
                </a:solidFill>
                <a:latin typeface="맑은 고딕"/>
              </a:rPr>
              <a:t> 규칙을 넣고 5차까지 개정한 결과가 지금의 트리입니다.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5127717"/>
            <a:ext cx="32004" cy="435372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5127717"/>
            <a:ext cx="10600639" cy="4353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b="0" sz="1500">
                <a:solidFill>
                  <a:srgbClr val="5C636B"/>
                </a:solidFill>
                <a:latin typeface="맑은 고딕"/>
              </a:rPr>
              <a:t>이 규칙들은 </a:t>
            </a:r>
            <a:r>
              <a:rPr b="1" sz="1500">
                <a:solidFill>
                  <a:srgbClr val="191C1F"/>
                </a:solidFill>
                <a:latin typeface="맑은 고딕"/>
              </a:rPr>
              <a:t>실제로 나온 오류</a:t>
            </a:r>
            <a:r>
              <a:rPr b="0" sz="1500">
                <a:solidFill>
                  <a:srgbClr val="5C636B"/>
                </a:solidFill>
                <a:latin typeface="맑은 고딕"/>
              </a:rPr>
              <a:t>입니다. 지울 때는 그 실패가 재현되는지 먼저 확인하도록 코드 주석에 남겼습니다.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52881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178"/>
                </a:solidFill>
                <a:latin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1"/>
            </a:pPr>
            <a:r>
              <a:rPr b="1" sz="4000">
                <a:solidFill>
                  <a:srgbClr val="191C1F"/>
                </a:solidFill>
                <a:latin typeface="맑은 고딕"/>
              </a:rPr>
              <a:t>9. 병합 — 문서 간 합의로 대표를 정한다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316735"/>
            <a:ext cx="10765231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1"/>
            </a:pPr>
            <a:r>
              <a:rPr b="1" sz="2700">
                <a:solidFill>
                  <a:srgbClr val="191C1F"/>
                </a:solidFill>
                <a:latin typeface="맑은 고딕"/>
              </a:rPr>
              <a:t>사람이 고친 자리는 화면에도 남습니다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901951"/>
            <a:ext cx="10765231" cy="6477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b="0" sz="1500">
                <a:solidFill>
                  <a:srgbClr val="5C636B"/>
                </a:solidFill>
                <a:latin typeface="맑은 고딕"/>
              </a:rPr>
              <a:t>검수에서 사람이 판단을 뒤집으면 </a:t>
            </a:r>
            <a:r>
              <a:rPr sz="1500">
                <a:solidFill>
                  <a:srgbClr val="5C636B"/>
                </a:solidFill>
                <a:latin typeface="Consolas"/>
              </a:rPr>
              <a:t>review_override</a:t>
            </a:r>
            <a:r>
              <a:rPr b="0" sz="1500">
                <a:solidFill>
                  <a:srgbClr val="5C636B"/>
                </a:solidFill>
                <a:latin typeface="맑은 고딕"/>
              </a:rPr>
              <a:t> 에 </a:t>
            </a:r>
            <a:r>
              <a:rPr b="1" sz="1500">
                <a:solidFill>
                  <a:srgbClr val="191C1F"/>
                </a:solidFill>
                <a:latin typeface="맑은 고딕"/>
              </a:rPr>
              <a:t>이유까지</a:t>
            </a:r>
            <a:r>
              <a:rPr b="0" sz="1500">
                <a:solidFill>
                  <a:srgbClr val="5C636B"/>
                </a:solidFill>
                <a:latin typeface="맑은 고딕"/>
              </a:rPr>
              <a:t> 남고, 그 문장이 </a:t>
            </a:r>
            <a:r>
              <a:rPr b="1" sz="1500">
                <a:solidFill>
                  <a:srgbClr val="191C1F"/>
                </a:solidFill>
                <a:latin typeface="맑은 고딕"/>
              </a:rPr>
              <a:t>화면의 근거 원문 아래에 그대로 나옵니다.</a:t>
            </a:r>
            <a:r>
              <a:rPr b="0" sz="1500">
                <a:solidFill>
                  <a:srgbClr val="5C636B"/>
                </a:solidFill>
                <a:latin typeface="맑은 고딕"/>
              </a:rPr>
              <a:t> 감사 기록을 파일에만 두면 아무도 읽지 않습니다 — 조건을 보는 그 자리에 둡니다.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7255" y="652881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178"/>
                </a:solidFill>
                <a:latin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1"/>
            </a:pPr>
            <a:r>
              <a:rPr b="1" sz="2700">
                <a:solidFill>
                  <a:srgbClr val="191C1F"/>
                </a:solidFill>
                <a:latin typeface="맑은 고딕"/>
              </a:rPr>
              <a:t>길이는 신뢰의 근거가 아니다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060704"/>
            <a:ext cx="10765231" cy="3928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b="0" sz="1500">
                <a:solidFill>
                  <a:srgbClr val="5C636B"/>
                </a:solidFill>
                <a:latin typeface="맑은 고딕"/>
              </a:rPr>
              <a:t>같은 조건이 여러 문서에 조금씩 다른 문장으로 실립니다. 무엇을 보여줄지 정해야 합니다.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1545041"/>
            <a:ext cx="10765231" cy="1293418"/>
          </a:xfrm>
          <a:prstGeom prst="rect">
            <a:avLst/>
          </a:prstGeom>
          <a:solidFill>
            <a:srgbClr val="FBFAF8"/>
          </a:solidFill>
          <a:ln>
            <a:solidFill>
              <a:srgbClr val="E4E1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64008" bIns="64008"/>
          <a:lstStyle/>
          <a:p>
            <a:pPr algn="l">
              <a:lnSpc>
                <a:spcPct val="100000"/>
              </a:lnSpc>
            </a:pPr>
            <a:r>
              <a:rPr sz="1250">
                <a:solidFill>
                  <a:srgbClr val="5C636B"/>
                </a:solidFill>
                <a:latin typeface="Consolas"/>
              </a:rPr>
              <a:t>✗ 짧은 인용 우선 →  규칙을 스치듯 언급한 문장이 대표가 됨</a:t>
            </a:r>
          </a:p>
          <a:p>
            <a:pPr algn="l">
              <a:lnSpc>
                <a:spcPct val="100000"/>
              </a:lnSpc>
            </a:pPr>
            <a:r>
              <a:rPr sz="1250">
                <a:solidFill>
                  <a:srgbClr val="5C636B"/>
                </a:solidFill>
                <a:latin typeface="Consolas"/>
              </a:rPr>
              <a:t>✗ 긴 인용 우선   →  다른 얘기를 하는 긴 문단이 대표가 됨</a:t>
            </a:r>
          </a:p>
          <a:p>
            <a:pPr algn="l">
              <a:lnSpc>
                <a:spcPct val="100000"/>
              </a:lnSpc>
            </a:pPr>
            <a:r>
              <a:rPr sz="1250">
                <a:solidFill>
                  <a:srgbClr val="5C636B"/>
                </a:solidFill>
                <a:latin typeface="Consolas"/>
              </a:rPr>
              <a:t>                    ("해외거래정지 해제"(문서 5곳)가 "해외사이트 해제신청"(1곳)에 밀림)</a:t>
            </a:r>
          </a:p>
          <a:p>
            <a:pPr algn="l">
              <a:lnSpc>
                <a:spcPct val="100000"/>
              </a:lnSpc>
            </a:pPr>
            <a:r>
              <a:rPr sz="1250">
                <a:solidFill>
                  <a:srgbClr val="5C636B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250">
                <a:solidFill>
                  <a:srgbClr val="5C636B"/>
                </a:solidFill>
                <a:latin typeface="Consolas"/>
              </a:rPr>
              <a:t>○ 문서 간 합의   →  같은 뜻으로 읽은 문서가 가장 많은 무리를 대표로</a:t>
            </a:r>
          </a:p>
          <a:p>
            <a:pPr algn="l">
              <a:lnSpc>
                <a:spcPct val="100000"/>
              </a:lnSpc>
            </a:pPr>
            <a:r>
              <a:rPr sz="1250">
                <a:solidFill>
                  <a:srgbClr val="5C636B"/>
                </a:solidFill>
                <a:latin typeface="Consolas"/>
              </a:rPr>
              <a:t>                    그 안에서 (여러 문서에 같은 문장 → label 뒷받침 → 짧은 것) 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984763"/>
            <a:ext cx="10765231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1"/>
            </a:pPr>
            <a:r>
              <a:rPr b="1" sz="1900">
                <a:solidFill>
                  <a:srgbClr val="5C636B"/>
                </a:solidFill>
                <a:latin typeface="맑은 고딕"/>
              </a:rPr>
              <a:t>합집합을 쓰지 않는 이유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441963"/>
            <a:ext cx="10765231" cy="545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b="0" sz="1500">
                <a:solidFill>
                  <a:srgbClr val="5C636B"/>
                </a:solidFill>
                <a:latin typeface="맑은 고딕"/>
              </a:rPr>
              <a:t>해결 채널을 문서들의 합집합으로 모았더니, </a:t>
            </a:r>
            <a:r>
              <a:rPr i="1" sz="1500">
                <a:solidFill>
                  <a:srgbClr val="5C636B"/>
                </a:solidFill>
                <a:latin typeface="맑은 고딕"/>
              </a:rPr>
              <a:t>"앱에서 안심차단을 </a:t>
            </a:r>
            <a:r>
              <a:rPr i="1" sz="1500">
                <a:solidFill>
                  <a:srgbClr val="5C636B"/>
                </a:solidFill>
                <a:latin typeface="맑은 고딕"/>
              </a:rPr>
              <a:t>신청</a:t>
            </a:r>
            <a:r>
              <a:rPr i="1" sz="1500">
                <a:solidFill>
                  <a:srgbClr val="5C636B"/>
                </a:solidFill>
                <a:latin typeface="맑은 고딕"/>
              </a:rPr>
              <a:t>할 수 있어요"</a:t>
            </a:r>
            <a:r>
              <a:rPr b="0" sz="1500">
                <a:solidFill>
                  <a:srgbClr val="5C636B"/>
                </a:solidFill>
                <a:latin typeface="맑은 고딕"/>
              </a:rPr>
              <a:t> 의 </a:t>
            </a:r>
            <a:r>
              <a:rPr sz="1500">
                <a:solidFill>
                  <a:srgbClr val="5C636B"/>
                </a:solidFill>
                <a:latin typeface="Consolas"/>
              </a:rPr>
              <a:t>app:KB스타뱅킹</a:t>
            </a:r>
            <a:r>
              <a:rPr b="0" sz="1500">
                <a:solidFill>
                  <a:srgbClr val="5C636B"/>
                </a:solidFill>
                <a:latin typeface="맑은 고딕"/>
              </a:rPr>
              <a:t> 이 </a:t>
            </a:r>
            <a:r>
              <a:rPr b="1" sz="1500">
                <a:solidFill>
                  <a:srgbClr val="191C1F"/>
                </a:solidFill>
                <a:latin typeface="맑은 고딕"/>
              </a:rPr>
              <a:t>해제</a:t>
            </a:r>
            <a:r>
              <a:rPr b="0" sz="1500">
                <a:solidFill>
                  <a:srgbClr val="5C636B"/>
                </a:solidFill>
                <a:latin typeface="맑은 고딕"/>
              </a:rPr>
              <a:t> 조건에 섞여 </a:t>
            </a:r>
            <a:r>
              <a:rPr b="1" sz="1500">
                <a:solidFill>
                  <a:srgbClr val="191C1F"/>
                </a:solidFill>
                <a:latin typeface="맑은 고딕"/>
              </a:rPr>
              <a:t>"앱에서 해제 가능"으로 뒤집혔습니다.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078503"/>
            <a:ext cx="10765231" cy="4601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b="0" sz="1500">
                <a:solidFill>
                  <a:srgbClr val="5C636B"/>
                </a:solidFill>
                <a:latin typeface="맑은 고딕"/>
              </a:rPr>
              <a:t>→ </a:t>
            </a:r>
            <a:r>
              <a:rPr b="1" sz="1500">
                <a:solidFill>
                  <a:srgbClr val="191C1F"/>
                </a:solidFill>
                <a:latin typeface="맑은 고딕"/>
              </a:rPr>
              <a:t>화면에 보이는 모든 정보는 하나의 인용에서 나옵니다.</a:t>
            </a:r>
            <a:r>
              <a:rPr b="0" sz="1500">
                <a:solidFill>
                  <a:srgbClr val="5C636B"/>
                </a:solidFill>
                <a:latin typeface="맑은 고딕"/>
              </a:rPr>
              <a:t> 문서마다 값이 다르면 합치지 않고 </a:t>
            </a:r>
            <a:r>
              <a:rPr b="1" sz="1500">
                <a:solidFill>
                  <a:srgbClr val="191C1F"/>
                </a:solidFill>
                <a:latin typeface="맑은 고딕"/>
              </a:rPr>
              <a:t>검수 메모로 사람에게 넘깁니다.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52881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178"/>
                </a:solidFill>
                <a:latin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1"/>
            </a:pPr>
            <a:r>
              <a:rPr b="1" sz="4000">
                <a:solidFill>
                  <a:srgbClr val="191C1F"/>
                </a:solidFill>
                <a:latin typeface="맑은 고딕"/>
              </a:rPr>
              <a:t>10. 검수 관문 — 사람은 게이트지 저자가 아니다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316735"/>
            <a:ext cx="10765231" cy="48492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b="0" sz="1500">
                <a:solidFill>
                  <a:srgbClr val="5C636B"/>
                </a:solidFill>
                <a:latin typeface="맑은 고딕"/>
              </a:rPr>
              <a:t>프롬프트를 고쳐도 오류가 0이 되지는 않습니다. </a:t>
            </a:r>
            <a:r>
              <a:rPr b="1" sz="1500">
                <a:solidFill>
                  <a:srgbClr val="191C1F"/>
                </a:solidFill>
                <a:latin typeface="맑은 고딕"/>
              </a:rPr>
              <a:t>틀린 조건이 트리에 들어가면 판정은 자신 있게 틀린 답을 냅니다.</a:t>
            </a:r>
            <a:r>
              <a:rPr b="0" sz="1500">
                <a:solidFill>
                  <a:srgbClr val="5C636B"/>
                </a:solidFill>
                <a:latin typeface="맑은 고딕"/>
              </a:rPr>
              <a:t> 그게 가장 나쁩니다.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13232" y="1893101"/>
          <a:ext cx="10765230" cy="9509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0178"/>
                <a:gridCol w="7105052"/>
              </a:tblGrid>
              <a:tr h="237744">
                <a:tc>
                  <a:txBody>
                    <a:bodyPr wrap="square"/>
                    <a:lstStyle/>
                    <a:p>
                      <a:r>
                        <a:rPr b="1" sz="1250">
                          <a:solidFill>
                            <a:srgbClr val="191C1F"/>
                          </a:solidFill>
                          <a:latin typeface="맑은 고딕"/>
                        </a:rPr>
                        <a:t>사람이 할 수 있는 것</a:t>
                      </a:r>
                    </a:p>
                  </a:txBody>
                  <a:tcPr marL="73152" marR="73152" marT="27432" marB="27432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50">
                          <a:solidFill>
                            <a:srgbClr val="191C1F"/>
                          </a:solidFill>
                          <a:latin typeface="맑은 고딕"/>
                        </a:rPr>
                        <a:t>사람이 할 수 없는 것</a:t>
                      </a:r>
                    </a:p>
                  </a:txBody>
                  <a:tcPr marL="73152" marR="73152" marT="27432" marB="27432" anchor="ctr">
                    <a:solidFill>
                      <a:srgbClr val="FBFAF8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승인 / 반려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5C636B"/>
                          </a:solidFill>
                          <a:latin typeface="Consolas"/>
                        </a:rPr>
                        <a:t>label</a:t>
                      </a:r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 을 쓰거나 고치기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5C636B"/>
                          </a:solidFill>
                          <a:latin typeface="Consolas"/>
                        </a:rPr>
                        <a:t>severity</a:t>
                      </a:r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 교정 (blocking ↔ warning)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5C636B"/>
                          </a:solidFill>
                          <a:latin typeface="Consolas"/>
                        </a:rPr>
                        <a:t>predicate</a:t>
                      </a:r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 수정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여러 인용 중 </a:t>
                      </a:r>
                      <a:r>
                        <a:rPr b="1" sz="1250">
                          <a:solidFill>
                            <a:srgbClr val="191C1F"/>
                          </a:solidFill>
                          <a:latin typeface="맑은 고딕"/>
                        </a:rPr>
                        <a:t>대표 선택</a:t>
                      </a:r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 (모델이 뽑은 것 중에서만)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5C636B"/>
                          </a:solidFill>
                          <a:latin typeface="Consolas"/>
                        </a:rPr>
                        <a:t>evidence</a:t>
                      </a:r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 문장 작성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13232" y="3447581"/>
            <a:ext cx="10765231" cy="543610"/>
          </a:xfrm>
          <a:prstGeom prst="rect">
            <a:avLst/>
          </a:prstGeom>
          <a:solidFill>
            <a:srgbClr val="FBFAF8"/>
          </a:solidFill>
          <a:ln>
            <a:solidFill>
              <a:srgbClr val="E4E1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64008" bIns="64008"/>
          <a:lstStyle/>
          <a:p>
            <a:pPr algn="l">
              <a:lnSpc>
                <a:spcPct val="100000"/>
              </a:lnSpc>
            </a:pPr>
            <a:r>
              <a:rPr sz="1250">
                <a:solidFill>
                  <a:srgbClr val="5C636B"/>
                </a:solidFill>
                <a:latin typeface="Consolas"/>
              </a:rPr>
              <a:t>검수 대상 16건  →  승인 12  /  반려 4      (통과율 0.75)</a:t>
            </a:r>
          </a:p>
          <a:p>
            <a:pPr algn="l">
              <a:lnSpc>
                <a:spcPct val="100000"/>
              </a:lnSpc>
            </a:pPr>
            <a:r>
              <a:rPr sz="1250">
                <a:solidFill>
                  <a:srgbClr val="5C636B"/>
                </a:solidFill>
                <a:latin typeface="Consolas"/>
              </a:rPr>
              <a:t>                   severity 교정 2 · 대표 인용 선택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4137495"/>
            <a:ext cx="10765231" cy="117928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200"/>
              </a:spcAft>
            </a:pPr>
            <a:r>
              <a:rPr sz="1500" b="1">
                <a:solidFill>
                  <a:srgbClr val="C19A2E"/>
                </a:solidFill>
                <a:latin typeface="맑은 고딕"/>
              </a:rPr>
              <a:t>· </a:t>
            </a:r>
            <a:r>
              <a:rPr b="0" sz="1500">
                <a:solidFill>
                  <a:srgbClr val="5C636B"/>
                </a:solidFill>
                <a:latin typeface="맑은 고딕"/>
              </a:rPr>
              <a:t>결정과 </a:t>
            </a:r>
            <a:r>
              <a:rPr b="1" sz="1500">
                <a:solidFill>
                  <a:srgbClr val="191C1F"/>
                </a:solidFill>
                <a:latin typeface="맑은 고딕"/>
              </a:rPr>
              <a:t>사유 전문</a:t>
            </a:r>
            <a:r>
              <a:rPr b="0" sz="1500">
                <a:solidFill>
                  <a:srgbClr val="5C636B"/>
                </a:solidFill>
                <a:latin typeface="맑은 고딕"/>
              </a:rPr>
              <a:t>이 </a:t>
            </a:r>
            <a:r>
              <a:rPr sz="1500">
                <a:solidFill>
                  <a:srgbClr val="5C636B"/>
                </a:solidFill>
                <a:latin typeface="Consolas"/>
              </a:rPr>
              <a:t>data/review/decisions.yaml</a:t>
            </a:r>
            <a:r>
              <a:rPr b="0" sz="1500">
                <a:solidFill>
                  <a:srgbClr val="5C636B"/>
                </a:solidFill>
                <a:latin typeface="맑은 고딕"/>
              </a:rPr>
              <a:t> 에 남습니다 — 감사 기록입니다</a:t>
            </a:r>
          </a:p>
          <a:p>
            <a:pPr>
              <a:lnSpc>
                <a:spcPct val="135000"/>
              </a:lnSpc>
              <a:spcAft>
                <a:spcPts val="200"/>
              </a:spcAft>
            </a:pPr>
            <a:r>
              <a:rPr sz="1500" b="1">
                <a:solidFill>
                  <a:srgbClr val="C19A2E"/>
                </a:solidFill>
                <a:latin typeface="맑은 고딕"/>
              </a:rPr>
              <a:t>· </a:t>
            </a:r>
            <a:r>
              <a:rPr b="0" sz="1500">
                <a:solidFill>
                  <a:srgbClr val="5C636B"/>
                </a:solidFill>
                <a:latin typeface="맑은 고딕"/>
              </a:rPr>
              <a:t>교정한 조건은 트리에 </a:t>
            </a:r>
            <a:r>
              <a:rPr sz="1500">
                <a:solidFill>
                  <a:srgbClr val="5C636B"/>
                </a:solidFill>
                <a:latin typeface="Consolas"/>
              </a:rPr>
              <a:t>review_override</a:t>
            </a:r>
            <a:r>
              <a:rPr b="0" sz="1500">
                <a:solidFill>
                  <a:srgbClr val="5C636B"/>
                </a:solidFill>
                <a:latin typeface="맑은 고딕"/>
              </a:rPr>
              <a:t> 로 표시돼 </a:t>
            </a:r>
            <a:r>
              <a:rPr b="1" sz="1500">
                <a:solidFill>
                  <a:srgbClr val="191C1F"/>
                </a:solidFill>
                <a:latin typeface="맑은 고딕"/>
              </a:rPr>
              <a:t>손댄 곳이 감춰지지 않습니다</a:t>
            </a:r>
          </a:p>
          <a:p>
            <a:pPr>
              <a:lnSpc>
                <a:spcPct val="135000"/>
              </a:lnSpc>
              <a:spcAft>
                <a:spcPts val="200"/>
              </a:spcAft>
            </a:pPr>
            <a:r>
              <a:rPr sz="1500" b="1">
                <a:solidFill>
                  <a:srgbClr val="C19A2E"/>
                </a:solidFill>
                <a:latin typeface="맑은 고딕"/>
              </a:rPr>
              <a:t>· </a:t>
            </a:r>
            <a:r>
              <a:rPr b="0" sz="1500">
                <a:solidFill>
                  <a:srgbClr val="5C636B"/>
                </a:solidFill>
                <a:latin typeface="맑은 고딕"/>
              </a:rPr>
              <a:t>검수되지 않은 조건은 </a:t>
            </a:r>
            <a:r>
              <a:rPr b="1" sz="1500">
                <a:solidFill>
                  <a:srgbClr val="191C1F"/>
                </a:solidFill>
                <a:latin typeface="맑은 고딕"/>
              </a:rPr>
              <a:t>트리에 들어가지 않습니다</a:t>
            </a:r>
            <a:r>
              <a:rPr b="0" sz="1500">
                <a:solidFill>
                  <a:srgbClr val="5C636B"/>
                </a:solidFill>
                <a:latin typeface="맑은 고딕"/>
              </a:rPr>
              <a:t> (모르면 넣지 않는다)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52881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178"/>
                </a:solidFill>
                <a:latin typeface="맑은 고딕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1"/>
            </a:pPr>
            <a:r>
              <a:rPr b="1" sz="4000">
                <a:solidFill>
                  <a:srgbClr val="191C1F"/>
                </a:solidFill>
                <a:latin typeface="맑은 고딕"/>
              </a:rPr>
              <a:t>11. 판정 엔진 — 결정론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316735"/>
            <a:ext cx="10765231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1"/>
            </a:pPr>
            <a:r>
              <a:rPr b="1" sz="2700">
                <a:solidFill>
                  <a:srgbClr val="191C1F"/>
                </a:solidFill>
                <a:latin typeface="맑은 고딕"/>
              </a:rPr>
              <a:t>같은 입력에 같은 출력. 측정했습니다.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13232" y="1901951"/>
          <a:ext cx="1076523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0178"/>
                <a:gridCol w="7105052"/>
              </a:tblGrid>
              <a:tr h="237744">
                <a:tc>
                  <a:txBody>
                    <a:bodyPr wrap="square"/>
                    <a:lstStyle/>
                    <a:p>
                      <a:r>
                        <a:rPr b="1" sz="1250">
                          <a:solidFill>
                            <a:srgbClr val="191C1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 marL="73152" marR="73152" marT="27432" marB="27432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50">
                          <a:solidFill>
                            <a:srgbClr val="191C1F"/>
                          </a:solidFill>
                          <a:latin typeface="맑은 고딕"/>
                        </a:rPr>
                        <a:t>값</a:t>
                      </a:r>
                    </a:p>
                  </a:txBody>
                  <a:tcPr marL="73152" marR="73152" marT="27432" marB="27432" anchor="ctr">
                    <a:solidFill>
                      <a:srgbClr val="FBFAF8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조합 (트리 × 프로필)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총 판정 횟수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50">
                          <a:solidFill>
                            <a:srgbClr val="191C1F"/>
                          </a:solidFill>
                          <a:latin typeface="맑은 고딕"/>
                        </a:rPr>
                        <a:t>2,000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b="1" sz="1250">
                          <a:solidFill>
                            <a:srgbClr val="191C1F"/>
                          </a:solidFill>
                          <a:latin typeface="맑은 고딕"/>
                        </a:rPr>
                        <a:t>일치율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50">
                          <a:solidFill>
                            <a:srgbClr val="191C1F"/>
                          </a:solidFill>
                          <a:latin typeface="맑은 고딕"/>
                        </a:rPr>
                        <a:t>100.0%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판정 1회 소요 (중앙값)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50">
                          <a:solidFill>
                            <a:srgbClr val="191C1F"/>
                          </a:solidFill>
                          <a:latin typeface="맑은 고딕"/>
                        </a:rPr>
                        <a:t>0.056 ms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13232" y="3328415"/>
            <a:ext cx="10765231" cy="54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b="0" sz="1500">
                <a:solidFill>
                  <a:srgbClr val="5C636B"/>
                </a:solidFill>
                <a:latin typeface="맑은 고딕"/>
              </a:rPr>
              <a:t>비교 시 실행 시각을 제외하고 조건 목록을 </a:t>
            </a:r>
            <a:r>
              <a:rPr sz="1500">
                <a:solidFill>
                  <a:srgbClr val="5C636B"/>
                </a:solidFill>
                <a:latin typeface="Consolas"/>
              </a:rPr>
              <a:t>id</a:t>
            </a:r>
            <a:r>
              <a:rPr b="0" sz="1500">
                <a:solidFill>
                  <a:srgbClr val="5C636B"/>
                </a:solidFill>
                <a:latin typeface="맑은 고딕"/>
              </a:rPr>
              <a:t> 로 정렬해 대조했습니다. 판정과 해결 계획을 </a:t>
            </a:r>
            <a:r>
              <a:rPr b="1" sz="1500">
                <a:solidFill>
                  <a:srgbClr val="191C1F"/>
                </a:solidFill>
                <a:latin typeface="맑은 고딕"/>
              </a:rPr>
              <a:t>함께</a:t>
            </a:r>
            <a:r>
              <a:rPr b="0" sz="1500">
                <a:solidFill>
                  <a:srgbClr val="5C636B"/>
                </a:solidFill>
                <a:latin typeface="맑은 고딕"/>
              </a:rPr>
              <a:t> 직렬화해 비교했으므로, 둘 중 하나만 흔들려도 불일치로 잡힙니다.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3961415"/>
            <a:ext cx="32004" cy="559258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3961415"/>
            <a:ext cx="10600639" cy="5592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b="0" sz="1500">
                <a:solidFill>
                  <a:srgbClr val="5C636B"/>
                </a:solidFill>
                <a:latin typeface="맑은 고딕"/>
              </a:rPr>
              <a:t>조합에는 </a:t>
            </a:r>
            <a:r>
              <a:rPr b="1" sz="1500">
                <a:solidFill>
                  <a:srgbClr val="191C1F"/>
                </a:solidFill>
                <a:latin typeface="맑은 고딕"/>
              </a:rPr>
              <a:t>목표와 무관한 프로필</a:t>
            </a:r>
            <a:r>
              <a:rPr b="0" sz="1500">
                <a:solidFill>
                  <a:srgbClr val="5C636B"/>
                </a:solidFill>
                <a:latin typeface="맑은 고딕"/>
              </a:rPr>
              <a:t>(계좌 트리 × 해외결제 사용자)도 넣었습니다. 이 경우 시스템은 </a:t>
            </a:r>
            <a:r>
              <a:rPr sz="1500">
                <a:solidFill>
                  <a:srgbClr val="5C636B"/>
                </a:solidFill>
                <a:latin typeface="Consolas"/>
              </a:rPr>
              <a:t>indeterminate</a:t>
            </a:r>
            <a:r>
              <a:rPr b="0" sz="1500">
                <a:solidFill>
                  <a:srgbClr val="5C636B"/>
                </a:solidFill>
                <a:latin typeface="맑은 고딕"/>
              </a:rPr>
              <a:t> 를 냅니다 — 관련 정보가 없으면 추측하지 않습니다.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52881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178"/>
                </a:solidFill>
                <a:latin typeface="맑은 고딕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1"/>
            </a:pPr>
            <a:r>
              <a:rPr b="1" sz="4000">
                <a:solidFill>
                  <a:srgbClr val="191C1F"/>
                </a:solidFill>
                <a:latin typeface="맑은 고딕"/>
              </a:rPr>
              <a:t>11-2. 그 결정론을 테스트로 고정했습니다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316735"/>
            <a:ext cx="10765231" cy="3928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b="0" sz="1500">
                <a:solidFill>
                  <a:srgbClr val="5C636B"/>
                </a:solidFill>
                <a:latin typeface="맑은 고딕"/>
              </a:rPr>
              <a:t>측정치를 주장으로만 두지 않았습니다. 저장소를 받은 사람이 </a:t>
            </a:r>
            <a:r>
              <a:rPr b="1" sz="1500">
                <a:solidFill>
                  <a:srgbClr val="191C1F"/>
                </a:solidFill>
                <a:latin typeface="맑은 고딕"/>
              </a:rPr>
              <a:t>직접 다시 돌릴 수 있습니다.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13232" y="1801072"/>
          <a:ext cx="1076523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8960"/>
                <a:gridCol w="3983135"/>
                <a:gridCol w="3983135"/>
              </a:tblGrid>
              <a:tr h="237744">
                <a:tc>
                  <a:txBody>
                    <a:bodyPr wrap="square"/>
                    <a:lstStyle/>
                    <a:p>
                      <a:r>
                        <a:rPr b="1" sz="1250">
                          <a:solidFill>
                            <a:srgbClr val="191C1F"/>
                          </a:solidFill>
                          <a:latin typeface="맑은 고딕"/>
                        </a:rPr>
                        <a:t>스위트</a:t>
                      </a:r>
                    </a:p>
                  </a:txBody>
                  <a:tcPr marL="73152" marR="73152" marT="27432" marB="27432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50">
                          <a:solidFill>
                            <a:srgbClr val="191C1F"/>
                          </a:solidFill>
                          <a:latin typeface="맑은 고딕"/>
                        </a:rPr>
                        <a:t>지키는 것</a:t>
                      </a:r>
                    </a:p>
                  </a:txBody>
                  <a:tcPr marL="73152" marR="73152" marT="27432" marB="27432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50">
                          <a:solidFill>
                            <a:srgbClr val="191C1F"/>
                          </a:solidFill>
                          <a:latin typeface="맑은 고딕"/>
                        </a:rPr>
                        <a:t>실패하면</a:t>
                      </a:r>
                    </a:p>
                  </a:txBody>
                  <a:tcPr marL="73152" marR="73152" marT="27432" marB="27432" anchor="ctr">
                    <a:solidFill>
                      <a:srgbClr val="FBFAF8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5C636B"/>
                          </a:solidFill>
                          <a:latin typeface="Consolas"/>
                        </a:rPr>
                        <a:t>tests/test_determinism.py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트리 × 프로필 전체 조합(10)을 각 10회 반복해 판정이 모두 일치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판정 경로에 </a:t>
                      </a:r>
                      <a:r>
                        <a:rPr b="1" sz="1250">
                          <a:solidFill>
                            <a:srgbClr val="191C1F"/>
                          </a:solidFill>
                          <a:latin typeface="맑은 고딕"/>
                        </a:rPr>
                        <a:t>LLM 호출이나 난수가 끼어들었다</a:t>
                      </a:r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는 뜻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5C636B"/>
                          </a:solidFill>
                          <a:latin typeface="Consolas"/>
                        </a:rPr>
                        <a:t>tests/test_edge.py</a:t>
                      </a:r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 (6건)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빈 프로필 · </a:t>
                      </a:r>
                      <a:r>
                        <a:rPr sz="1250">
                          <a:solidFill>
                            <a:srgbClr val="5C636B"/>
                          </a:solidFill>
                          <a:latin typeface="Consolas"/>
                        </a:rPr>
                        <a:t>null</a:t>
                      </a:r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 · 없는 </a:t>
                      </a:r>
                      <a:r>
                        <a:rPr sz="1250">
                          <a:solidFill>
                            <a:srgbClr val="5C636B"/>
                          </a:solidFill>
                          <a:latin typeface="Consolas"/>
                        </a:rPr>
                        <a:t>goal_id</a:t>
                      </a:r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 · 타입 불일치 · 빈 트리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50">
                          <a:solidFill>
                            <a:srgbClr val="191C1F"/>
                          </a:solidFill>
                          <a:latin typeface="맑은 고딕"/>
                        </a:rPr>
                        <a:t>모름을 충족으로 추측</a:t>
                      </a:r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했거나 500을 냈다는 뜻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5C636B"/>
                          </a:solidFill>
                          <a:latin typeface="Consolas"/>
                        </a:rPr>
                        <a:t>tests/test_overrides.py</a:t>
                      </a:r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 (8건)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화면에서 바꾼 값이 판정에 반영되고, </a:t>
                      </a:r>
                      <a:r>
                        <a:rPr b="1" sz="1250">
                          <a:solidFill>
                            <a:srgbClr val="191C1F"/>
                          </a:solidFill>
                          <a:latin typeface="맑은 고딕"/>
                        </a:rPr>
                        <a:t>원본 프로필은 그대로</a:t>
                      </a:r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인가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값에 반응하지 않거나, 다음 사람이 보는 화면이 오염됐다는 뜻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5C636B"/>
                          </a:solidFill>
                          <a:latin typeface="Consolas"/>
                        </a:rPr>
                        <a:t>tests/test_remedy_grounding.py</a:t>
                      </a:r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 (10건)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해결 방법이 </a:t>
                      </a:r>
                      <a:r>
                        <a:rPr b="1" sz="1250">
                          <a:solidFill>
                            <a:srgbClr val="191C1F"/>
                          </a:solidFill>
                          <a:latin typeface="맑은 고딕"/>
                        </a:rPr>
                        <a:t>근거에 묶여 있는가</a:t>
                      </a:r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. </a:t>
                      </a:r>
                      <a:r>
                        <a:rPr sz="1250">
                          <a:solidFill>
                            <a:srgbClr val="5C636B"/>
                          </a:solidFill>
                          <a:latin typeface="Consolas"/>
                        </a:rPr>
                        <a:t>false</a:t>
                      </a:r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 도 주장이므로 근거를 요구한다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근거 없는 해결 방법이 다시 새어들어왔다는 뜻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13232" y="3959056"/>
            <a:ext cx="10765231" cy="731062"/>
          </a:xfrm>
          <a:prstGeom prst="rect">
            <a:avLst/>
          </a:prstGeom>
          <a:solidFill>
            <a:srgbClr val="FBFAF8"/>
          </a:solidFill>
          <a:ln>
            <a:solidFill>
              <a:srgbClr val="E4E1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64008" bIns="64008"/>
          <a:lstStyle/>
          <a:p>
            <a:pPr algn="l">
              <a:lnSpc>
                <a:spcPct val="100000"/>
              </a:lnSpc>
            </a:pPr>
            <a:r>
              <a:rPr sz="1250">
                <a:solidFill>
                  <a:srgbClr val="5C636B"/>
                </a:solidFill>
                <a:latin typeface="Consolas"/>
              </a:rPr>
              <a:t>$ pytest tests/</a:t>
            </a:r>
          </a:p>
          <a:p>
            <a:pPr algn="l">
              <a:lnSpc>
                <a:spcPct val="100000"/>
              </a:lnSpc>
            </a:pPr>
            <a:r>
              <a:rPr sz="1250">
                <a:solidFill>
                  <a:srgbClr val="5C636B"/>
                </a:solidFill>
                <a:latin typeface="Consolas"/>
              </a:rPr>
              <a:t>.........................                  [100%]</a:t>
            </a:r>
          </a:p>
          <a:p>
            <a:pPr algn="l">
              <a:lnSpc>
                <a:spcPct val="100000"/>
              </a:lnSpc>
            </a:pPr>
            <a:r>
              <a:rPr sz="1250">
                <a:solidFill>
                  <a:srgbClr val="5C636B"/>
                </a:solidFill>
                <a:latin typeface="Consolas"/>
              </a:rPr>
              <a:t>32 passed, 1 warning in 0.72s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4836422"/>
            <a:ext cx="10765231" cy="48492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b="1" sz="1500">
                <a:solidFill>
                  <a:srgbClr val="191C1F"/>
                </a:solidFill>
                <a:latin typeface="맑은 고딕"/>
              </a:rPr>
              <a:t>`test_edge.py` 는 크래시 방지용이 아닙니다.</a:t>
            </a:r>
            <a:r>
              <a:rPr b="0" sz="1500">
                <a:solidFill>
                  <a:srgbClr val="5C636B"/>
                </a:solidFill>
                <a:latin typeface="맑은 고딕"/>
              </a:rPr>
              <a:t> 아래 절(11-1)의 3값 원칙이 코드에서 지켜지는지 검사하는 </a:t>
            </a:r>
            <a:r>
              <a:rPr b="1" sz="1500">
                <a:solidFill>
                  <a:srgbClr val="191C1F"/>
                </a:solidFill>
                <a:latin typeface="맑은 고딕"/>
              </a:rPr>
              <a:t>회귀 방어선</a:t>
            </a:r>
            <a:r>
              <a:rPr b="0" sz="1500">
                <a:solidFill>
                  <a:srgbClr val="5C636B"/>
                </a:solidFill>
                <a:latin typeface="맑은 고딕"/>
              </a:rPr>
              <a:t>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52881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178"/>
                </a:solidFill>
                <a:latin typeface="맑은 고딕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1"/>
            </a:pPr>
            <a:r>
              <a:rPr b="1" sz="4000">
                <a:solidFill>
                  <a:srgbClr val="191C1F"/>
                </a:solidFill>
                <a:latin typeface="맑은 고딕"/>
              </a:rPr>
              <a:t>11-2. 그 결정론을 테스트로 고정했습니다 (계속)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13232" y="1316735"/>
          <a:ext cx="10765230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0178"/>
                <a:gridCol w="7105052"/>
              </a:tblGrid>
              <a:tr h="237744">
                <a:tc>
                  <a:txBody>
                    <a:bodyPr wrap="square"/>
                    <a:lstStyle/>
                    <a:p>
                      <a:r>
                        <a:rPr b="1" sz="1250">
                          <a:solidFill>
                            <a:srgbClr val="191C1F"/>
                          </a:solidFill>
                          <a:latin typeface="맑은 고딕"/>
                        </a:rPr>
                        <a:t>테스트</a:t>
                      </a:r>
                    </a:p>
                  </a:txBody>
                  <a:tcPr marL="73152" marR="73152" marT="27432" marB="27432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50">
                          <a:solidFill>
                            <a:srgbClr val="191C1F"/>
                          </a:solidFill>
                          <a:latin typeface="맑은 고딕"/>
                        </a:rPr>
                        <a:t>지키는 원칙</a:t>
                      </a:r>
                    </a:p>
                  </a:txBody>
                  <a:tcPr marL="73152" marR="73152" marT="27432" marB="27432" anchor="ctr">
                    <a:solidFill>
                      <a:srgbClr val="FBFAF8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5C636B"/>
                          </a:solidFill>
                          <a:latin typeface="Consolas"/>
                        </a:rPr>
                        <a:t>test_empty_profile_is_indeterminate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필수 상태가 없으면 </a:t>
                      </a:r>
                      <a:r>
                        <a:rPr sz="1250">
                          <a:solidFill>
                            <a:srgbClr val="5C636B"/>
                          </a:solidFill>
                          <a:latin typeface="Consolas"/>
                        </a:rPr>
                        <a:t>ok</a:t>
                      </a:r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 가 아니라 </a:t>
                      </a:r>
                      <a:r>
                        <a:rPr sz="1250">
                          <a:solidFill>
                            <a:srgbClr val="5C636B"/>
                          </a:solidFill>
                          <a:latin typeface="Consolas"/>
                        </a:rPr>
                        <a:t>indeterminate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5C636B"/>
                          </a:solidFill>
                          <a:latin typeface="Consolas"/>
                        </a:rPr>
                        <a:t>test_null_value_is_classified_as_unknown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5C636B"/>
                          </a:solidFill>
                          <a:latin typeface="Consolas"/>
                        </a:rPr>
                        <a:t>null</a:t>
                      </a:r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 은 충족·미충족으로 추측하지 않고 </a:t>
                      </a:r>
                      <a:r>
                        <a:rPr sz="1250">
                          <a:solidFill>
                            <a:srgbClr val="5C636B"/>
                          </a:solidFill>
                          <a:latin typeface="Consolas"/>
                        </a:rPr>
                        <a:t>unknown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5C636B"/>
                          </a:solidFill>
                          <a:latin typeface="Consolas"/>
                        </a:rPr>
                        <a:t>test_unknown_goal_returns_404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없는 목표는 서버 오류(500)가 아니라 404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5C636B"/>
                          </a:solidFill>
                          <a:latin typeface="Consolas"/>
                        </a:rPr>
                        <a:t>test_numeric_string_is_classified_as_unknown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숫자 자리에 문자열이 오면 크래시 대신 </a:t>
                      </a:r>
                      <a:r>
                        <a:rPr sz="1250">
                          <a:solidFill>
                            <a:srgbClr val="5C636B"/>
                          </a:solidFill>
                          <a:latin typeface="Consolas"/>
                        </a:rPr>
                        <a:t>unknown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5C636B"/>
                          </a:solidFill>
                          <a:latin typeface="Consolas"/>
                        </a:rPr>
                        <a:t>test_empty_condition_tree_returns_ok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조건이 없는 트리도 예외 없이 판정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713232" y="3895343"/>
            <a:ext cx="32004" cy="647749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3895343"/>
            <a:ext cx="10600639" cy="6477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b="1" sz="1500">
                <a:solidFill>
                  <a:srgbClr val="191C1F"/>
                </a:solidFill>
                <a:latin typeface="맑은 고딕"/>
              </a:rPr>
              <a:t>위 2,000회와 이 테스트는 목적이 다릅니다.</a:t>
            </a:r>
            <a:r>
              <a:rPr b="0" sz="1500">
                <a:solidFill>
                  <a:srgbClr val="5C636B"/>
                </a:solidFill>
                <a:latin typeface="맑은 고딕"/>
              </a:rPr>
              <a:t> 2,000회는 조합당 200회를 돌린 </a:t>
            </a:r>
            <a:r>
              <a:rPr b="1" sz="1500">
                <a:solidFill>
                  <a:srgbClr val="191C1F"/>
                </a:solidFill>
                <a:latin typeface="맑은 고딕"/>
              </a:rPr>
              <a:t>1회성 실측</a:t>
            </a:r>
            <a:r>
              <a:rPr b="0" sz="1500">
                <a:solidFill>
                  <a:srgbClr val="5C636B"/>
                </a:solidFill>
                <a:latin typeface="맑은 고딕"/>
              </a:rPr>
              <a:t>이고, pytest 의 조합당 10회는 </a:t>
            </a:r>
            <a:r>
              <a:rPr b="1" sz="1500">
                <a:solidFill>
                  <a:srgbClr val="191C1F"/>
                </a:solidFill>
                <a:latin typeface="맑은 고딕"/>
              </a:rPr>
              <a:t>커밋마다 돌아가는</a:t>
            </a:r>
            <a:r>
              <a:rPr b="0" sz="1500">
                <a:solidFill>
                  <a:srgbClr val="5C636B"/>
                </a:solidFill>
                <a:latin typeface="맑은 고딕"/>
              </a:rPr>
              <a:t> 회귀 테스트입니다. 전자는 규모를, 후자는 지속성을 증명합니다.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52881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178"/>
                </a:solidFill>
                <a:latin typeface="맑은 고딕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1"/>
            </a:pPr>
            <a:r>
              <a:rPr b="1" sz="4000">
                <a:solidFill>
                  <a:srgbClr val="191C1F"/>
                </a:solidFill>
                <a:latin typeface="맑은 고딕"/>
              </a:rPr>
              <a:t>11-3. 그리고 화면에서 직접 확인하실 수 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316735"/>
            <a:ext cx="10765231" cy="361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b="0" sz="1500">
                <a:solidFill>
                  <a:srgbClr val="5C636B"/>
                </a:solidFill>
                <a:latin typeface="맑은 고딕"/>
              </a:rPr>
              <a:t>측정치와 테스트는 저희가 한 말입니다. </a:t>
            </a:r>
            <a:r>
              <a:rPr b="1" sz="1500">
                <a:solidFill>
                  <a:srgbClr val="191C1F"/>
                </a:solidFill>
                <a:latin typeface="맑은 고딕"/>
              </a:rPr>
              <a:t>직접 눌러 보시는 편이 빠릅니다.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769215"/>
            <a:ext cx="10765231" cy="4141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b="0" sz="1500">
                <a:solidFill>
                  <a:srgbClr val="5C636B"/>
                </a:solidFill>
                <a:latin typeface="맑은 고딕"/>
              </a:rPr>
              <a:t>데모 화면의 「값을 바꾸면 판정이 바뀝니다」에서 사용자 상태를 바꾸면 판정이 </a:t>
            </a:r>
            <a:r>
              <a:rPr b="1" sz="1500">
                <a:solidFill>
                  <a:srgbClr val="191C1F"/>
                </a:solidFill>
                <a:latin typeface="맑은 고딕"/>
              </a:rPr>
              <a:t>즉시 다시 계산</a:t>
            </a:r>
            <a:r>
              <a:rPr b="0" sz="1500">
                <a:solidFill>
                  <a:srgbClr val="5C636B"/>
                </a:solidFill>
                <a:latin typeface="맑은 고딕"/>
              </a:rPr>
              <a:t>됩니다.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13232" y="2274789"/>
          <a:ext cx="1076523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0178"/>
                <a:gridCol w="7105052"/>
              </a:tblGrid>
              <a:tr h="237744">
                <a:tc>
                  <a:txBody>
                    <a:bodyPr wrap="square"/>
                    <a:lstStyle/>
                    <a:p>
                      <a:r>
                        <a:rPr b="1" sz="1100">
                          <a:solidFill>
                            <a:srgbClr val="191C1F"/>
                          </a:solidFill>
                          <a:latin typeface="맑은 고딕"/>
                        </a:rPr>
                        <a:t>눌러 보실 것</a:t>
                      </a:r>
                    </a:p>
                  </a:txBody>
                  <a:tcPr marL="73152" marR="73152" marT="27432" marB="27432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100">
                          <a:solidFill>
                            <a:srgbClr val="191C1F"/>
                          </a:solidFill>
                          <a:latin typeface="맑은 고딕"/>
                        </a:rPr>
                        <a:t>그때 일어나는 일</a:t>
                      </a:r>
                    </a:p>
                  </a:txBody>
                  <a:tcPr marL="73152" marR="73152" marT="27432" marB="27432" anchor="ctr">
                    <a:solidFill>
                      <a:srgbClr val="FBFAF8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b="0" sz="1100">
                          <a:solidFill>
                            <a:srgbClr val="5C636B"/>
                          </a:solidFill>
                          <a:latin typeface="맑은 고딕"/>
                        </a:rPr>
                        <a:t>해외원화결제(DCC) 차단 → </a:t>
                      </a:r>
                      <a:r>
                        <a:rPr sz="1100">
                          <a:solidFill>
                            <a:srgbClr val="5C636B"/>
                          </a:solidFill>
                          <a:latin typeface="Consolas"/>
                        </a:rPr>
                        <a:t>아니오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100">
                          <a:solidFill>
                            <a:srgbClr val="5C636B"/>
                          </a:solidFill>
                          <a:latin typeface="맑은 고딕"/>
                        </a:rPr>
                        <a:t>미충족 </a:t>
                      </a:r>
                      <a:r>
                        <a:rPr b="1" sz="1100">
                          <a:solidFill>
                            <a:srgbClr val="191C1F"/>
                          </a:solidFill>
                          <a:latin typeface="맑은 고딕"/>
                        </a:rPr>
                        <a:t>3 → 2</a:t>
                      </a:r>
                      <a:r>
                        <a:rPr b="0" sz="1100">
                          <a:solidFill>
                            <a:srgbClr val="5C636B"/>
                          </a:solidFill>
                          <a:latin typeface="맑은 고딕"/>
                        </a:rPr>
                        <a:t>. 판정은 여전히 </a:t>
                      </a:r>
                      <a:r>
                        <a:rPr sz="1100">
                          <a:solidFill>
                            <a:srgbClr val="5C636B"/>
                          </a:solidFill>
                          <a:latin typeface="Consolas"/>
                        </a:rPr>
                        <a:t>blocked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b="0" sz="1100">
                          <a:solidFill>
                            <a:srgbClr val="5C636B"/>
                          </a:solidFill>
                          <a:latin typeface="맑은 고딕"/>
                        </a:rPr>
                        <a:t>막힌 조건 3개를 모두 해제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5C636B"/>
                          </a:solidFill>
                          <a:latin typeface="Consolas"/>
                        </a:rPr>
                        <a:t>blocked</a:t>
                      </a:r>
                      <a:r>
                        <a:rPr b="0" sz="1100">
                          <a:solidFill>
                            <a:srgbClr val="5C636B"/>
                          </a:solidFill>
                          <a:latin typeface="맑은 고딕"/>
                        </a:rPr>
                        <a:t> → </a:t>
                      </a:r>
                      <a:r>
                        <a:rPr b="1" sz="1100">
                          <a:solidFill>
                            <a:srgbClr val="191C1F"/>
                          </a:solidFill>
                          <a:latin typeface="맑은 고딕"/>
                        </a:rPr>
                        <a:t>`ok`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b="1" sz="1100">
                          <a:solidFill>
                            <a:srgbClr val="191C1F"/>
                          </a:solidFill>
                          <a:latin typeface="맑은 고딕"/>
                        </a:rPr>
                        <a:t>필수</a:t>
                      </a:r>
                      <a:r>
                        <a:rPr b="0" sz="1100">
                          <a:solidFill>
                            <a:srgbClr val="5C636B"/>
                          </a:solidFill>
                          <a:latin typeface="맑은 고딕"/>
                        </a:rPr>
                        <a:t> 조건을 → </a:t>
                      </a:r>
                      <a:r>
                        <a:rPr sz="1100">
                          <a:solidFill>
                            <a:srgbClr val="5C636B"/>
                          </a:solidFill>
                          <a:latin typeface="Consolas"/>
                        </a:rPr>
                        <a:t>모름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100">
                          <a:solidFill>
                            <a:srgbClr val="5C636B"/>
                          </a:solidFill>
                          <a:latin typeface="맑은 고딕"/>
                        </a:rPr>
                        <a:t>그 조건이 </a:t>
                      </a:r>
                      <a:r>
                        <a:rPr sz="1100">
                          <a:solidFill>
                            <a:srgbClr val="5C636B"/>
                          </a:solidFill>
                          <a:latin typeface="Consolas"/>
                        </a:rPr>
                        <a:t>unknown</a:t>
                      </a:r>
                      <a:r>
                        <a:rPr b="0" sz="1100">
                          <a:solidFill>
                            <a:srgbClr val="5C636B"/>
                          </a:solidFill>
                          <a:latin typeface="맑은 고딕"/>
                        </a:rPr>
                        <a:t> 으로 이동, 판정이 </a:t>
                      </a:r>
                      <a:r>
                        <a:rPr sz="1100">
                          <a:solidFill>
                            <a:srgbClr val="5C636B"/>
                          </a:solidFill>
                          <a:latin typeface="Consolas"/>
                        </a:rPr>
                        <a:t>확인할 수 없습니다</a:t>
                      </a:r>
                      <a:r>
                        <a:rPr b="0" sz="1100">
                          <a:solidFill>
                            <a:srgbClr val="5C636B"/>
                          </a:solidFill>
                          <a:latin typeface="맑은 고딕"/>
                        </a:rPr>
                        <a:t> 로 바뀝니다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b="1" sz="1100">
                          <a:solidFill>
                            <a:srgbClr val="191C1F"/>
                          </a:solidFill>
                          <a:latin typeface="맑은 고딕"/>
                        </a:rPr>
                        <a:t>참고</a:t>
                      </a:r>
                      <a:r>
                        <a:rPr b="0" sz="1100">
                          <a:solidFill>
                            <a:srgbClr val="5C636B"/>
                          </a:solidFill>
                          <a:latin typeface="맑은 고딕"/>
                        </a:rPr>
                        <a:t> 조건을 → </a:t>
                      </a:r>
                      <a:r>
                        <a:rPr sz="1100">
                          <a:solidFill>
                            <a:srgbClr val="5C636B"/>
                          </a:solidFill>
                          <a:latin typeface="Consolas"/>
                        </a:rPr>
                        <a:t>모름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5C636B"/>
                          </a:solidFill>
                          <a:latin typeface="Consolas"/>
                        </a:rPr>
                        <a:t>unknown</a:t>
                      </a:r>
                      <a:r>
                        <a:rPr b="0" sz="1100">
                          <a:solidFill>
                            <a:srgbClr val="5C636B"/>
                          </a:solidFill>
                          <a:latin typeface="맑은 고딕"/>
                        </a:rPr>
                        <a:t> 으로는 가지만 판정은 </a:t>
                      </a:r>
                      <a:r>
                        <a:rPr sz="1100">
                          <a:solidFill>
                            <a:srgbClr val="5C636B"/>
                          </a:solidFill>
                          <a:latin typeface="Consolas"/>
                        </a:rPr>
                        <a:t>가능합니다</a:t>
                      </a:r>
                      <a:r>
                        <a:rPr b="0" sz="1100">
                          <a:solidFill>
                            <a:srgbClr val="5C636B"/>
                          </a:solidFill>
                          <a:latin typeface="맑은 고딕"/>
                        </a:rPr>
                        <a:t> 그대로입니다. 판정은 필수 조건만 보기 때문이며, 화면이 «막는 조건은 없습니다. 다만 확인하지 못한 값 N개가 남아 있습니다» 로 밝힙니다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13232" y="4094445"/>
            <a:ext cx="32004" cy="513243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4094445"/>
            <a:ext cx="10600639" cy="51324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b="1" sz="1500">
                <a:solidFill>
                  <a:srgbClr val="191C1F"/>
                </a:solidFill>
                <a:latin typeface="맑은 고딕"/>
              </a:rPr>
              <a:t>하나만 풀어도 안 된다</a:t>
            </a:r>
            <a:r>
              <a:rPr b="0" sz="1500">
                <a:solidFill>
                  <a:srgbClr val="5C636B"/>
                </a:solidFill>
                <a:latin typeface="맑은 고딕"/>
              </a:rPr>
              <a:t>는 저희 주장이 화면에서 그대로 재현됩니다. 이 계산에도 LLM 은 없습니다. 값이 같으면 몇 번을 눌러도 같은 답이 나옵니다.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735704"/>
            <a:ext cx="10765231" cy="89198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b="1" sz="1500">
                <a:solidFill>
                  <a:srgbClr val="191C1F"/>
                </a:solidFill>
                <a:latin typeface="맑은 고딕"/>
              </a:rPr>
              <a:t>안전 장치.</a:t>
            </a:r>
            <a:r>
              <a:rPr b="0" sz="1500">
                <a:solidFill>
                  <a:srgbClr val="5C636B"/>
                </a:solidFill>
                <a:latin typeface="맑은 고딕"/>
              </a:rPr>
              <a:t> 바꾼 값은 </a:t>
            </a:r>
            <a:r>
              <a:rPr b="1" sz="1500">
                <a:solidFill>
                  <a:srgbClr val="191C1F"/>
                </a:solidFill>
                <a:latin typeface="맑은 고딕"/>
              </a:rPr>
              <a:t>그 요청에만</a:t>
            </a:r>
            <a:r>
              <a:rPr b="0" sz="1500">
                <a:solidFill>
                  <a:srgbClr val="5C636B"/>
                </a:solidFill>
                <a:latin typeface="맑은 고딕"/>
              </a:rPr>
              <a:t> 적용되고 프로필 파일은 바뀌지 않습니다. </a:t>
            </a:r>
            <a:r>
              <a:rPr sz="1500">
                <a:solidFill>
                  <a:srgbClr val="5C636B"/>
                </a:solidFill>
                <a:latin typeface="Consolas"/>
              </a:rPr>
              <a:t>card</a:t>
            </a:r>
            <a:r>
              <a:rPr b="0" sz="1500">
                <a:solidFill>
                  <a:srgbClr val="5C636B"/>
                </a:solidFill>
                <a:latin typeface="맑은 고딕"/>
              </a:rPr>
              <a:t> · </a:t>
            </a:r>
            <a:r>
              <a:rPr sz="1500">
                <a:solidFill>
                  <a:srgbClr val="5C636B"/>
                </a:solidFill>
                <a:latin typeface="Consolas"/>
              </a:rPr>
              <a:t>account</a:t>
            </a:r>
            <a:r>
              <a:rPr b="0" sz="1500">
                <a:solidFill>
                  <a:srgbClr val="5C636B"/>
                </a:solidFill>
                <a:latin typeface="맑은 고딕"/>
              </a:rPr>
              <a:t> · </a:t>
            </a:r>
            <a:r>
              <a:rPr sz="1500">
                <a:solidFill>
                  <a:srgbClr val="5C636B"/>
                </a:solidFill>
                <a:latin typeface="Consolas"/>
              </a:rPr>
              <a:t>context</a:t>
            </a:r>
            <a:r>
              <a:rPr b="0" sz="1500">
                <a:solidFill>
                  <a:srgbClr val="5C636B"/>
                </a:solidFill>
                <a:latin typeface="맑은 고딕"/>
              </a:rPr>
              <a:t> 안에 </a:t>
            </a:r>
            <a:r>
              <a:rPr b="1" sz="1500">
                <a:solidFill>
                  <a:srgbClr val="191C1F"/>
                </a:solidFill>
                <a:latin typeface="맑은 고딕"/>
              </a:rPr>
              <a:t>이미 있는 키만</a:t>
            </a:r>
            <a:r>
              <a:rPr b="0" sz="1500">
                <a:solidFill>
                  <a:srgbClr val="5C636B"/>
                </a:solidFill>
                <a:latin typeface="맑은 고딕"/>
              </a:rPr>
              <a:t> 바꿀 수 있습니다. 없는 키를 만들 수 있게 하면 조건 트리에 없는 상태를 지어내는 셈이고, 그 값이 맞는지는 아무도 보증할 수 없습니다. (</a:t>
            </a:r>
            <a:r>
              <a:rPr sz="1500">
                <a:solidFill>
                  <a:srgbClr val="5C636B"/>
                </a:solidFill>
                <a:latin typeface="Consolas"/>
              </a:rPr>
              <a:t>tests/test_overrides.py</a:t>
            </a:r>
            <a:r>
              <a:rPr b="0" sz="1500">
                <a:solidFill>
                  <a:srgbClr val="5C636B"/>
                </a:solidFill>
                <a:latin typeface="맑은 고딕"/>
              </a:rPr>
              <a:t> 가 지킵니다)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52881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178"/>
                </a:solidFill>
                <a:latin typeface="맑은 고딕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1"/>
            </a:pPr>
            <a:r>
              <a:rPr b="1" sz="4000">
                <a:solidFill>
                  <a:srgbClr val="191C1F"/>
                </a:solidFill>
                <a:latin typeface="맑은 고딕"/>
              </a:rPr>
              <a:t>11-1. 판정은 3값입니다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13232" y="1316735"/>
          <a:ext cx="10765230" cy="9509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0178"/>
                <a:gridCol w="7105052"/>
              </a:tblGrid>
              <a:tr h="237744">
                <a:tc>
                  <a:txBody>
                    <a:bodyPr wrap="square"/>
                    <a:lstStyle/>
                    <a:p>
                      <a:r>
                        <a:rPr b="1" sz="1250">
                          <a:solidFill>
                            <a:srgbClr val="191C1F"/>
                          </a:solidFill>
                          <a:latin typeface="맑은 고딕"/>
                        </a:rPr>
                        <a:t>값</a:t>
                      </a:r>
                    </a:p>
                  </a:txBody>
                  <a:tcPr marL="73152" marR="73152" marT="27432" marB="27432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50">
                          <a:solidFill>
                            <a:srgbClr val="191C1F"/>
                          </a:solidFill>
                          <a:latin typeface="맑은 고딕"/>
                        </a:rPr>
                        <a:t>뜻</a:t>
                      </a:r>
                    </a:p>
                  </a:txBody>
                  <a:tcPr marL="73152" marR="73152" marT="27432" marB="27432" anchor="ctr">
                    <a:solidFill>
                      <a:srgbClr val="FBFAF8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5C636B"/>
                          </a:solidFill>
                          <a:latin typeface="Consolas"/>
                        </a:rPr>
                        <a:t>blocked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차단 조건이 미충족 — 지금은 되지 않습니다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b="1" sz="1250">
                          <a:solidFill>
                            <a:srgbClr val="191C1F"/>
                          </a:solidFill>
                          <a:latin typeface="맑은 고딕"/>
                        </a:rPr>
                        <a:t>`indeterminate`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미충족은 없지만 </a:t>
                      </a:r>
                      <a:r>
                        <a:rPr b="1" sz="1250">
                          <a:solidFill>
                            <a:srgbClr val="191C1F"/>
                          </a:solidFill>
                          <a:latin typeface="맑은 고딕"/>
                        </a:rPr>
                        <a:t>판정에 필요한 값을 몰라</a:t>
                      </a:r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 된다고 말할 수 없습니다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5C636B"/>
                          </a:solidFill>
                          <a:latin typeface="Consolas"/>
                        </a:rPr>
                        <a:t>ok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차단 조건을 전부 확인했고 모두 충족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713232" y="2505455"/>
            <a:ext cx="32004" cy="573417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2505455"/>
            <a:ext cx="10600639" cy="57341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500">
                <a:solidFill>
                  <a:srgbClr val="5C636B"/>
                </a:solidFill>
                <a:latin typeface="Consolas"/>
              </a:rPr>
              <a:t>indeterminate</a:t>
            </a:r>
            <a:r>
              <a:rPr b="0" sz="1500">
                <a:solidFill>
                  <a:srgbClr val="5C636B"/>
                </a:solidFill>
                <a:latin typeface="맑은 고딕"/>
              </a:rPr>
              <a:t> 가 있는 이유 — </a:t>
            </a:r>
            <a:r>
              <a:rPr b="1" sz="1500">
                <a:solidFill>
                  <a:srgbClr val="191C1F"/>
                </a:solidFill>
                <a:latin typeface="맑은 고딕"/>
              </a:rPr>
              <a:t>모르는 상태에서 "됩니다"라고 답하지 않기 위해서</a:t>
            </a:r>
            <a:r>
              <a:rPr b="0" sz="1500">
                <a:solidFill>
                  <a:srgbClr val="5C636B"/>
                </a:solidFill>
                <a:latin typeface="맑은 고딕"/>
              </a:rPr>
              <a:t>입니다. 값을 모르는데 </a:t>
            </a:r>
            <a:r>
              <a:rPr sz="1500">
                <a:solidFill>
                  <a:srgbClr val="5C636B"/>
                </a:solidFill>
                <a:latin typeface="Consolas"/>
              </a:rPr>
              <a:t>ok</a:t>
            </a:r>
            <a:r>
              <a:rPr b="0" sz="1500">
                <a:solidFill>
                  <a:srgbClr val="5C636B"/>
                </a:solidFill>
                <a:latin typeface="맑은 고딕"/>
              </a:rPr>
              <a:t> 를 주면 그건 추측이고, 이 시스템의 설계 원칙 위반입니다.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206888"/>
            <a:ext cx="10765231" cy="51324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b="0" sz="1500">
                <a:solidFill>
                  <a:srgbClr val="5C636B"/>
                </a:solidFill>
                <a:latin typeface="맑은 고딕"/>
              </a:rPr>
              <a:t>전부 ✓/✕ 로 채운 화면이 더 깔끔해 보이지만, </a:t>
            </a:r>
            <a:r>
              <a:rPr b="1" sz="1500">
                <a:solidFill>
                  <a:srgbClr val="191C1F"/>
                </a:solidFill>
                <a:latin typeface="맑은 고딕"/>
              </a:rPr>
              <a:t>모르는 것을 안다고 표시하는 것이 거짓말</a:t>
            </a:r>
            <a:r>
              <a:rPr b="0" sz="1500">
                <a:solidFill>
                  <a:srgbClr val="5C636B"/>
                </a:solidFill>
                <a:latin typeface="맑은 고딕"/>
              </a:rPr>
              <a:t>입니다. 그래서 </a:t>
            </a:r>
            <a:r>
              <a:rPr sz="1500">
                <a:solidFill>
                  <a:srgbClr val="5C636B"/>
                </a:solidFill>
                <a:latin typeface="Consolas"/>
              </a:rPr>
              <a:t>unknown</a:t>
            </a:r>
            <a:r>
              <a:rPr b="0" sz="1500">
                <a:solidFill>
                  <a:srgbClr val="5C636B"/>
                </a:solidFill>
                <a:latin typeface="맑은 고딕"/>
              </a:rPr>
              <a:t> 을 화면에 그대로 노출합니다.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52881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178"/>
                </a:solidFill>
                <a:latin typeface="맑은 고딕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1"/>
            </a:pPr>
            <a:r>
              <a:rPr b="1" sz="4000">
                <a:solidFill>
                  <a:srgbClr val="191C1F"/>
                </a:solidFill>
                <a:latin typeface="맑은 고딕"/>
              </a:rPr>
              <a:t>12. 해결 계획 — "하나만 풀면 되나요?"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316735"/>
            <a:ext cx="10765231" cy="4884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b="0" sz="1500">
                <a:solidFill>
                  <a:srgbClr val="5C636B"/>
                </a:solidFill>
                <a:latin typeface="맑은 고딕"/>
              </a:rPr>
              <a:t>조건을 나열해 주는 것만으로는 이 프로젝트가 시작된 경험이 해결되지 않습니다. </a:t>
            </a:r>
            <a:r>
              <a:rPr b="1" sz="1500">
                <a:solidFill>
                  <a:srgbClr val="191C1F"/>
                </a:solidFill>
                <a:latin typeface="맑은 고딕"/>
              </a:rPr>
              <a:t>하나를 풀어도 여전히 막힌다는 사실</a:t>
            </a:r>
            <a:r>
              <a:rPr b="0" sz="1500">
                <a:solidFill>
                  <a:srgbClr val="5C636B"/>
                </a:solidFill>
                <a:latin typeface="맑은 고딕"/>
              </a:rPr>
              <a:t>을 먼저 말해야 합니다.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1896641"/>
            <a:ext cx="10765231" cy="2605582"/>
          </a:xfrm>
          <a:prstGeom prst="rect">
            <a:avLst/>
          </a:prstGeom>
          <a:solidFill>
            <a:srgbClr val="FBFAF8"/>
          </a:solidFill>
          <a:ln>
            <a:solidFill>
              <a:srgbClr val="E4E1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64008" bIns="64008"/>
          <a:lstStyle/>
          <a:p>
            <a:pPr algn="l">
              <a:lnSpc>
                <a:spcPct val="100000"/>
              </a:lnSpc>
            </a:pPr>
            <a:r>
              <a:rPr sz="1250">
                <a:solidFill>
                  <a:srgbClr val="5C636B"/>
                </a:solidFill>
                <a:latin typeface="Consolas"/>
              </a:rPr>
              <a:t>판정 — 조건 11개 중  미충족 3 · 확인불가 1</a:t>
            </a:r>
          </a:p>
          <a:p>
            <a:pPr algn="l">
              <a:lnSpc>
                <a:spcPct val="100000"/>
              </a:lnSpc>
            </a:pPr>
            <a:r>
              <a:rPr sz="1250">
                <a:solidFill>
                  <a:srgbClr val="5C636B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250">
                <a:solidFill>
                  <a:srgbClr val="5C636B"/>
                </a:solidFill>
                <a:latin typeface="Consolas"/>
              </a:rPr>
              <a:t>  ✕ 해외원화결제(DCC) 차단 해제   앱에서 가능: KB Pay</a:t>
            </a:r>
          </a:p>
          <a:p>
            <a:pPr algn="l">
              <a:lnSpc>
                <a:spcPct val="100000"/>
              </a:lnSpc>
            </a:pPr>
            <a:r>
              <a:rPr sz="1250">
                <a:solidFill>
                  <a:srgbClr val="5C636B"/>
                </a:solidFill>
                <a:latin typeface="Consolas"/>
              </a:rPr>
              <a:t>  ✕ 해외거래정지 해제             앱에서 가능: KB Pay</a:t>
            </a:r>
          </a:p>
          <a:p>
            <a:pPr algn="l">
              <a:lnSpc>
                <a:spcPct val="100000"/>
              </a:lnSpc>
            </a:pPr>
            <a:r>
              <a:rPr sz="1250">
                <a:solidFill>
                  <a:srgbClr val="5C636B"/>
                </a:solidFill>
                <a:latin typeface="Consolas"/>
              </a:rPr>
              <a:t>  ✕ IC칩 비밀번호 등록            앱 밖에서만: 영업점 또는 ATM</a:t>
            </a:r>
          </a:p>
          <a:p>
            <a:pPr algn="l">
              <a:lnSpc>
                <a:spcPct val="100000"/>
              </a:lnSpc>
            </a:pPr>
            <a:r>
              <a:rPr sz="1250">
                <a:solidFill>
                  <a:srgbClr val="5C636B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250">
                <a:solidFill>
                  <a:srgbClr val="5C636B"/>
                </a:solidFill>
                <a:latin typeface="Consolas"/>
              </a:rPr>
              <a:t>  ── 하나만 풀면 되나요? ─────────────────────────────</a:t>
            </a:r>
          </a:p>
          <a:p>
            <a:pPr algn="l">
              <a:lnSpc>
                <a:spcPct val="100000"/>
              </a:lnSpc>
            </a:pPr>
            <a:r>
              <a:rPr sz="1250">
                <a:solidFill>
                  <a:srgbClr val="5C636B"/>
                </a:solidFill>
                <a:latin typeface="Consolas"/>
              </a:rPr>
              <a:t>  3개 중 어느 하나만 해결   →  여전히 안 됩니다 · 필수 조건 2개 남음</a:t>
            </a:r>
          </a:p>
          <a:p>
            <a:pPr algn="l">
              <a:lnSpc>
                <a:spcPct val="100000"/>
              </a:lnSpc>
            </a:pPr>
            <a:r>
              <a:rPr sz="1250">
                <a:solidFill>
                  <a:srgbClr val="5C636B"/>
                </a:solidFill>
                <a:latin typeface="Consolas"/>
              </a:rPr>
              <a:t>  앱에서 할 수 있는 것 모두 →  여전히 안 됩니다 · 필수 조건 1개 남음</a:t>
            </a:r>
          </a:p>
          <a:p>
            <a:pPr algn="l">
              <a:lnSpc>
                <a:spcPct val="100000"/>
              </a:lnSpc>
            </a:pPr>
            <a:r>
              <a:rPr sz="1250">
                <a:solidFill>
                  <a:srgbClr val="5C636B"/>
                </a:solidFill>
                <a:latin typeface="Consolas"/>
              </a:rPr>
              <a:t>  3개 모두                 →  됩니다</a:t>
            </a:r>
          </a:p>
          <a:p>
            <a:pPr algn="l">
              <a:lnSpc>
                <a:spcPct val="100000"/>
              </a:lnSpc>
            </a:pPr>
            <a:r>
              <a:rPr sz="1250">
                <a:solidFill>
                  <a:srgbClr val="5C636B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250">
                <a:solidFill>
                  <a:srgbClr val="5C636B"/>
                </a:solidFill>
                <a:latin typeface="Consolas"/>
              </a:rPr>
              <a:t>  ※ 서버는 5행을 다 내지만, 결과가 같은 행은 화면에서 묶습니다.</a:t>
            </a:r>
          </a:p>
          <a:p>
            <a:pPr algn="l">
              <a:lnSpc>
                <a:spcPct val="100000"/>
              </a:lnSpc>
            </a:pPr>
            <a:r>
              <a:rPr sz="1250">
                <a:solidFill>
                  <a:srgbClr val="5C636B"/>
                </a:solidFill>
                <a:latin typeface="Consolas"/>
              </a:rPr>
              <a:t>     같은 문장을 세로로 쌓아도 정보가 늘지 않기 때문입니다.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648527"/>
            <a:ext cx="10765231" cy="5769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b="1" sz="1500">
                <a:solidFill>
                  <a:srgbClr val="191C1F"/>
                </a:solidFill>
                <a:latin typeface="맑은 고딕"/>
              </a:rPr>
              <a:t>이 계산에도 LLM을 쓰지 않습니다.</a:t>
            </a:r>
            <a:r>
              <a:rPr b="0" sz="1500">
                <a:solidFill>
                  <a:srgbClr val="5C636B"/>
                </a:solidFill>
                <a:latin typeface="맑은 고딕"/>
              </a:rPr>
              <a:t> 판정 결과를 집합 연산으로 다시 평가할 뿐이며, </a:t>
            </a:r>
            <a:r>
              <a:rPr b="1" sz="1500">
                <a:solidFill>
                  <a:srgbClr val="191C1F"/>
                </a:solidFill>
                <a:latin typeface="맑은 고딕"/>
              </a:rPr>
              <a:t>없는 사용자 값을 지어내지 않습니다</a:t>
            </a:r>
            <a:r>
              <a:rPr b="0" sz="1500">
                <a:solidFill>
                  <a:srgbClr val="5C636B"/>
                </a:solidFill>
                <a:latin typeface="맑은 고딕"/>
              </a:rPr>
              <a:t> — 값을 만들면 그 값이 맞는지 아무도 보증할 수 없습니다.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52881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178"/>
                </a:solidFill>
                <a:latin typeface="맑은 고딕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1"/>
            </a:pPr>
            <a:r>
              <a:rPr b="1" sz="4000">
                <a:solidFill>
                  <a:srgbClr val="191C1F"/>
                </a:solidFill>
                <a:latin typeface="맑은 고딕"/>
              </a:rPr>
              <a:t>13. 측정 결과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13232" y="1316735"/>
          <a:ext cx="10765230" cy="26151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8960"/>
                <a:gridCol w="3983135"/>
                <a:gridCol w="3983135"/>
              </a:tblGrid>
              <a:tr h="237744">
                <a:tc>
                  <a:txBody>
                    <a:bodyPr wrap="square"/>
                    <a:lstStyle/>
                    <a:p>
                      <a:r>
                        <a:rPr b="1" sz="1250">
                          <a:solidFill>
                            <a:srgbClr val="191C1F"/>
                          </a:solidFill>
                          <a:latin typeface="맑은 고딕"/>
                        </a:rPr>
                        <a:t>지표</a:t>
                      </a:r>
                    </a:p>
                  </a:txBody>
                  <a:tcPr marL="73152" marR="73152" marT="27432" marB="27432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50">
                          <a:solidFill>
                            <a:srgbClr val="191C1F"/>
                          </a:solidFill>
                          <a:latin typeface="맑은 고딕"/>
                        </a:rPr>
                        <a:t>방법</a:t>
                      </a:r>
                    </a:p>
                  </a:txBody>
                  <a:tcPr marL="73152" marR="73152" marT="27432" marB="27432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50">
                          <a:solidFill>
                            <a:srgbClr val="191C1F"/>
                          </a:solidFill>
                          <a:latin typeface="맑은 고딕"/>
                        </a:rPr>
                        <a:t>결과</a:t>
                      </a:r>
                    </a:p>
                  </a:txBody>
                  <a:tcPr marL="73152" marR="73152" marT="27432" marB="27432" anchor="ctr">
                    <a:solidFill>
                      <a:srgbClr val="FBFAF8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조건 추출 규모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문서 8건 → 청크 280 → 후보 276 → 병합 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50">
                          <a:solidFill>
                            <a:srgbClr val="191C1F"/>
                          </a:solidFill>
                          <a:latin typeface="맑은 고딕"/>
                        </a:rPr>
                        <a:t>조건 12개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검수 통과율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병합된 조건 중 트리에 들어간 비율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50">
                          <a:solidFill>
                            <a:srgbClr val="191C1F"/>
                          </a:solidFill>
                          <a:latin typeface="맑은 고딕"/>
                        </a:rPr>
                        <a:t>12 / 16 = 0.75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b="1" sz="1250">
                          <a:solidFill>
                            <a:srgbClr val="191C1F"/>
                          </a:solidFill>
                          <a:latin typeface="맑은 고딕"/>
                        </a:rPr>
                        <a:t>근거 실재율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트리의 모든 인용이 원문에 있는가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50">
                          <a:solidFill>
                            <a:srgbClr val="191C1F"/>
                          </a:solidFill>
                          <a:latin typeface="맑은 고딕"/>
                        </a:rPr>
                        <a:t>12 / 12 = 100%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근거 표시율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판정 결과에 근거가 붙는 비율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50">
                          <a:solidFill>
                            <a:srgbClr val="191C1F"/>
                          </a:solidFill>
                          <a:latin typeface="맑은 고딕"/>
                        </a:rPr>
                        <a:t>구조적 100%</a:t>
                      </a:r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 (스키마 필수)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앱 안에서 해결 가능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5C636B"/>
                          </a:solidFill>
                          <a:latin typeface="Consolas"/>
                        </a:rPr>
                        <a:t>actionable_in_app is True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해외결제 </a:t>
                      </a:r>
                      <a:r>
                        <a:rPr b="1" sz="1250">
                          <a:solidFill>
                            <a:srgbClr val="191C1F"/>
                          </a:solidFill>
                          <a:latin typeface="맑은 고딕"/>
                        </a:rPr>
                        <a:t>2 / 11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앱 밖에서 해결 (근거 확인됨)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5C636B"/>
                          </a:solidFill>
                          <a:latin typeface="Consolas"/>
                        </a:rPr>
                        <a:t>... is False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해외결제 </a:t>
                      </a:r>
                      <a:r>
                        <a:rPr b="1" sz="1250">
                          <a:solidFill>
                            <a:srgbClr val="191C1F"/>
                          </a:solidFill>
                          <a:latin typeface="맑은 고딕"/>
                        </a:rPr>
                        <a:t>3 / 11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b="1" sz="1250">
                          <a:solidFill>
                            <a:srgbClr val="191C1F"/>
                          </a:solidFill>
                          <a:latin typeface="맑은 고딕"/>
                        </a:rPr>
                        <a:t>해결 경로 미확인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5C636B"/>
                          </a:solidFill>
                          <a:latin typeface="Consolas"/>
                        </a:rPr>
                        <a:t>... is None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해외결제 </a:t>
                      </a:r>
                      <a:r>
                        <a:rPr b="1" sz="1250">
                          <a:solidFill>
                            <a:srgbClr val="191C1F"/>
                          </a:solidFill>
                          <a:latin typeface="맑은 고딕"/>
                        </a:rPr>
                        <a:t>6 / 11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결정론성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2,000회 반복 일치율 (1회성 실측)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50">
                          <a:solidFill>
                            <a:srgbClr val="191C1F"/>
                          </a:solidFill>
                          <a:latin typeface="맑은 고딕"/>
                        </a:rPr>
                        <a:t>100%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회귀 테스트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5C636B"/>
                          </a:solidFill>
                          <a:latin typeface="Consolas"/>
                        </a:rPr>
                        <a:t>pytest tests/</a:t>
                      </a:r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 — 결정론 1 · 엣지 6 · 상태변경 8 · 근거묶음 10 · 적용범위 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50">
                          <a:solidFill>
                            <a:srgbClr val="191C1F"/>
                          </a:solidFill>
                          <a:latin typeface="맑은 고딕"/>
                        </a:rPr>
                        <a:t>32 passed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수동 라벨 대비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정밀도 / 재현율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5C636B"/>
                          </a:solidFill>
                          <a:latin typeface="Consolas"/>
                        </a:rPr>
                        <a:t>eval/results/extraction_accuracy.md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957255" y="652881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178"/>
                </a:solidFill>
                <a:latin typeface="맑은 고딕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1"/>
            </a:pPr>
            <a:r>
              <a:rPr b="1" sz="4000">
                <a:solidFill>
                  <a:srgbClr val="191C1F"/>
                </a:solidFill>
                <a:latin typeface="맑은 고딕"/>
              </a:rPr>
              <a:t>13-1. 수동 라벨과의 차이를 정직하게 다룹니다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316735"/>
            <a:ext cx="10765231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200"/>
              </a:spcAft>
            </a:pPr>
            <a:r>
              <a:rPr sz="1500" b="1">
                <a:solidFill>
                  <a:srgbClr val="C19A2E"/>
                </a:solidFill>
                <a:latin typeface="맑은 고딕"/>
              </a:rPr>
              <a:t>· </a:t>
            </a:r>
            <a:r>
              <a:rPr b="0" sz="1500">
                <a:solidFill>
                  <a:srgbClr val="5C636B"/>
                </a:solidFill>
                <a:latin typeface="맑은 고딕"/>
              </a:rPr>
              <a:t>자동 추출이 </a:t>
            </a:r>
            <a:r>
              <a:rPr b="1" sz="1500">
                <a:solidFill>
                  <a:srgbClr val="191C1F"/>
                </a:solidFill>
                <a:latin typeface="맑은 고딕"/>
              </a:rPr>
              <a:t>라벨에 없던 유효 조건 4개</a:t>
            </a:r>
            <a:r>
              <a:rPr b="0" sz="1500">
                <a:solidFill>
                  <a:srgbClr val="5C636B"/>
                </a:solidFill>
                <a:latin typeface="맑은 고딕"/>
              </a:rPr>
              <a:t>를 새로 찾았습니다 (IC칩 비밀번호 · 명의도용 차단 · 카드 잠김 · 1일 한도)</a:t>
            </a:r>
          </a:p>
          <a:p>
            <a:pPr>
              <a:lnSpc>
                <a:spcPct val="135000"/>
              </a:lnSpc>
              <a:spcAft>
                <a:spcPts val="200"/>
              </a:spcAft>
            </a:pPr>
            <a:r>
              <a:rPr sz="1500" b="1">
                <a:solidFill>
                  <a:srgbClr val="C19A2E"/>
                </a:solidFill>
                <a:latin typeface="맑은 고딕"/>
              </a:rPr>
              <a:t>· </a:t>
            </a:r>
            <a:r>
              <a:rPr b="0" sz="1500">
                <a:solidFill>
                  <a:srgbClr val="5C636B"/>
                </a:solidFill>
                <a:latin typeface="맑은 고딕"/>
              </a:rPr>
              <a:t>반대로 라벨에만 있던 1건은 </a:t>
            </a:r>
            <a:r>
              <a:rPr b="1" sz="1500">
                <a:solidFill>
                  <a:srgbClr val="191C1F"/>
                </a:solidFill>
                <a:latin typeface="맑은 고딕"/>
              </a:rPr>
              <a:t>검토 결과 라벨 쪽이 틀렸습니다</a:t>
            </a:r>
            <a:r>
              <a:rPr b="0" sz="1500">
                <a:solidFill>
                  <a:srgbClr val="5C636B"/>
                </a:solidFill>
                <a:latin typeface="맑은 고딕"/>
              </a:rPr>
              <a:t> — 방향을 뒤집어 만든 조건이었고, LLM 이 조건이 아니라고 판정한 것이 옳았습니다</a:t>
            </a:r>
          </a:p>
          <a:p>
            <a:pPr>
              <a:lnSpc>
                <a:spcPct val="135000"/>
              </a:lnSpc>
              <a:spcAft>
                <a:spcPts val="200"/>
              </a:spcAft>
            </a:pPr>
            <a:r>
              <a:rPr sz="1500" b="1">
                <a:solidFill>
                  <a:srgbClr val="C19A2E"/>
                </a:solidFill>
                <a:latin typeface="맑은 고딕"/>
              </a:rPr>
              <a:t>· </a:t>
            </a:r>
            <a:r>
              <a:rPr b="1" sz="1500">
                <a:solidFill>
                  <a:srgbClr val="191C1F"/>
                </a:solidFill>
                <a:latin typeface="맑은 고딕"/>
              </a:rPr>
              <a:t>라벨 파일은 고치지 않았습니다.</a:t>
            </a:r>
            <a:r>
              <a:rPr b="0" sz="1500">
                <a:solidFill>
                  <a:srgbClr val="5C636B"/>
                </a:solidFill>
                <a:latin typeface="맑은 고딕"/>
              </a:rPr>
              <a:t> 자를 나중에 고치면 그 자로 잰 수치가 의미를 잃습니다. 결함은 </a:t>
            </a:r>
            <a:r>
              <a:rPr sz="1500">
                <a:solidFill>
                  <a:srgbClr val="5C636B"/>
                </a:solidFill>
                <a:latin typeface="Consolas"/>
              </a:rPr>
              <a:t>eval/labels/errata.yaml</a:t>
            </a:r>
            <a:r>
              <a:rPr b="0" sz="1500">
                <a:solidFill>
                  <a:srgbClr val="5C636B"/>
                </a:solidFill>
                <a:latin typeface="맑은 고딕"/>
              </a:rPr>
              <a:t> 에 기록하고 보고서가 함께 출력합니다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7255" y="652881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178"/>
                </a:solidFill>
                <a:latin typeface="맑은 고딕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1"/>
            </a:pPr>
            <a:r>
              <a:rPr b="1" sz="4000">
                <a:solidFill>
                  <a:srgbClr val="191C1F"/>
                </a:solidFill>
                <a:latin typeface="맑은 고딕"/>
              </a:rPr>
              <a:t>14. 한계 — 숨기지 않습니다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13232" y="1316735"/>
          <a:ext cx="1076523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8960"/>
                <a:gridCol w="3983135"/>
                <a:gridCol w="3983135"/>
              </a:tblGrid>
              <a:tr h="237744">
                <a:tc>
                  <a:txBody>
                    <a:bodyPr wrap="square"/>
                    <a:lstStyle/>
                    <a:p>
                      <a:r>
                        <a:rPr b="1" sz="1100">
                          <a:solidFill>
                            <a:srgbClr val="191C1F"/>
                          </a:solidFill>
                          <a:latin typeface="맑은 고딕"/>
                        </a:rPr>
                        <a:t>한계</a:t>
                      </a:r>
                    </a:p>
                  </a:txBody>
                  <a:tcPr marL="73152" marR="73152" marT="27432" marB="27432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100">
                          <a:solidFill>
                            <a:srgbClr val="191C1F"/>
                          </a:solidFill>
                          <a:latin typeface="맑은 고딕"/>
                        </a:rPr>
                        <a:t>우리의 처리</a:t>
                      </a:r>
                    </a:p>
                  </a:txBody>
                  <a:tcPr marL="73152" marR="73152" marT="27432" marB="27432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73152" marR="73152" marT="27432" marB="27432" anchor="ctr">
                    <a:solidFill>
                      <a:srgbClr val="FBFAF8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b="1" sz="1100">
                          <a:solidFill>
                            <a:srgbClr val="191C1F"/>
                          </a:solidFill>
                          <a:latin typeface="맑은 고딕"/>
                        </a:rPr>
                        <a:t>사용자 상태는 가상입니다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100">
                          <a:solidFill>
                            <a:srgbClr val="5C636B"/>
                          </a:solidFill>
                          <a:latin typeface="맑은 고딕"/>
                        </a:rPr>
                        <a:t>실제 연동에는 내부 API가 필요합니다. 이 시스템에서 가짜는 상태 하나뿐이고, 조건·근거는 전부 실제 문서에서 나옵니다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b="0" sz="1100">
                          <a:solidFill>
                            <a:srgbClr val="5C636B"/>
                          </a:solidFill>
                          <a:latin typeface="맑은 고딕"/>
                        </a:rPr>
                        <a:t>판정 응답 0.056ms 는 </a:t>
                      </a:r>
                      <a:r>
                        <a:rPr b="1" sz="1100">
                          <a:solidFill>
                            <a:srgbClr val="191C1F"/>
                          </a:solidFill>
                          <a:latin typeface="맑은 고딕"/>
                        </a:rPr>
                        <a:t>로직 비용</a:t>
                      </a:r>
                      <a:r>
                        <a:rPr b="0" sz="1100">
                          <a:solidFill>
                            <a:srgbClr val="5C636B"/>
                          </a:solidFill>
                          <a:latin typeface="맑은 고딕"/>
                        </a:rPr>
                        <a:t>입니다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100">
                          <a:solidFill>
                            <a:srgbClr val="5C636B"/>
                          </a:solidFill>
                          <a:latin typeface="맑은 고딕"/>
                        </a:rPr>
                        <a:t>실제 서비스에는 상태 조회 시간이 더해집니다. 그래서 속도 배수를 강조하지 않습니다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b="0" sz="1100">
                          <a:solidFill>
                            <a:srgbClr val="5C636B"/>
                          </a:solidFill>
                          <a:latin typeface="맑은 고딕"/>
                        </a:rPr>
                        <a:t>약관은 개정됩니다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100">
                          <a:solidFill>
                            <a:srgbClr val="5C636B"/>
                          </a:solidFill>
                          <a:latin typeface="맑은 고딕"/>
                        </a:rPr>
                        <a:t>모든 조건에 </a:t>
                      </a:r>
                      <a:r>
                        <a:rPr b="1" sz="1100">
                          <a:solidFill>
                            <a:srgbClr val="191C1F"/>
                          </a:solidFill>
                          <a:latin typeface="맑은 고딕"/>
                        </a:rPr>
                        <a:t>수집 일자</a:t>
                      </a:r>
                      <a:r>
                        <a:rPr b="0" sz="1100">
                          <a:solidFill>
                            <a:srgbClr val="5C636B"/>
                          </a:solidFill>
                          <a:latin typeface="맑은 고딕"/>
                        </a:rPr>
                        <a:t>를 남기고, 트리의 유효성은 가장 낡은 근거를 따릅니다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b="0" sz="1100">
                          <a:solidFill>
                            <a:srgbClr val="5C636B"/>
                          </a:solidFill>
                          <a:latin typeface="맑은 고딕"/>
                        </a:rPr>
                        <a:t>표에서 뽑은 인용 1건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100">
                          <a:solidFill>
                            <a:srgbClr val="5C636B"/>
                          </a:solidFill>
                          <a:latin typeface="맑은 고딕"/>
                        </a:rPr>
                        <a:t>셀을 `\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100">
                          <a:solidFill>
                            <a:srgbClr val="5C636B"/>
                          </a:solidFill>
                          <a:latin typeface="맑은 고딕"/>
                        </a:rPr>
                        <a:t>` 로 이은 형태라 원문 HTML 검색으로는 나오지 않습니다 (각 셀은 실재). README에 명시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b="0" sz="1100">
                          <a:solidFill>
                            <a:srgbClr val="5C636B"/>
                          </a:solidFill>
                          <a:latin typeface="맑은 고딕"/>
                        </a:rPr>
                        <a:t>커버리지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100">
                          <a:solidFill>
                            <a:srgbClr val="5C636B"/>
                          </a:solidFill>
                          <a:latin typeface="맑은 고딕"/>
                        </a:rPr>
                        <a:t>지금은 목표 2종입니다. 조건 트리는 목표 단위로 </a:t>
                      </a:r>
                      <a:r>
                        <a:rPr b="1" sz="1100">
                          <a:solidFill>
                            <a:srgbClr val="191C1F"/>
                          </a:solidFill>
                          <a:latin typeface="맑은 고딕"/>
                        </a:rPr>
                        <a:t>추가되는 구조</a:t>
                      </a:r>
                      <a:r>
                        <a:rPr b="0" sz="1100">
                          <a:solidFill>
                            <a:srgbClr val="5C636B"/>
                          </a:solidFill>
                          <a:latin typeface="맑은 고딕"/>
                        </a:rPr>
                        <a:t>입니다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b="1" sz="1100">
                          <a:solidFill>
                            <a:srgbClr val="191C1F"/>
                          </a:solidFill>
                          <a:latin typeface="맑은 고딕"/>
                        </a:rPr>
                        <a:t>자연어 목표 식별은 아직 없습니다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100">
                          <a:solidFill>
                            <a:srgbClr val="5C636B"/>
                          </a:solidFill>
                          <a:latin typeface="맑은 고딕"/>
                        </a:rPr>
                        <a:t>목표가 2종이라 직접 선택으로 충분했고, LLM 을 데모 경로에 넣으면 실패 처리가 따라붙습니다. 15장 개발 계획 1단계입니다 — </a:t>
                      </a:r>
                      <a:r>
                        <a:rPr b="1" sz="1100">
                          <a:solidFill>
                            <a:srgbClr val="191C1F"/>
                          </a:solidFill>
                          <a:latin typeface="맑은 고딕"/>
                        </a:rPr>
                        <a:t>기획안 파이프라인 그림에도 구현·계획을 구분해 표시했습니다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b="0" sz="1100">
                          <a:solidFill>
                            <a:srgbClr val="5C636B"/>
                          </a:solidFill>
                          <a:latin typeface="맑은 고딕"/>
                        </a:rPr>
                        <a:t>수집 범위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5C636B"/>
                          </a:solidFill>
                          <a:latin typeface="Consolas"/>
                        </a:rPr>
                        <a:t>robots.txt</a:t>
                      </a:r>
                      <a:r>
                        <a:rPr b="0" sz="1100">
                          <a:solidFill>
                            <a:srgbClr val="5C636B"/>
                          </a:solidFill>
                          <a:latin typeface="맑은 고딕"/>
                        </a:rPr>
                        <a:t> 가 막은 페이지는 자동 수집하지 않고, 사람이 공개 안내 본문만 확보해 </a:t>
                      </a:r>
                      <a:r>
                        <a:rPr sz="1100">
                          <a:solidFill>
                            <a:srgbClr val="5C636B"/>
                          </a:solidFill>
                          <a:latin typeface="Consolas"/>
                        </a:rPr>
                        <a:t>collection_method: manual</a:t>
                      </a:r>
                      <a:r>
                        <a:rPr b="0" sz="1100">
                          <a:solidFill>
                            <a:srgbClr val="5C636B"/>
                          </a:solidFill>
                          <a:latin typeface="맑은 고딕"/>
                        </a:rPr>
                        <a:t> 로 기록합니다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713232" y="5788151"/>
            <a:ext cx="32004" cy="371659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5788151"/>
            <a:ext cx="10600639" cy="3716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b="1" sz="1500">
                <a:solidFill>
                  <a:srgbClr val="191C1F"/>
                </a:solidFill>
                <a:latin typeface="맑은 고딕"/>
              </a:rPr>
              <a:t>로그인 뒤 개인화 페이지는 수집하지 않습니다.</a:t>
            </a:r>
            <a:r>
              <a:rPr b="0" sz="1500">
                <a:solidFill>
                  <a:srgbClr val="5C636B"/>
                </a:solidFill>
                <a:latin typeface="맑은 고딕"/>
              </a:rPr>
              <a:t> 공시·안내 페이지만 사용합니다.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52881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178"/>
                </a:solidFill>
                <a:latin typeface="맑은 고딕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1"/>
            </a:pPr>
            <a:r>
              <a:rPr b="1" sz="4000">
                <a:solidFill>
                  <a:srgbClr val="191C1F"/>
                </a:solidFill>
                <a:latin typeface="맑은 고딕"/>
              </a:rPr>
              <a:t>15. 개발 계획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316735"/>
            <a:ext cx="10765231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1"/>
            </a:pPr>
            <a:r>
              <a:rPr b="1" sz="2700">
                <a:solidFill>
                  <a:srgbClr val="191C1F"/>
                </a:solidFill>
                <a:latin typeface="맑은 고딕"/>
              </a:rPr>
              <a:t>예선 이후 — 무엇을 어떤 순서로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13232" y="1901951"/>
          <a:ext cx="10765230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8960"/>
                <a:gridCol w="3983135"/>
                <a:gridCol w="3983135"/>
              </a:tblGrid>
              <a:tr h="237744">
                <a:tc>
                  <a:txBody>
                    <a:bodyPr wrap="square"/>
                    <a:lstStyle/>
                    <a:p>
                      <a:r>
                        <a:rPr b="1" sz="1250">
                          <a:solidFill>
                            <a:srgbClr val="191C1F"/>
                          </a:solidFill>
                          <a:latin typeface="맑은 고딕"/>
                        </a:rPr>
                        <a:t>단계</a:t>
                      </a:r>
                    </a:p>
                  </a:txBody>
                  <a:tcPr marL="73152" marR="73152" marT="27432" marB="27432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50">
                          <a:solidFill>
                            <a:srgbClr val="191C1F"/>
                          </a:solidFill>
                          <a:latin typeface="맑은 고딕"/>
                        </a:rPr>
                        <a:t>내용</a:t>
                      </a:r>
                    </a:p>
                  </a:txBody>
                  <a:tcPr marL="73152" marR="73152" marT="27432" marB="27432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50">
                          <a:solidFill>
                            <a:srgbClr val="191C1F"/>
                          </a:solidFill>
                          <a:latin typeface="맑은 고딕"/>
                        </a:rPr>
                        <a:t>검증 방법</a:t>
                      </a:r>
                    </a:p>
                  </a:txBody>
                  <a:tcPr marL="73152" marR="73152" marT="27432" marB="27432" anchor="ctr">
                    <a:solidFill>
                      <a:srgbClr val="FBFAF8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b="1" sz="1250">
                          <a:solidFill>
                            <a:srgbClr val="191C1F"/>
                          </a:solidFill>
                          <a:latin typeface="맑은 고딕"/>
                        </a:rPr>
                        <a:t>1. 목표 식별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자연어 질의 → goal_id (</a:t>
                      </a:r>
                      <a:r>
                        <a:rPr sz="1250">
                          <a:solidFill>
                            <a:srgbClr val="5C636B"/>
                          </a:solidFill>
                          <a:latin typeface="Consolas"/>
                        </a:rPr>
                        <a:t>src/resolve/</a:t>
                      </a:r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질의 100건 라벨 대비 정확도. 못 찾으면 </a:t>
                      </a:r>
                      <a:r>
                        <a:rPr i="1" sz="1250">
                          <a:solidFill>
                            <a:srgbClr val="5C636B"/>
                          </a:solidFill>
                          <a:latin typeface="맑은 고딕"/>
                        </a:rPr>
                        <a:t>"아직 다루지 않는 주제"</a:t>
                      </a:r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 로 정직하게 답함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b="1" sz="1250">
                          <a:solidFill>
                            <a:srgbClr val="191C1F"/>
                          </a:solidFill>
                          <a:latin typeface="맑은 고딕"/>
                        </a:rPr>
                        <a:t>2. 커버리지 확장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목표 2종 → 10종 (대출·카드발급·이체한도 등)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목표당 조건 추출 → 검수 통과율 유지 여부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b="1" sz="1250">
                          <a:solidFill>
                            <a:srgbClr val="191C1F"/>
                          </a:solidFill>
                          <a:latin typeface="맑은 고딕"/>
                        </a:rPr>
                        <a:t>3. 상태 연동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가상 프로필 → 내부 API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조회 실패 시 </a:t>
                      </a:r>
                      <a:r>
                        <a:rPr sz="1250">
                          <a:solidFill>
                            <a:srgbClr val="5C636B"/>
                          </a:solidFill>
                          <a:latin typeface="Consolas"/>
                        </a:rPr>
                        <a:t>unknown</a:t>
                      </a:r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 유지 (추측 금지)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b="1" sz="1250">
                          <a:solidFill>
                            <a:srgbClr val="191C1F"/>
                          </a:solidFill>
                          <a:latin typeface="맑은 고딕"/>
                        </a:rPr>
                        <a:t>4. 개정 감시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문서 재수집 → 조건 변경 감지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트리 diff 알림. 변경된 조건은 재검수 대상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b="1" sz="1250">
                          <a:solidFill>
                            <a:srgbClr val="191C1F"/>
                          </a:solidFill>
                          <a:latin typeface="맑은 고딕"/>
                        </a:rPr>
                        <a:t>5. 운영 지표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판정 후 실제 해결 여부 추적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"지목한 원인이 맞았는가" 사후 검증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13232" y="3931919"/>
            <a:ext cx="10765231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1"/>
            </a:pPr>
            <a:r>
              <a:rPr b="1" sz="1900">
                <a:solidFill>
                  <a:srgbClr val="5C636B"/>
                </a:solidFill>
                <a:latin typeface="맑은 고딕"/>
              </a:rPr>
              <a:t>확장이 쉬운 이유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4389119"/>
            <a:ext cx="10765231" cy="49554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b="0" sz="1500">
                <a:solidFill>
                  <a:srgbClr val="5C636B"/>
                </a:solidFill>
                <a:latin typeface="맑은 고딕"/>
              </a:rPr>
              <a:t>새 목표를 넣을 때 </a:t>
            </a:r>
            <a:r>
              <a:rPr b="1" sz="1500">
                <a:solidFill>
                  <a:srgbClr val="191C1F"/>
                </a:solidFill>
                <a:latin typeface="맑은 고딕"/>
              </a:rPr>
              <a:t>코드를 고치지 않습니다.</a:t>
            </a:r>
            <a:r>
              <a:rPr b="0" sz="1500">
                <a:solidFill>
                  <a:srgbClr val="5C636B"/>
                </a:solidFill>
                <a:latin typeface="맑은 고딕"/>
              </a:rPr>
              <a:t> </a:t>
            </a:r>
            <a:r>
              <a:rPr sz="1500">
                <a:solidFill>
                  <a:srgbClr val="5C636B"/>
                </a:solidFill>
                <a:latin typeface="Consolas"/>
              </a:rPr>
              <a:t>sources.yaml</a:t>
            </a:r>
            <a:r>
              <a:rPr b="0" sz="1500">
                <a:solidFill>
                  <a:srgbClr val="5C636B"/>
                </a:solidFill>
                <a:latin typeface="맑은 고딕"/>
              </a:rPr>
              <a:t> 에 문서를 추가하고 → 파이프라인을 돌리고 → 검수하면 트리가 생깁니다.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52881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178"/>
                </a:solidFill>
                <a:latin typeface="맑은 고딕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1"/>
            </a:pPr>
            <a:r>
              <a:rPr b="1" sz="4000">
                <a:solidFill>
                  <a:srgbClr val="191C1F"/>
                </a:solidFill>
                <a:latin typeface="맑은 고딕"/>
              </a:rPr>
              <a:t>15-1. 비워 둔 칸을 어떻게 메우는가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316735"/>
            <a:ext cx="10765231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1"/>
            </a:pPr>
            <a:r>
              <a:rPr b="1" sz="2700">
                <a:solidFill>
                  <a:srgbClr val="191C1F"/>
                </a:solidFill>
                <a:latin typeface="맑은 고딕"/>
              </a:rPr>
              <a:t>지금 조건 12개 중 6개는 해결 경로가 비어 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901951"/>
            <a:ext cx="10765231" cy="4743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b="0" sz="1500">
                <a:solidFill>
                  <a:srgbClr val="5C636B"/>
                </a:solidFill>
                <a:latin typeface="맑은 고딕"/>
              </a:rPr>
              <a:t>이것은 추출 실패가 아닙니다. </a:t>
            </a:r>
            <a:r>
              <a:rPr b="1" sz="1500">
                <a:solidFill>
                  <a:srgbClr val="191C1F"/>
                </a:solidFill>
                <a:latin typeface="맑은 고딕"/>
              </a:rPr>
              <a:t>문서에 없는 것</a:t>
            </a:r>
            <a:r>
              <a:rPr b="0" sz="1500">
                <a:solidFill>
                  <a:srgbClr val="5C636B"/>
                </a:solidFill>
                <a:latin typeface="맑은 고딕"/>
              </a:rPr>
              <a:t>입니다. 원문 전체를 다시 검색해 확인했고, 없다는 사실을 화면에 그대로 적었습니다.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13232" y="2467699"/>
          <a:ext cx="1076523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8960"/>
                <a:gridCol w="3983135"/>
                <a:gridCol w="3983135"/>
              </a:tblGrid>
              <a:tr h="237744">
                <a:tc>
                  <a:txBody>
                    <a:bodyPr wrap="square"/>
                    <a:lstStyle/>
                    <a:p>
                      <a:r>
                        <a:rPr b="1" sz="1250">
                          <a:solidFill>
                            <a:srgbClr val="191C1F"/>
                          </a:solidFill>
                          <a:latin typeface="맑은 고딕"/>
                        </a:rPr>
                        <a:t>왜 비었나</a:t>
                      </a:r>
                    </a:p>
                  </a:txBody>
                  <a:tcPr marL="73152" marR="73152" marT="27432" marB="27432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50">
                          <a:solidFill>
                            <a:srgbClr val="191C1F"/>
                          </a:solidFill>
                          <a:latin typeface="맑은 고딕"/>
                        </a:rPr>
                        <a:t>다음 단계</a:t>
                      </a:r>
                    </a:p>
                  </a:txBody>
                  <a:tcPr marL="73152" marR="73152" marT="27432" marB="27432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50">
                          <a:solidFill>
                            <a:srgbClr val="191C1F"/>
                          </a:solidFill>
                          <a:latin typeface="맑은 고딕"/>
                        </a:rPr>
                        <a:t>무엇으로 확인하나</a:t>
                      </a:r>
                    </a:p>
                  </a:txBody>
                  <a:tcPr marL="73152" marR="73152" marT="27432" marB="27432" anchor="ctr">
                    <a:solidFill>
                      <a:srgbClr val="FBFAF8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공개문서가 </a:t>
                      </a:r>
                      <a:r>
                        <a:rPr b="1" sz="1250">
                          <a:solidFill>
                            <a:srgbClr val="191C1F"/>
                          </a:solidFill>
                          <a:latin typeface="맑은 고딕"/>
                        </a:rPr>
                        <a:t>조건은 말하고 해결 방법은 말하지 않는다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수집 범위 확장 — 앱 내 도움말 · 고객센터 안내 · 상품 약관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근거가 붙은 조건 수 / </a:t>
                      </a:r>
                      <a:r>
                        <a:rPr b="1" sz="1250">
                          <a:solidFill>
                            <a:srgbClr val="191C1F"/>
                          </a:solidFill>
                          <a:latin typeface="맑은 고딕"/>
                        </a:rPr>
                        <a:t>여전히 빈 조건 수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문서에 없어 </a:t>
                      </a:r>
                      <a:r>
                        <a:rPr b="1" sz="1250">
                          <a:solidFill>
                            <a:srgbClr val="191C1F"/>
                          </a:solidFill>
                          <a:latin typeface="맑은 고딕"/>
                        </a:rPr>
                        <a:t>사람이 앱에서 직접 확인</a:t>
                      </a:r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한 건이 1개 (DCC)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실측을 기록 양식으로 고정 (</a:t>
                      </a:r>
                      <a:r>
                        <a:rPr sz="1250">
                          <a:solidFill>
                            <a:srgbClr val="5C636B"/>
                          </a:solidFill>
                          <a:latin typeface="Consolas"/>
                        </a:rPr>
                        <a:t>basis: measured</a:t>
                      </a:r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조건마다 측정 기록 파일이 붙는가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채널은 아는데 </a:t>
                      </a:r>
                      <a:r>
                        <a:rPr b="1" sz="1250">
                          <a:solidFill>
                            <a:srgbClr val="191C1F"/>
                          </a:solidFill>
                          <a:latin typeface="맑은 고딕"/>
                        </a:rPr>
                        <a:t>앱 안 경로</a:t>
                      </a:r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를 모른다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KB Pay 화면 매핑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그 링크가 실제로 그 설정 화면을 여는가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조건의 </a:t>
                      </a:r>
                      <a:r>
                        <a:rPr b="1" sz="1250">
                          <a:solidFill>
                            <a:srgbClr val="191C1F"/>
                          </a:solidFill>
                          <a:latin typeface="맑은 고딕"/>
                        </a:rPr>
                        <a:t>적용 대상</a:t>
                      </a:r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을 사람이 붙이고 있다 (</a:t>
                      </a:r>
                      <a:r>
                        <a:rPr sz="1250">
                          <a:solidFill>
                            <a:srgbClr val="5C636B"/>
                          </a:solidFill>
                          <a:latin typeface="Consolas"/>
                        </a:rPr>
                        <a:t>applies_when</a:t>
                      </a:r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추출 단계로 올린다 — 인용의 «체크카드의 경우» 같은 한정어를 형식화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사람이 붙인 것과 자동 추출이 일치하는가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13232" y="4442803"/>
            <a:ext cx="32004" cy="725620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4442803"/>
            <a:ext cx="10600639" cy="7256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b="1" sz="1500">
                <a:solidFill>
                  <a:srgbClr val="191C1F"/>
                </a:solidFill>
                <a:latin typeface="맑은 고딕"/>
              </a:rPr>
              <a:t>메우지 못하면 비워 둡니다.</a:t>
            </a:r>
            <a:r>
              <a:rPr b="0" sz="1500">
                <a:solidFill>
                  <a:srgbClr val="5C636B"/>
                </a:solidFill>
                <a:latin typeface="맑은 고딕"/>
              </a:rPr>
              <a:t> 6을 0으로 만드는 것이 목표가 아닙니다. 지금의 답은 </a:t>
            </a:r>
            <a:r>
              <a:rPr b="1" sz="1500">
                <a:solidFill>
                  <a:srgbClr val="191C1F"/>
                </a:solidFill>
                <a:latin typeface="맑은 고딕"/>
              </a:rPr>
              <a:t>빈 칸이 왜 비었는지 화면이 말하는 것</a:t>
            </a:r>
            <a:r>
              <a:rPr b="0" sz="1500">
                <a:solidFill>
                  <a:srgbClr val="5C636B"/>
                </a:solidFill>
                <a:latin typeface="맑은 고딕"/>
              </a:rPr>
              <a:t>이고, 다음 단계는 </a:t>
            </a:r>
            <a:r>
              <a:rPr b="1" sz="1500">
                <a:solidFill>
                  <a:srgbClr val="191C1F"/>
                </a:solidFill>
                <a:latin typeface="맑은 고딕"/>
              </a:rPr>
              <a:t>빈 칸을 줄이되 채운 근거를 함께 남기는 것</a:t>
            </a:r>
            <a:r>
              <a:rPr b="0" sz="1500">
                <a:solidFill>
                  <a:srgbClr val="5C636B"/>
                </a:solidFill>
                <a:latin typeface="맑은 고딕"/>
              </a:rPr>
              <a:t>입니다. 근거 없이 채우는 순간 이 시스템은 다른 종류의 물건이 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52881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178"/>
                </a:solidFill>
                <a:latin typeface="맑은 고딕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1"/>
            </a:pPr>
            <a:r>
              <a:rPr b="1" sz="4000">
                <a:solidFill>
                  <a:srgbClr val="191C1F"/>
                </a:solidFill>
                <a:latin typeface="맑은 고딕"/>
              </a:rPr>
              <a:t>16. 기술 실현 가능성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316735"/>
            <a:ext cx="10765231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1"/>
            </a:pPr>
            <a:r>
              <a:rPr b="1" sz="2700">
                <a:solidFill>
                  <a:srgbClr val="191C1F"/>
                </a:solidFill>
                <a:latin typeface="맑은 고딕"/>
              </a:rPr>
              <a:t>지금 돌아갑니다. 제3자도 돌릴 수 있습니다.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13232" y="1901951"/>
          <a:ext cx="1076523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0178"/>
                <a:gridCol w="7105052"/>
              </a:tblGrid>
              <a:tr h="237744">
                <a:tc>
                  <a:txBody>
                    <a:bodyPr wrap="square"/>
                    <a:lstStyle/>
                    <a:p>
                      <a:r>
                        <a:rPr b="1" sz="1250">
                          <a:solidFill>
                            <a:srgbClr val="191C1F"/>
                          </a:solidFill>
                          <a:latin typeface="맑은 고딕"/>
                        </a:rPr>
                        <a:t>배포</a:t>
                      </a:r>
                    </a:p>
                  </a:txBody>
                  <a:tcPr marL="73152" marR="73152" marT="27432" marB="27432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50">
                          <a:solidFill>
                            <a:srgbClr val="191C1F"/>
                          </a:solidFill>
                          <a:latin typeface="맑은 고딕"/>
                        </a:rPr>
                        <a:t>Vercel 서버리스 — </a:t>
                      </a:r>
                      <a:r>
                        <a:rPr b="1" sz="1250">
                          <a:solidFill>
                            <a:srgbClr val="191C1F"/>
                          </a:solidFill>
                          <a:latin typeface="맑은 고딕"/>
                        </a:rPr>
                        <a:t>https://kb-ai-challenge-2026.vercel.app</a:t>
                      </a:r>
                      <a:r>
                        <a:rPr b="1" sz="1250">
                          <a:solidFill>
                            <a:srgbClr val="191C1F"/>
                          </a:solidFill>
                          <a:latin typeface="맑은 고딕"/>
                        </a:rPr>
                        <a:t> (설치 없이 열립니다)</a:t>
                      </a:r>
                    </a:p>
                  </a:txBody>
                  <a:tcPr marL="73152" marR="73152" marT="27432" marB="27432" anchor="ctr">
                    <a:solidFill>
                      <a:srgbClr val="FBFAF8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b="1" sz="1250">
                          <a:solidFill>
                            <a:srgbClr val="191C1F"/>
                          </a:solidFill>
                          <a:latin typeface="맑은 고딕"/>
                        </a:rPr>
                        <a:t>배포본 의존성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5C636B"/>
                          </a:solidFill>
                          <a:latin typeface="Consolas"/>
                        </a:rPr>
                        <a:t>fastapi</a:t>
                      </a:r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 · </a:t>
                      </a:r>
                      <a:r>
                        <a:rPr sz="1250">
                          <a:solidFill>
                            <a:srgbClr val="5C636B"/>
                          </a:solidFill>
                          <a:latin typeface="Consolas"/>
                        </a:rPr>
                        <a:t>pydantic</a:t>
                      </a:r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 · </a:t>
                      </a:r>
                      <a:r>
                        <a:rPr sz="1250">
                          <a:solidFill>
                            <a:srgbClr val="5C636B"/>
                          </a:solidFill>
                          <a:latin typeface="Consolas"/>
                        </a:rPr>
                        <a:t>python-dotenv</a:t>
                      </a:r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 </a:t>
                      </a:r>
                      <a:r>
                        <a:rPr b="1" sz="1250">
                          <a:solidFill>
                            <a:srgbClr val="191C1F"/>
                          </a:solidFill>
                          <a:latin typeface="맑은 고딕"/>
                        </a:rPr>
                        <a:t>3개뿐 — `openai` 가 없습니다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코드 규모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파이썬 </a:t>
                      </a:r>
                      <a:r>
                        <a:rPr b="1" sz="1250">
                          <a:solidFill>
                            <a:srgbClr val="191C1F"/>
                          </a:solidFill>
                          <a:latin typeface="맑은 고딕"/>
                        </a:rPr>
                        <a:t>33개 파일 / 3,533줄</a:t>
                      </a:r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 (최대 파일 239줄)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외부 의존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개발 전체로도 8개(</a:t>
                      </a:r>
                      <a:r>
                        <a:rPr sz="1250">
                          <a:solidFill>
                            <a:srgbClr val="5C636B"/>
                          </a:solidFill>
                          <a:latin typeface="Consolas"/>
                        </a:rPr>
                        <a:t>requirements.txt</a:t>
                      </a:r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). </a:t>
                      </a:r>
                      <a:r>
                        <a:rPr b="1" sz="1250">
                          <a:solidFill>
                            <a:srgbClr val="191C1F"/>
                          </a:solidFill>
                          <a:latin typeface="맑은 고딕"/>
                        </a:rPr>
                        <a:t>HTML 파서도 표준 라이브러리</a:t>
                      </a:r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입니다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재현 절차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5C636B"/>
                          </a:solidFill>
                          <a:latin typeface="Consolas"/>
                        </a:rPr>
                        <a:t>docs/REPRODUCE.md</a:t>
                      </a:r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 — </a:t>
                      </a:r>
                      <a:r>
                        <a:rPr b="1" sz="1250">
                          <a:solidFill>
                            <a:srgbClr val="191C1F"/>
                          </a:solidFill>
                          <a:latin typeface="맑은 고딕"/>
                        </a:rPr>
                        <a:t>새 폴더에서 처음부터</a:t>
                      </a:r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 돌린 로그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13232" y="3694175"/>
            <a:ext cx="32004" cy="552179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7824" y="3694175"/>
            <a:ext cx="10600639" cy="5521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b="0" sz="1500">
                <a:solidFill>
                  <a:srgbClr val="5C636B"/>
                </a:solidFill>
                <a:latin typeface="맑은 고딕"/>
              </a:rPr>
              <a:t>배포본 의존성에 </a:t>
            </a:r>
            <a:r>
              <a:rPr sz="1500">
                <a:solidFill>
                  <a:srgbClr val="5C636B"/>
                </a:solidFill>
                <a:latin typeface="Consolas"/>
              </a:rPr>
              <a:t>openai</a:t>
            </a:r>
            <a:r>
              <a:rPr b="0" sz="1500">
                <a:solidFill>
                  <a:srgbClr val="5C636B"/>
                </a:solidFill>
                <a:latin typeface="맑은 고딕"/>
              </a:rPr>
              <a:t> 가 없다는 것은, </a:t>
            </a:r>
            <a:r>
              <a:rPr b="1" sz="1500">
                <a:solidFill>
                  <a:srgbClr val="191C1F"/>
                </a:solidFill>
                <a:latin typeface="맑은 고딕"/>
              </a:rPr>
              <a:t>판정에 LLM 이 없다는 사실이 의존성 목록에서 그대로 보인다</a:t>
            </a:r>
            <a:r>
              <a:rPr b="0" sz="1500">
                <a:solidFill>
                  <a:srgbClr val="5C636B"/>
                </a:solidFill>
                <a:latin typeface="맑은 고딕"/>
              </a:rPr>
              <a:t>는 뜻입니다. 그래서 배포 환경에 넣을 </a:t>
            </a:r>
            <a:r>
              <a:rPr b="1" sz="1500">
                <a:solidFill>
                  <a:srgbClr val="191C1F"/>
                </a:solidFill>
                <a:latin typeface="맑은 고딕"/>
              </a:rPr>
              <a:t>API 키도 없습니다.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74370"/>
            <a:ext cx="10765231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1"/>
            </a:pPr>
            <a:r>
              <a:rPr b="1" sz="1900">
                <a:solidFill>
                  <a:srgbClr val="5C636B"/>
                </a:solidFill>
                <a:latin typeface="맑은 고딕"/>
              </a:rPr>
              <a:t>재현 시험이 실제 결함을 잡았습니다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831570"/>
            <a:ext cx="10765231" cy="75039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>
                <a:solidFill>
                  <a:srgbClr val="5C636B"/>
                </a:solidFill>
                <a:latin typeface="Consolas"/>
              </a:rPr>
              <a:t>pip</a:t>
            </a:r>
            <a:r>
              <a:rPr b="0" sz="1500">
                <a:solidFill>
                  <a:srgbClr val="5C636B"/>
                </a:solidFill>
                <a:latin typeface="맑은 고딕"/>
              </a:rPr>
              <a:t> 은 </a:t>
            </a:r>
            <a:r>
              <a:rPr sz="1500">
                <a:solidFill>
                  <a:srgbClr val="5C636B"/>
                </a:solidFill>
                <a:latin typeface="Consolas"/>
              </a:rPr>
              <a:t>requirements.txt</a:t>
            </a:r>
            <a:r>
              <a:rPr b="0" sz="1500">
                <a:solidFill>
                  <a:srgbClr val="5C636B"/>
                </a:solidFill>
                <a:latin typeface="맑은 고딕"/>
              </a:rPr>
              <a:t> 를 시스템 로케일로 읽습니다. 한국어 Windows(cp949)에서 UTF-8 한글 주석 때문에 </a:t>
            </a:r>
            <a:r>
              <a:rPr b="1" sz="1500">
                <a:solidFill>
                  <a:srgbClr val="191C1F"/>
                </a:solidFill>
                <a:latin typeface="맑은 고딕"/>
              </a:rPr>
              <a:t>설치 자체가 실패</a:t>
            </a:r>
            <a:r>
              <a:rPr b="0" sz="1500">
                <a:solidFill>
                  <a:srgbClr val="5C636B"/>
                </a:solidFill>
                <a:latin typeface="맑은 고딕"/>
              </a:rPr>
              <a:t>했습니다 — 심사 환경에서 가장 흔한 조합입니다. 새 폴더에서 실제로 돌려보지 않았다면 그대로 제출됐을 결함입니다.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52881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178"/>
                </a:solidFill>
                <a:latin typeface="맑은 고딕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1"/>
            </a:pPr>
            <a:r>
              <a:rPr b="1" sz="4000">
                <a:solidFill>
                  <a:srgbClr val="191C1F"/>
                </a:solidFill>
                <a:latin typeface="맑은 고딕"/>
              </a:rPr>
              <a:t>16-1. 유지보수와 보안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316735"/>
            <a:ext cx="10765231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1"/>
            </a:pPr>
            <a:r>
              <a:rPr b="1" sz="2700">
                <a:solidFill>
                  <a:srgbClr val="191C1F"/>
                </a:solidFill>
                <a:latin typeface="맑은 고딕"/>
              </a:rPr>
              <a:t>LLM이 만든 데이터를 화면에 그립니다 — 그래서 렌더링도 믿지 않습니다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901951"/>
            <a:ext cx="10765231" cy="3716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b="0" sz="1500">
                <a:solidFill>
                  <a:srgbClr val="5C636B"/>
                </a:solidFill>
                <a:latin typeface="맑은 고딕"/>
              </a:rPr>
              <a:t>판정에서 LLM을 배제한 것과 같은 이유로, </a:t>
            </a:r>
            <a:r>
              <a:rPr b="1" sz="1500">
                <a:solidFill>
                  <a:srgbClr val="191C1F"/>
                </a:solidFill>
                <a:latin typeface="맑은 고딕"/>
              </a:rPr>
              <a:t>화면도 트리를 신뢰하지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365050"/>
            <a:ext cx="10765231" cy="249601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200"/>
              </a:spcAft>
            </a:pPr>
            <a:r>
              <a:rPr sz="1500" b="1">
                <a:solidFill>
                  <a:srgbClr val="C19A2E"/>
                </a:solidFill>
                <a:latin typeface="맑은 고딕"/>
              </a:rPr>
              <a:t>· </a:t>
            </a:r>
            <a:r>
              <a:rPr b="0" sz="1500">
                <a:solidFill>
                  <a:srgbClr val="5C636B"/>
                </a:solidFill>
                <a:latin typeface="맑은 고딕"/>
              </a:rPr>
              <a:t>모든 출력이 이스케이프를 거칩니다. 링크는 </a:t>
            </a:r>
            <a:r>
              <a:rPr sz="1500">
                <a:solidFill>
                  <a:srgbClr val="5C636B"/>
                </a:solidFill>
                <a:latin typeface="Consolas"/>
              </a:rPr>
              <a:t>http(s)</a:t>
            </a:r>
            <a:r>
              <a:rPr b="0" sz="1500">
                <a:solidFill>
                  <a:srgbClr val="5C636B"/>
                </a:solidFill>
                <a:latin typeface="맑은 고딕"/>
              </a:rPr>
              <a:t> 만 허용합니다 — </a:t>
            </a:r>
            <a:r>
              <a:rPr sz="1500">
                <a:solidFill>
                  <a:srgbClr val="5C636B"/>
                </a:solidFill>
                <a:latin typeface="Consolas"/>
              </a:rPr>
              <a:t>javascript:</a:t>
            </a:r>
            <a:r>
              <a:rPr b="0" sz="1500">
                <a:solidFill>
                  <a:srgbClr val="5C636B"/>
                </a:solidFill>
                <a:latin typeface="맑은 고딕"/>
              </a:rPr>
              <a:t> 같은 스킴이 트리에 섞여 들어올 여지를 남기지 않습니다</a:t>
            </a:r>
          </a:p>
          <a:p>
            <a:pPr>
              <a:lnSpc>
                <a:spcPct val="135000"/>
              </a:lnSpc>
              <a:spcAft>
                <a:spcPts val="200"/>
              </a:spcAft>
            </a:pPr>
            <a:r>
              <a:rPr sz="1500" b="1">
                <a:solidFill>
                  <a:srgbClr val="C19A2E"/>
                </a:solidFill>
                <a:latin typeface="맑은 고딕"/>
              </a:rPr>
              <a:t>· </a:t>
            </a:r>
            <a:r>
              <a:rPr b="0" sz="1500">
                <a:solidFill>
                  <a:srgbClr val="5C636B"/>
                </a:solidFill>
                <a:latin typeface="맑은 고딕"/>
              </a:rPr>
              <a:t>값을 빠르게 여러 번 바꿔도 </a:t>
            </a:r>
            <a:r>
              <a:rPr b="1" sz="1500">
                <a:solidFill>
                  <a:srgbClr val="191C1F"/>
                </a:solidFill>
                <a:latin typeface="맑은 고딕"/>
              </a:rPr>
              <a:t>늦게 도착한 옛 응답이 최신 판정을 덮지 않습니다.</a:t>
            </a:r>
            <a:r>
              <a:rPr b="0" sz="1500">
                <a:solidFill>
                  <a:srgbClr val="5C636B"/>
                </a:solidFill>
                <a:latin typeface="맑은 고딕"/>
              </a:rPr>
              <a:t> 느린 응답 1.8초를 주입해 재현한 뒤 요청 일련번호로 막았습니다</a:t>
            </a:r>
          </a:p>
          <a:p>
            <a:pPr>
              <a:lnSpc>
                <a:spcPct val="135000"/>
              </a:lnSpc>
              <a:spcAft>
                <a:spcPts val="200"/>
              </a:spcAft>
            </a:pPr>
            <a:r>
              <a:rPr sz="1500" b="1">
                <a:solidFill>
                  <a:srgbClr val="C19A2E"/>
                </a:solidFill>
                <a:latin typeface="맑은 고딕"/>
              </a:rPr>
              <a:t>· </a:t>
            </a:r>
            <a:r>
              <a:rPr b="0" sz="1500">
                <a:solidFill>
                  <a:srgbClr val="5C636B"/>
                </a:solidFill>
                <a:latin typeface="맑은 고딕"/>
              </a:rPr>
              <a:t>다시 그릴 때 </a:t>
            </a:r>
            <a:r>
              <a:rPr b="1" sz="1500">
                <a:solidFill>
                  <a:srgbClr val="191C1F"/>
                </a:solidFill>
                <a:latin typeface="맑은 고딕"/>
              </a:rPr>
              <a:t>포커스·펼쳐 둔 근거·스크롤 위치를 보존합니다.</a:t>
            </a:r>
            <a:r>
              <a:rPr b="0" sz="1500">
                <a:solidFill>
                  <a:srgbClr val="5C636B"/>
                </a:solidFill>
                <a:latin typeface="맑은 고딕"/>
              </a:rPr>
              <a:t> 값 하나 바꿀 때마다 근거가 접히고(6개→2개) 버튼이 튀던 것을(225~316px) 실측하고 고쳤습니다</a:t>
            </a:r>
          </a:p>
          <a:p>
            <a:pPr>
              <a:lnSpc>
                <a:spcPct val="135000"/>
              </a:lnSpc>
              <a:spcAft>
                <a:spcPts val="200"/>
              </a:spcAft>
            </a:pPr>
            <a:r>
              <a:rPr sz="1500" b="1">
                <a:solidFill>
                  <a:srgbClr val="C19A2E"/>
                </a:solidFill>
                <a:latin typeface="맑은 고딕"/>
              </a:rPr>
              <a:t>· </a:t>
            </a:r>
            <a:r>
              <a:rPr b="0" sz="1500">
                <a:solidFill>
                  <a:srgbClr val="5C636B"/>
                </a:solidFill>
                <a:latin typeface="맑은 고딕"/>
              </a:rPr>
              <a:t>상태를 색으로만 말하지 않습니다. 세 버튼은 </a:t>
            </a:r>
            <a:r>
              <a:rPr sz="1500">
                <a:solidFill>
                  <a:srgbClr val="5C636B"/>
                </a:solidFill>
                <a:latin typeface="Consolas"/>
              </a:rPr>
              <a:t>aria-pressed</a:t>
            </a:r>
            <a:r>
              <a:rPr b="0" sz="1500">
                <a:solidFill>
                  <a:srgbClr val="5C636B"/>
                </a:solidFill>
                <a:latin typeface="맑은 고딕"/>
              </a:rPr>
              <a:t>, 판정 갱신은 </a:t>
            </a:r>
            <a:r>
              <a:rPr sz="1500">
                <a:solidFill>
                  <a:srgbClr val="5C636B"/>
                </a:solidFill>
                <a:latin typeface="Consolas"/>
              </a:rPr>
              <a:t>role="status"</a:t>
            </a:r>
            <a:r>
              <a:rPr b="0" sz="1500">
                <a:solidFill>
                  <a:srgbClr val="5C636B"/>
                </a:solidFill>
                <a:latin typeface="맑은 고딕"/>
              </a:rPr>
              <a:t> 로 알리고, 본문 대비는 4.5:1 이상입니다</a:t>
            </a:r>
          </a:p>
          <a:p>
            <a:pPr>
              <a:lnSpc>
                <a:spcPct val="135000"/>
              </a:lnSpc>
              <a:spcAft>
                <a:spcPts val="200"/>
              </a:spcAft>
            </a:pPr>
            <a:r>
              <a:rPr sz="1500" b="1">
                <a:solidFill>
                  <a:srgbClr val="C19A2E"/>
                </a:solidFill>
                <a:latin typeface="맑은 고딕"/>
              </a:rPr>
              <a:t>· </a:t>
            </a:r>
            <a:r>
              <a:rPr sz="1500">
                <a:solidFill>
                  <a:srgbClr val="5C636B"/>
                </a:solidFill>
                <a:latin typeface="Consolas"/>
              </a:rPr>
              <a:t>/api/health</a:t>
            </a:r>
            <a:r>
              <a:rPr b="0" sz="1500">
                <a:solidFill>
                  <a:srgbClr val="5C636B"/>
                </a:solidFill>
                <a:latin typeface="맑은 고딕"/>
              </a:rPr>
              <a:t> 로 </a:t>
            </a:r>
            <a:r>
              <a:rPr b="1" sz="1500">
                <a:solidFill>
                  <a:srgbClr val="191C1F"/>
                </a:solidFill>
                <a:latin typeface="맑은 고딕"/>
              </a:rPr>
              <a:t>배포본이 어떤 데이터를 보고 있는지</a:t>
            </a:r>
            <a:r>
              <a:rPr b="0" sz="1500">
                <a:solidFill>
                  <a:srgbClr val="5C636B"/>
                </a:solidFill>
                <a:latin typeface="맑은 고딕"/>
              </a:rPr>
              <a:t> 즉시 확인할 수 있습니다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52881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178"/>
                </a:solidFill>
                <a:latin typeface="맑은 고딕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1"/>
            </a:pPr>
            <a:r>
              <a:rPr b="1" sz="2700">
                <a:solidFill>
                  <a:srgbClr val="191C1F"/>
                </a:solidFill>
                <a:latin typeface="맑은 고딕"/>
              </a:rPr>
              <a:t>나중에 고칠 것을 전제로 만들었습니다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13232" y="1060704"/>
          <a:ext cx="10765230" cy="9509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0178"/>
                <a:gridCol w="7105052"/>
              </a:tblGrid>
              <a:tr h="237744">
                <a:tc>
                  <a:txBody>
                    <a:bodyPr wrap="square"/>
                    <a:lstStyle/>
                    <a:p>
                      <a:r>
                        <a:rPr b="1" sz="1250">
                          <a:solidFill>
                            <a:srgbClr val="191C1F"/>
                          </a:solidFill>
                          <a:latin typeface="맑은 고딕"/>
                        </a:rPr>
                        <a:t>규칙</a:t>
                      </a:r>
                    </a:p>
                  </a:txBody>
                  <a:tcPr marL="73152" marR="73152" marT="27432" marB="27432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50">
                          <a:solidFill>
                            <a:srgbClr val="191C1F"/>
                          </a:solidFill>
                          <a:latin typeface="맑은 고딕"/>
                        </a:rPr>
                        <a:t>상태</a:t>
                      </a:r>
                    </a:p>
                  </a:txBody>
                  <a:tcPr marL="73152" marR="73152" marT="27432" marB="27432" anchor="ctr">
                    <a:solidFill>
                      <a:srgbClr val="FBFAF8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b="1" sz="1250">
                          <a:solidFill>
                            <a:srgbClr val="191C1F"/>
                          </a:solidFill>
                          <a:latin typeface="맑은 고딕"/>
                        </a:rPr>
                        <a:t>파일 200줄 / 함수 40줄</a:t>
                      </a:r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 상한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33개 중 31개 준수. </a:t>
                      </a:r>
                      <a:r>
                        <a:rPr sz="1250">
                          <a:solidFill>
                            <a:srgbClr val="5C636B"/>
                          </a:solidFill>
                          <a:latin typeface="Consolas"/>
                        </a:rPr>
                        <a:t>api/main.py</a:t>
                      </a:r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(239)·</a:t>
                      </a:r>
                      <a:r>
                        <a:rPr sz="1250">
                          <a:solidFill>
                            <a:srgbClr val="5C636B"/>
                          </a:solidFill>
                          <a:latin typeface="Consolas"/>
                        </a:rPr>
                        <a:t>judge/schema.py</a:t>
                      </a:r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(216) 2개가 기능 추가로 상한을 넘었고, 분리는 제출 후 과제로 남깁니다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파이프라인 단계 = 폴더 하나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새 단계가 생기면 폴더를 만들지, 기존 파일을 부풀리지 않습니다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인터페이스 계약 C1~C4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5C636B"/>
                          </a:solidFill>
                          <a:latin typeface="Consolas"/>
                        </a:rPr>
                        <a:t>judge/schema.py</a:t>
                      </a:r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 한 곳에 고정 — 세 사람이 병렬로 일하는 접점입니다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13232" y="2432304"/>
            <a:ext cx="10765231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1"/>
            </a:pPr>
            <a:r>
              <a:rPr b="1" sz="1900">
                <a:solidFill>
                  <a:srgbClr val="5C636B"/>
                </a:solidFill>
                <a:latin typeface="맑은 고딕"/>
              </a:rPr>
              <a:t>보안 — 장치를 넣고, 실제로 뚫어봅니다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889504"/>
            <a:ext cx="10765231" cy="11722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200"/>
              </a:spcAft>
            </a:pPr>
            <a:r>
              <a:rPr sz="1500" b="1">
                <a:solidFill>
                  <a:srgbClr val="C19A2E"/>
                </a:solidFill>
                <a:latin typeface="맑은 고딕"/>
              </a:rPr>
              <a:t>· </a:t>
            </a:r>
            <a:r>
              <a:rPr sz="1500">
                <a:solidFill>
                  <a:srgbClr val="5C636B"/>
                </a:solidFill>
                <a:latin typeface="Consolas"/>
              </a:rPr>
              <a:t>.env</a:t>
            </a:r>
            <a:r>
              <a:rPr b="0" sz="1500">
                <a:solidFill>
                  <a:srgbClr val="5C636B"/>
                </a:solidFill>
                <a:latin typeface="맑은 고딕"/>
              </a:rPr>
              <a:t> 는 </a:t>
            </a:r>
            <a:r>
              <a:rPr sz="1500">
                <a:solidFill>
                  <a:srgbClr val="5C636B"/>
                </a:solidFill>
                <a:latin typeface="Consolas"/>
              </a:rPr>
              <a:t>.gitignore</a:t>
            </a:r>
            <a:r>
              <a:rPr b="0" sz="1500">
                <a:solidFill>
                  <a:srgbClr val="5C636B"/>
                </a:solidFill>
                <a:latin typeface="맑은 고딕"/>
              </a:rPr>
              <a:t> + </a:t>
            </a:r>
            <a:r>
              <a:rPr b="1" sz="1500">
                <a:solidFill>
                  <a:srgbClr val="191C1F"/>
                </a:solidFill>
                <a:latin typeface="맑은 고딕"/>
              </a:rPr>
              <a:t>pre-commit 훅</a:t>
            </a:r>
            <a:r>
              <a:rPr b="0" sz="1500">
                <a:solidFill>
                  <a:srgbClr val="5C636B"/>
                </a:solidFill>
                <a:latin typeface="맑은 고딕"/>
              </a:rPr>
              <a:t>으로 이중 차단. 훅은 감지해도 </a:t>
            </a:r>
            <a:r>
              <a:rPr b="1" sz="1500">
                <a:solidFill>
                  <a:srgbClr val="191C1F"/>
                </a:solidFill>
                <a:latin typeface="맑은 고딕"/>
              </a:rPr>
              <a:t>값을 출력하지 않습니다</a:t>
            </a:r>
          </a:p>
          <a:p>
            <a:pPr>
              <a:lnSpc>
                <a:spcPct val="135000"/>
              </a:lnSpc>
              <a:spcAft>
                <a:spcPts val="200"/>
              </a:spcAft>
            </a:pPr>
            <a:r>
              <a:rPr sz="1500" b="1">
                <a:solidFill>
                  <a:srgbClr val="C19A2E"/>
                </a:solidFill>
                <a:latin typeface="맑은 고딕"/>
              </a:rPr>
              <a:t>· </a:t>
            </a:r>
            <a:r>
              <a:rPr b="0" sz="1500">
                <a:solidFill>
                  <a:srgbClr val="5C636B"/>
                </a:solidFill>
                <a:latin typeface="맑은 고딕"/>
              </a:rPr>
              <a:t>제출 서류(성명·생년월일·연락처)도 같은 방식으로 저장소 진입을 차단합니다</a:t>
            </a:r>
          </a:p>
          <a:p>
            <a:pPr>
              <a:lnSpc>
                <a:spcPct val="135000"/>
              </a:lnSpc>
              <a:spcAft>
                <a:spcPts val="200"/>
              </a:spcAft>
            </a:pPr>
            <a:r>
              <a:rPr sz="1500" b="1">
                <a:solidFill>
                  <a:srgbClr val="C19A2E"/>
                </a:solidFill>
                <a:latin typeface="맑은 고딕"/>
              </a:rPr>
              <a:t>· </a:t>
            </a:r>
            <a:r>
              <a:rPr b="0" sz="1500">
                <a:solidFill>
                  <a:srgbClr val="5C636B"/>
                </a:solidFill>
                <a:latin typeface="맑은 고딕"/>
              </a:rPr>
              <a:t>LLM 캐시에는 응답 구조체만 저장하고 요청 헤더는 남기지 않습니다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4171433"/>
            <a:ext cx="32004" cy="683145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4171433"/>
            <a:ext cx="10600639" cy="68314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b="0" sz="1500">
                <a:solidFill>
                  <a:srgbClr val="5C636B"/>
                </a:solidFill>
                <a:latin typeface="맑은 고딕"/>
              </a:rPr>
              <a:t>훅을 넣은 뒤 </a:t>
            </a:r>
            <a:r>
              <a:rPr b="1" sz="1500">
                <a:solidFill>
                  <a:srgbClr val="191C1F"/>
                </a:solidFill>
                <a:latin typeface="맑은 고딕"/>
              </a:rPr>
              <a:t>가짜 파일로 실제 커밋을 시도</a:t>
            </a:r>
            <a:r>
              <a:rPr b="0" sz="1500">
                <a:solidFill>
                  <a:srgbClr val="5C636B"/>
                </a:solidFill>
                <a:latin typeface="맑은 고딕"/>
              </a:rPr>
              <a:t>했더니, 한글 파일명이 그대로 통과했습니다. git 이 비ASCII 경로를 8진수로 이스케이프해 출력하기 때문이었습니다. </a:t>
            </a:r>
            <a:r>
              <a:rPr b="1" sz="1500">
                <a:solidFill>
                  <a:srgbClr val="191C1F"/>
                </a:solidFill>
                <a:latin typeface="맑은 고딕"/>
              </a:rPr>
              <a:t>막는 장치를 넣는 것과, 실제로 막히는지 확인하는 것은 다른 일입니다.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52881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178"/>
                </a:solidFill>
                <a:latin typeface="맑은 고딕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1"/>
            </a:pPr>
            <a:r>
              <a:rPr b="1" sz="4000">
                <a:solidFill>
                  <a:srgbClr val="191C1F"/>
                </a:solidFill>
                <a:latin typeface="맑은 고딕"/>
              </a:rPr>
              <a:t>17. 팀과 역할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13232" y="1316735"/>
          <a:ext cx="10765230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0178"/>
                <a:gridCol w="7105052"/>
              </a:tblGrid>
              <a:tr h="237744">
                <a:tc>
                  <a:txBody>
                    <a:bodyPr wrap="square"/>
                    <a:lstStyle/>
                    <a:p/>
                  </a:txBody>
                  <a:tcPr marL="73152" marR="73152" marT="27432" marB="27432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50">
                          <a:solidFill>
                            <a:srgbClr val="191C1F"/>
                          </a:solidFill>
                          <a:latin typeface="맑은 고딕"/>
                        </a:rPr>
                        <a:t>담당</a:t>
                      </a:r>
                    </a:p>
                  </a:txBody>
                  <a:tcPr marL="73152" marR="73152" marT="27432" marB="27432" anchor="ctr">
                    <a:solidFill>
                      <a:srgbClr val="FBFAF8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b="1" sz="1250">
                          <a:solidFill>
                            <a:srgbClr val="191C1F"/>
                          </a:solidFill>
                          <a:latin typeface="맑은 고딕"/>
                        </a:rPr>
                        <a:t>팀장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문제 정의 · 조건 추출 설계(프롬프트·어휘·검수) · 근거 검증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b="1" sz="1250">
                          <a:solidFill>
                            <a:srgbClr val="191C1F"/>
                          </a:solidFill>
                          <a:latin typeface="맑은 고딕"/>
                        </a:rPr>
                        <a:t>팀원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250">
                          <a:solidFill>
                            <a:srgbClr val="5C636B"/>
                          </a:solidFill>
                          <a:latin typeface="맑은 고딕"/>
                        </a:rPr>
                        <a:t>검증 스위트(결정론성·엣지) · 클린설치 재현 · 기술 문서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13232" y="2267711"/>
            <a:ext cx="10765231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1"/>
            </a:pPr>
            <a:r>
              <a:rPr b="1" sz="1900">
                <a:solidFill>
                  <a:srgbClr val="5C636B"/>
                </a:solidFill>
                <a:latin typeface="맑은 고딕"/>
              </a:rPr>
              <a:t>AI 활용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724911"/>
            <a:ext cx="10765231" cy="5097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b="0" sz="1500">
                <a:solidFill>
                  <a:srgbClr val="5C636B"/>
                </a:solidFill>
                <a:latin typeface="맑은 고딕"/>
              </a:rPr>
              <a:t>코드 작성·문서 정리에 </a:t>
            </a:r>
            <a:r>
              <a:rPr b="1" sz="1500">
                <a:solidFill>
                  <a:srgbClr val="191C1F"/>
                </a:solidFill>
                <a:latin typeface="맑은 고딕"/>
              </a:rPr>
              <a:t>Claude</a:t>
            </a:r>
            <a:r>
              <a:rPr b="0" sz="1500">
                <a:solidFill>
                  <a:srgbClr val="5C636B"/>
                </a:solidFill>
                <a:latin typeface="맑은 고딕"/>
              </a:rPr>
              <a:t> 를 활용했습니다. 다만 </a:t>
            </a:r>
            <a:r>
              <a:rPr b="1" sz="1500">
                <a:solidFill>
                  <a:srgbClr val="191C1F"/>
                </a:solidFill>
                <a:latin typeface="맑은 고딕"/>
              </a:rPr>
              <a:t>무엇을 만들지, 어떤 조건을 트리에 넣을지, 어떤 수치를 주장할지는 사람이 판단했습니다.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326055"/>
            <a:ext cx="10765231" cy="5061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b="0" sz="1500">
                <a:solidFill>
                  <a:srgbClr val="5C636B"/>
                </a:solidFill>
                <a:latin typeface="맑은 고딕"/>
              </a:rPr>
              <a:t>이 문서의 모든 수치는 </a:t>
            </a:r>
            <a:r>
              <a:rPr b="1" sz="1500">
                <a:solidFill>
                  <a:srgbClr val="191C1F"/>
                </a:solidFill>
                <a:latin typeface="맑은 고딕"/>
              </a:rPr>
              <a:t>저장소의 코드와 데이터에서 직접 산출</a:t>
            </a:r>
            <a:r>
              <a:rPr b="0" sz="1500">
                <a:solidFill>
                  <a:srgbClr val="5C636B"/>
                </a:solidFill>
                <a:latin typeface="맑은 고딕"/>
              </a:rPr>
              <a:t>한 값입니다. 추정치는 쓰지 않았고, 측정하지 못한 것은 측정하지 못했다고 적었습니다.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52881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178"/>
                </a:solidFill>
                <a:latin typeface="맑은 고딕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1"/>
            </a:pPr>
            <a:r>
              <a:rPr b="1" sz="4000">
                <a:solidFill>
                  <a:srgbClr val="191C1F"/>
                </a:solidFill>
                <a:latin typeface="맑은 고딕"/>
              </a:rPr>
              <a:t>다 됐나요?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316735"/>
            <a:ext cx="10765231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1"/>
            </a:pPr>
            <a:r>
              <a:rPr b="1" sz="2700">
                <a:solidFill>
                  <a:srgbClr val="191C1F"/>
                </a:solidFill>
                <a:latin typeface="맑은 고딕"/>
              </a:rPr>
              <a:t>조치를 하나 끝내고 재시도하며 던지는 질문이자, 앱이 끝내 대답하지 않는 질문입니다.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1901951"/>
            <a:ext cx="32004" cy="407055"/>
          </a:xfrm>
          <a:prstGeom prst="rect">
            <a:avLst/>
          </a:prstGeom>
          <a:solidFill>
            <a:srgbClr val="C1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1901951"/>
            <a:ext cx="10600639" cy="407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b="1" sz="1500">
                <a:solidFill>
                  <a:srgbClr val="191C1F"/>
                </a:solidFill>
                <a:latin typeface="맑은 고딕"/>
              </a:rPr>
              <a:t>역대 팀들은 약관을 사람에게 쉽게 설명했습니다. 저희는 약관을 기계가 판정할 수 있게 만듭니다.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437022"/>
            <a:ext cx="10765231" cy="4212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b="1" sz="1500">
                <a:solidFill>
                  <a:srgbClr val="191C1F"/>
                </a:solidFill>
                <a:latin typeface="맑은 고딕"/>
              </a:rPr>
              <a:t>데모 — https://kb-ai-challenge-2026.vercel.app</a:t>
            </a:r>
            <a:r>
              <a:rPr b="0" sz="1500">
                <a:solidFill>
                  <a:srgbClr val="5C636B"/>
                </a:solidFill>
                <a:latin typeface="맑은 고딕"/>
              </a:rPr>
              <a:t> (설치 없이 열립니다)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949675"/>
            <a:ext cx="10765231" cy="3185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b="0" sz="1500">
                <a:solidFill>
                  <a:srgbClr val="5C636B"/>
                </a:solidFill>
                <a:latin typeface="맑은 고딕"/>
              </a:rPr>
              <a:t>저장소 · 재현 절차는 제출물에 포함되어 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3359680"/>
            <a:ext cx="10765231" cy="361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b="0" sz="1500">
                <a:solidFill>
                  <a:srgbClr val="5C636B"/>
                </a:solidFill>
                <a:latin typeface="맑은 고딕"/>
              </a:rPr>
              <a:t>모든 조건에는 </a:t>
            </a:r>
            <a:r>
              <a:rPr b="1" sz="1500">
                <a:solidFill>
                  <a:srgbClr val="191C1F"/>
                </a:solidFill>
                <a:latin typeface="맑은 고딕"/>
              </a:rPr>
              <a:t>출처 URL · 원문 인용 · 수집 일자</a:t>
            </a:r>
            <a:r>
              <a:rPr b="0" sz="1500">
                <a:solidFill>
                  <a:srgbClr val="5C636B"/>
                </a:solidFill>
                <a:latin typeface="맑은 고딕"/>
              </a:rPr>
              <a:t>가 붙어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52881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B7178"/>
                </a:solidFill>
                <a:latin typeface="맑은 고딕"/>
              </a:rPr>
              <a:t>35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